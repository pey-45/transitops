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Presentarse: nombre, título del trabajo, universidad, mención IS, sello Euro-Inf, directora Paula María Castro Castro.
TIEMPO: 15 s. → 'Esta es la hoja de ruta de la defensa.'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los 5 bloques. 'La defensa dura ~16 minutos. El hilo conductor es: pequeño en funcionalidad, completo en ingeniería.'
TIEMPO: 20 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Señalar cada etapa: 'compilar, empaquetar, desplegar, observar, recuperar — este TFG implementa todas en AWS.'
Énfasis: entorno real, no mocked.
TIEMPO: 55 s. → 'Con esa motivación, la primera decisión fue definir el alcance.'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'Decidí mantener el alcance funcional acotado para poder profundizar en arquitectura, IaC, DevOps y operación reales.'
Señalar el diagrama. Recorrer la tabla: qué está dentro y qué fuera.
TIEMPO: 1 min 25 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los sprints por bloques. Énfasis en el entorno efímero: 'toda la infraestructura debe ser 100% reproducible desde cero con Terraform.'
TIEMPO: 55 s. → 'Con el contexto establecido, entramos en diseño.'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el stack de abajo arriba. Luego la tabla: 'para cada tecnología clave evalué alternativas.'
La directora señaló en la memoria la importancia de justificar estas decisiones.
TIEMPO: 1 min 20 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'Un usuario crea transportes, asigna vehículo y conductor; cada transporte genera eventos de envío.'
Señalar la máquina de estados: PLANNED → ASSIGNED → IN_TRANSIT → DELIVERED.
TIEMPO: 55 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 ESTRELLA. Izquierda: las 4 capas del backend .NET.
Derecha: 'el usuario llega por Route53, pasa por el ALB con HTTPS, entra a ECS en subnet privada, ECS conecta a RDS también privado. ECR almacena la imagen, Secrets Manager guarda los secretos, CloudWatch recoge logs y alarmas, GitHub Actions despliega via OIDC sin claves estáticas.'
TIEMPO: 1 min 45 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'Terraform organiza la infra en 7 módulos reutilizables; el entorno dev los conecta y produce 72 recursos.'
'El estado se guarda en S3 cifrado, con bloqueo DynamoDB para evitar applies concurrentes.'
TIEMPO: 55 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el pipeline etapa a etapa. Énfasis en '--migrate-only': 'las migraciones se ejecutan como tarea ECS puntual con exit 0 antes de escalar el servicio.' Y en OIDC: 'no hay claves AWS en ningún secreto del repositorio.'
TIEMPO: 55 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las 5 fases. Énfasis en la migración puntual: 'EF Core no migra en startup; hay una tarea ECS dedicada que termina con exit 0.' Y en secretos: 'los valores reales solo están en Secrets Manager, nunca en Terraform ni en el repositorio.'
TIEMPO: 55 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'Dos pruebas de fiabilidad reales: rollback por tag y restore de RDS desde snapshot manual.'
'El circuit breaker de ECS se validó deliberadamente con una imagen inexistente — falló, revirtió, y el servicio se recuperó.'
TIEMPO: 55 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'Cada request lleva un X-Correlation-ID que aparece en el header de respuesta y en los logs JSON — se puede rastrear cualquier petición en CloudWatch.' '9 alarmas cubren aplicación, ALB, ECS y RDS. El dashboard centraliza todo en un único panel.'
TIEMPO: 45 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'La seguridad se organiza en tres capas: aplicación, red, configuración.' 'Cada limitación está documentada y aceptada explícitamente, no ignorada. El script de auditoría Test-Sprint8AwsPosture.ps1 pasó todos los checks.'
TIEMPO: 45 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'El entorno dev se recrea solo para capturar evidencias y se destruye inmediatamente. Coste cero en reposo.' '72 recursos destruidos, estado Terraform vacío, script de auditoría sin hallazgos.'
TIEMPO: 45 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'Todos los resultados provienen de evidencias reales, no de simulaciones.' '14 requisitos funcionales y 11 no funcionales completados o con tradeoff documentado.' 'Las cifras —87 tests, 72 recursos, 9 alarmas— están en FinalEvidence.md.'
TIEMPO: 1 min 10 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'Este TFG demuestra que es posible implementar ingeniería de software real —no simulada— en un proyecto académico de alcance acotado.' Señalar las 3 incidencias: 'estas son exactamente el tipo de problemas que distinguen un entorno real de uno simulado.'
TIEMPO: 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las 6 líneas futuras brevemente. Agradecer al tribunal y a la directora. Abrir turno de preguntas.
TIEMPO: 35 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8B1C4A"/>
          </a:solidFill>
          <a:ln w="12700">
            <a:solidFill>
              <a:srgbClr val="8B1C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 da Coruña  ·  Facultade de Informática da Coruña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Diseño, despliegue y operación de una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cloud para la gestión de transportes en AWS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mediante infraestructura como código y prácticas DevOps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8529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DB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Fin de Grao · Ingeniería Informática  ·  Mención IS · Sello Euro-Inf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71600" y="3337560"/>
            <a:ext cx="6400800" cy="0"/>
          </a:xfrm>
          <a:prstGeom prst="line">
            <a:avLst/>
          </a:prstGeom>
          <a:noFill/>
          <a:ln w="12700">
            <a:solidFill>
              <a:srgbClr val="3A52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4747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Autor:  Pablo Manzanares López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Directora:  Dra. Paula María Castro Castro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178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8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Coruña, junio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E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ruta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8B1C4A"/>
          </a:solidFill>
          <a:ln w="12700">
            <a:solidFill>
              <a:srgbClr val="8B1C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960120"/>
            <a:ext cx="1581912" cy="3749040"/>
          </a:xfrm>
          <a:prstGeom prst="roundRect">
            <a:avLst>
              <a:gd name="adj" fmla="val 4624"/>
            </a:avLst>
          </a:prstGeom>
          <a:solidFill>
            <a:srgbClr val="8B1C4A"/>
          </a:solidFill>
          <a:ln w="12700">
            <a:solidFill>
              <a:srgbClr val="8B1C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1097280"/>
            <a:ext cx="1581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01168" y="1737360"/>
            <a:ext cx="15819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2608" y="2395728"/>
            <a:ext cx="139903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Portada · Índice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965960" y="960120"/>
            <a:ext cx="1581912" cy="3749040"/>
          </a:xfrm>
          <a:prstGeom prst="roundRect">
            <a:avLst>
              <a:gd name="adj" fmla="val 4624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65960" y="1097280"/>
            <a:ext cx="1581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965960" y="1737360"/>
            <a:ext cx="15819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Planteamiento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057400" y="2395728"/>
            <a:ext cx="139903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Motivación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· Planificación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30752" y="960120"/>
            <a:ext cx="1581912" cy="3749040"/>
          </a:xfrm>
          <a:prstGeom prst="roundRect">
            <a:avLst>
              <a:gd name="adj" fmla="val 4624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30752" y="1097280"/>
            <a:ext cx="1581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730752" y="1737360"/>
            <a:ext cx="15819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22192" y="2395728"/>
            <a:ext cx="139903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· Dominio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95544" y="960120"/>
            <a:ext cx="1581912" cy="3749040"/>
          </a:xfrm>
          <a:prstGeom prst="roundRect">
            <a:avLst>
              <a:gd name="adj" fmla="val 4624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95544" y="1097280"/>
            <a:ext cx="1581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495544" y="1737360"/>
            <a:ext cx="15819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86984" y="2395728"/>
            <a:ext cx="139903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· CI/CD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Fiabilidad · Seguridad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260336" y="960120"/>
            <a:ext cx="1581912" cy="3749040"/>
          </a:xfrm>
          <a:prstGeom prst="roundRect">
            <a:avLst>
              <a:gd name="adj" fmla="val 4624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60336" y="1097280"/>
            <a:ext cx="1581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260336" y="1737360"/>
            <a:ext cx="15819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Cierre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51776" y="2395728"/>
            <a:ext cx="139903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· Futuro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0" y="4873752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TransitOps · TFG Ingeniería Informática · UDC 2026  ·  2 / 18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E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Motivación y problema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8B1C4A"/>
          </a:solidFill>
          <a:ln w="12700">
            <a:solidFill>
              <a:srgbClr val="8B1C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960120"/>
            <a:ext cx="1572768" cy="1024128"/>
          </a:xfrm>
          <a:prstGeom prst="roundRect">
            <a:avLst>
              <a:gd name="adj" fmla="val 5357"/>
            </a:avLst>
          </a:prstGeom>
          <a:solidFill>
            <a:srgbClr val="2A6496"/>
          </a:solidFill>
          <a:ln w="12700">
            <a:solidFill>
              <a:srgbClr val="2A64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2608" y="960120"/>
            <a:ext cx="1572768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Testear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65376" y="1472184"/>
            <a:ext cx="64008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9384" y="960120"/>
            <a:ext cx="1572768" cy="1024128"/>
          </a:xfrm>
          <a:prstGeom prst="roundRect">
            <a:avLst>
              <a:gd name="adj" fmla="val 5357"/>
            </a:avLst>
          </a:prstGeom>
          <a:solidFill>
            <a:srgbClr val="1B7A6D"/>
          </a:solidFill>
          <a:ln w="12700">
            <a:solidFill>
              <a:srgbClr val="1B7A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9384" y="960120"/>
            <a:ext cx="1572768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Empaquetar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(Docker)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02152" y="1472184"/>
            <a:ext cx="64008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960120"/>
            <a:ext cx="1572768" cy="1024128"/>
          </a:xfrm>
          <a:prstGeom prst="roundRect">
            <a:avLst>
              <a:gd name="adj" fmla="val 5357"/>
            </a:avLst>
          </a:prstGeom>
          <a:solidFill>
            <a:srgbClr val="8B1C4A"/>
          </a:solidFill>
          <a:ln w="12700">
            <a:solidFill>
              <a:srgbClr val="8B1C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960120"/>
            <a:ext cx="1572768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Desplegar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(IaC + CD)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138928" y="1472184"/>
            <a:ext cx="64008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02936" y="960120"/>
            <a:ext cx="1572768" cy="1024128"/>
          </a:xfrm>
          <a:prstGeom prst="roundRect">
            <a:avLst>
              <a:gd name="adj" fmla="val 5357"/>
            </a:avLst>
          </a:prstGeom>
          <a:solidFill>
            <a:srgbClr val="2A6496"/>
          </a:solidFill>
          <a:ln w="12700">
            <a:solidFill>
              <a:srgbClr val="2A64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02936" y="960120"/>
            <a:ext cx="1572768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Alertar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75704" y="1472184"/>
            <a:ext cx="64008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39712" y="960120"/>
            <a:ext cx="1572768" cy="1024128"/>
          </a:xfrm>
          <a:prstGeom prst="roundRect">
            <a:avLst>
              <a:gd name="adj" fmla="val 5357"/>
            </a:avLst>
          </a:prstGeom>
          <a:solidFill>
            <a:srgbClr val="1B7A6D"/>
          </a:solidFill>
          <a:ln w="12700">
            <a:solidFill>
              <a:srgbClr val="1B7A6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39712" y="960120"/>
            <a:ext cx="1572768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Mejorar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" y="207568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DevOps completo: del commit al sistema operando y recuperado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5760" y="249631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este TFG?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5760" y="2871216"/>
            <a:ext cx="8412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automatización cloud y DevOps es estándar de la industria; pocos proyectos académicos la practican de extremo a extremo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entorno AWS real expone problemas que un simulador no presenta: DNS, certificados, tareas efímeras, costes reales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Tesis del trabajo: explorar profundidad técnica real sobre alcance funcional amplio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0" y="4873752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TransitOps · TFG Ingeniería Informática · UDC 2026  ·  3 / 18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E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y alcance — la decisión clave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8B1C4A"/>
          </a:solidFill>
          <a:ln w="12700">
            <a:solidFill>
              <a:srgbClr val="8B1C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960120"/>
            <a:ext cx="0" cy="338328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4343400"/>
            <a:ext cx="365760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" y="91440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Prof. técnica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82880" y="1207008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" y="4069080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438912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Func. Baja       Func. Alta →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68680" y="1188720"/>
            <a:ext cx="1600200" cy="777240"/>
          </a:xfrm>
          <a:prstGeom prst="ellipse">
            <a:avLst/>
          </a:prstGeom>
          <a:solidFill>
            <a:srgbClr val="8B1C4A"/>
          </a:solidFill>
          <a:ln w="12700">
            <a:solidFill>
              <a:srgbClr val="8B1C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18872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TransitOps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1280160"/>
            <a:ext cx="640080" cy="36576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66420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SaaS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383280" y="3611880"/>
            <a:ext cx="640080" cy="36576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3977640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básico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65760" y="2148840"/>
            <a:ext cx="3749040" cy="804672"/>
          </a:xfrm>
          <a:prstGeom prst="roundRect">
            <a:avLst>
              <a:gd name="adj" fmla="val 7955"/>
            </a:avLst>
          </a:prstGeom>
          <a:solidFill>
            <a:srgbClr val="FDF2F8"/>
          </a:solidFill>
          <a:ln w="12700">
            <a:solidFill>
              <a:srgbClr val="E4A3B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194560"/>
            <a:ext cx="3474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«Pequeño en funcionalidad,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8B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completo en ingeniería»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0" y="96012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de alcance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280160"/>
          <a:ext cx="4251960" cy="3520440"/>
        </p:xfrm>
        <a:graphic>
          <a:graphicData uri="http://schemas.openxmlformats.org/drawingml/2006/table">
            <a:tbl>
              <a:tblPr/>
              <a:tblGrid>
                <a:gridCol w="2148840"/>
                <a:gridCol w="210312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INCLUIDO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A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EXCLUIDO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C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REST backend ASP.NET Core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/ app móvil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CI/CD GitHub Actions (OIDC)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Microservicios · Kubernetes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ECS Fargate + RDS PostgreSQL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Multi-región · failover activo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Terraform modular + estado S3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WAF · X-Ray · OpenTelemetry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Observabilidad CloudWatch (9 alarmas)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 producción · autoscaling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Seguridad baseline auditada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Autenticación OAuth externo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0" y="4873752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TransitOps · TFG Ingeniería Informática · UDC 2026  ·  4 / 18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E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y planificación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8B1C4A"/>
          </a:solidFill>
          <a:ln w="12700">
            <a:solidFill>
              <a:srgbClr val="8B1C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960120"/>
            <a:ext cx="877824" cy="1078992"/>
          </a:xfrm>
          <a:prstGeom prst="roundRect">
            <a:avLst>
              <a:gd name="adj" fmla="val 6250"/>
            </a:avLst>
          </a:prstGeom>
          <a:solidFill>
            <a:srgbClr val="2A6496"/>
          </a:solidFill>
          <a:ln w="12700">
            <a:solidFill>
              <a:srgbClr val="2A64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960120"/>
            <a:ext cx="87782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133856" y="1499616"/>
            <a:ext cx="64008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97864" y="960120"/>
            <a:ext cx="877824" cy="1078992"/>
          </a:xfrm>
          <a:prstGeom prst="roundRect">
            <a:avLst>
              <a:gd name="adj" fmla="val 6250"/>
            </a:avLst>
          </a:prstGeom>
          <a:solidFill>
            <a:srgbClr val="2A6496"/>
          </a:solidFill>
          <a:ln w="12700">
            <a:solidFill>
              <a:srgbClr val="2A64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97864" y="960120"/>
            <a:ext cx="87782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Fundac.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75688" y="1499616"/>
            <a:ext cx="64008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39696" y="960120"/>
            <a:ext cx="877824" cy="1078992"/>
          </a:xfrm>
          <a:prstGeom prst="roundRect">
            <a:avLst>
              <a:gd name="adj" fmla="val 6250"/>
            </a:avLst>
          </a:prstGeom>
          <a:solidFill>
            <a:srgbClr val="1B7A6D"/>
          </a:solidFill>
          <a:ln w="12700">
            <a:solidFill>
              <a:srgbClr val="1B7A6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39696" y="960120"/>
            <a:ext cx="87782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017520" y="1499616"/>
            <a:ext cx="64008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81528" y="960120"/>
            <a:ext cx="877824" cy="1078992"/>
          </a:xfrm>
          <a:prstGeom prst="roundRect">
            <a:avLst>
              <a:gd name="adj" fmla="val 6250"/>
            </a:avLst>
          </a:prstGeom>
          <a:solidFill>
            <a:srgbClr val="1B7A6D"/>
          </a:solidFill>
          <a:ln w="12700">
            <a:solidFill>
              <a:srgbClr val="1B7A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81528" y="960120"/>
            <a:ext cx="87782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959352" y="1499616"/>
            <a:ext cx="64008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23360" y="960120"/>
            <a:ext cx="877824" cy="1078992"/>
          </a:xfrm>
          <a:prstGeom prst="roundRect">
            <a:avLst>
              <a:gd name="adj" fmla="val 6250"/>
            </a:avLst>
          </a:prstGeom>
          <a:solidFill>
            <a:srgbClr val="1B7A6D"/>
          </a:solidFill>
          <a:ln w="12700">
            <a:solidFill>
              <a:srgbClr val="1B7A6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0" y="960120"/>
            <a:ext cx="87782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Route53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901184" y="1499616"/>
            <a:ext cx="64008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65192" y="960120"/>
            <a:ext cx="877824" cy="1078992"/>
          </a:xfrm>
          <a:prstGeom prst="roundRect">
            <a:avLst>
              <a:gd name="adj" fmla="val 6250"/>
            </a:avLst>
          </a:prstGeom>
          <a:solidFill>
            <a:srgbClr val="8B1C4A"/>
          </a:solidFill>
          <a:ln w="12700">
            <a:solidFill>
              <a:srgbClr val="8B1C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65192" y="960120"/>
            <a:ext cx="87782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Observa-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bilidad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43016" y="1499616"/>
            <a:ext cx="64008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07024" y="960120"/>
            <a:ext cx="877824" cy="1078992"/>
          </a:xfrm>
          <a:prstGeom prst="roundRect">
            <a:avLst>
              <a:gd name="adj" fmla="val 6250"/>
            </a:avLst>
          </a:prstGeom>
          <a:solidFill>
            <a:srgbClr val="8B1C4A"/>
          </a:solidFill>
          <a:ln w="12700">
            <a:solidFill>
              <a:srgbClr val="8B1C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07024" y="960120"/>
            <a:ext cx="87782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Fiabi-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784848" y="1499616"/>
            <a:ext cx="64008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48856" y="960120"/>
            <a:ext cx="877824" cy="1078992"/>
          </a:xfrm>
          <a:prstGeom prst="roundRect">
            <a:avLst>
              <a:gd name="adj" fmla="val 6250"/>
            </a:avLst>
          </a:prstGeom>
          <a:solidFill>
            <a:srgbClr val="8B1C4A"/>
          </a:solidFill>
          <a:ln w="12700">
            <a:solidFill>
              <a:srgbClr val="8B1C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48856" y="960120"/>
            <a:ext cx="87782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Seg.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726680" y="1499616"/>
            <a:ext cx="64008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90688" y="960120"/>
            <a:ext cx="877824" cy="1078992"/>
          </a:xfrm>
          <a:prstGeom prst="roundRect">
            <a:avLst>
              <a:gd name="adj" fmla="val 6250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90688" y="960120"/>
            <a:ext cx="87782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56032" y="2130552"/>
            <a:ext cx="1819656" cy="301752"/>
          </a:xfrm>
          <a:prstGeom prst="roundRect">
            <a:avLst>
              <a:gd name="adj" fmla="val 12121"/>
            </a:avLst>
          </a:prstGeom>
          <a:solidFill>
            <a:srgbClr val="2A6496">
              <a:alpha val="20000"/>
            </a:srgbClr>
          </a:solidFill>
          <a:ln w="12700">
            <a:solidFill>
              <a:srgbClr val="2A64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" y="2130552"/>
            <a:ext cx="181965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6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Planteamiento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139696" y="2130552"/>
            <a:ext cx="3703320" cy="301752"/>
          </a:xfrm>
          <a:prstGeom prst="roundRect">
            <a:avLst>
              <a:gd name="adj" fmla="val 12121"/>
            </a:avLst>
          </a:prstGeom>
          <a:solidFill>
            <a:srgbClr val="1B7A6D">
              <a:alpha val="20000"/>
            </a:srgbClr>
          </a:solidFill>
          <a:ln w="12700">
            <a:solidFill>
              <a:srgbClr val="1B7A6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39696" y="2130552"/>
            <a:ext cx="3703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e IaC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907024" y="2130552"/>
            <a:ext cx="2761488" cy="301752"/>
          </a:xfrm>
          <a:prstGeom prst="roundRect">
            <a:avLst>
              <a:gd name="adj" fmla="val 12121"/>
            </a:avLst>
          </a:prstGeom>
          <a:solidFill>
            <a:srgbClr val="8B1C4A">
              <a:alpha val="20000"/>
            </a:srgbClr>
          </a:solidFill>
          <a:ln w="12700">
            <a:solidFill>
              <a:srgbClr val="8B1C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07024" y="2130552"/>
            <a:ext cx="27614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&amp; resultados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5760" y="2578608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 metodológicos: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65760" y="2926080"/>
            <a:ext cx="841248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Iterativo incremental: cada sprint entrega software funcional + documentación verificada en AWS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efímero: dev se despliega solo para validación y se destruye — coste cero en reposo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 Gate B: los 9 sprints convergen en la validación cloud final del Sprint 8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2 artefactos: TransitOps.Api y TransitOps.Tests (disciplina de alcance)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0" y="4873752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TransitOps · TFG Ingeniería Informática · UDC 2026  ·  5 / 18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E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tecnológico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8B1C4A"/>
          </a:solidFill>
          <a:ln w="12700">
            <a:solidFill>
              <a:srgbClr val="8B1C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60120"/>
            <a:ext cx="3840480" cy="566928"/>
          </a:xfrm>
          <a:prstGeom prst="roundRect">
            <a:avLst>
              <a:gd name="adj" fmla="val 9677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6012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+ OIDC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74320" y="1600200"/>
            <a:ext cx="3840480" cy="566928"/>
          </a:xfrm>
          <a:prstGeom prst="roundRect">
            <a:avLst>
              <a:gd name="adj" fmla="val 9677"/>
            </a:avLst>
          </a:prstGeom>
          <a:solidFill>
            <a:srgbClr val="2A6496"/>
          </a:solidFill>
          <a:ln w="12700">
            <a:solidFill>
              <a:srgbClr val="2A64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60020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 (módulos + estado remoto S3/DynamoDB)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2240280"/>
            <a:ext cx="3840480" cy="566928"/>
          </a:xfrm>
          <a:prstGeom prst="roundRect">
            <a:avLst>
              <a:gd name="adj" fmla="val 9677"/>
            </a:avLst>
          </a:prstGeom>
          <a:solidFill>
            <a:srgbClr val="1B7A6D"/>
          </a:solidFill>
          <a:ln w="12700">
            <a:solidFill>
              <a:srgbClr val="1B7A6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24028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AWS: ECS Fargate · RDS PostgreSQL · ALB · CloudWatch · ECR · Secrets Manager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880360"/>
            <a:ext cx="3840480" cy="566928"/>
          </a:xfrm>
          <a:prstGeom prst="roundRect">
            <a:avLst>
              <a:gd name="adj" fmla="val 9677"/>
            </a:avLst>
          </a:prstGeom>
          <a:solidFill>
            <a:srgbClr val="2A6496"/>
          </a:solidFill>
          <a:ln w="12700">
            <a:solidFill>
              <a:srgbClr val="2A64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88036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 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(multi-stage, non-root uid=1654, ECR)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3520440"/>
            <a:ext cx="3840480" cy="566928"/>
          </a:xfrm>
          <a:prstGeom prst="roundRect">
            <a:avLst>
              <a:gd name="adj" fmla="val 9677"/>
            </a:avLst>
          </a:prstGeom>
          <a:solidFill>
            <a:srgbClr val="8B1C4A"/>
          </a:solidFill>
          <a:ln w="12700">
            <a:solidFill>
              <a:srgbClr val="8B1C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52044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8 · EF Core · PostgreSQL · xUnit (87 tests)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315968" y="960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 de tecnologías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15968" y="1280160"/>
          <a:ext cx="4572000" cy="3538728"/>
        </p:xfrm>
        <a:graphic>
          <a:graphicData uri="http://schemas.openxmlformats.org/drawingml/2006/table">
            <a:tbl>
              <a:tblPr/>
              <a:tblGrid>
                <a:gridCol w="1325880"/>
                <a:gridCol w="1280160"/>
                <a:gridCol w="196596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Elegida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C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C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Razón principal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C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ASP.NET Core 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/ Spring Boot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Tipado fuerte, EF Core, .NET en AWS maduro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 / MongoDB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ACID, migraciones EF Core, relacional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Terraform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CloudFormation / CDK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Multi-cloud, HCL declarativo, módulos reutilizables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/ GCP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ECS+RDS maduro; créditos académicos disponibles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CloudWatch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Datadog / Grafana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Nativo AWS, sin coste adicional, integración ECS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0" y="4873752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TransitOps · TFG Ingeniería Informática · UDC 2026  ·  6 / 18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E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y casos de uso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8B1C4A"/>
          </a:solidFill>
          <a:ln w="12700">
            <a:solidFill>
              <a:srgbClr val="8B1C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960120"/>
            <a:ext cx="2240280" cy="96012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 w="19050">
            <a:solidFill>
              <a:srgbClr val="8B1C4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2240280" cy="274320"/>
          </a:xfrm>
          <a:prstGeom prst="roundRect">
            <a:avLst>
              <a:gd name="adj" fmla="val 20000"/>
            </a:avLst>
          </a:prstGeom>
          <a:solidFill>
            <a:srgbClr val="8B1C4A"/>
          </a:solidFill>
          <a:ln w="12700">
            <a:solidFill>
              <a:srgbClr val="8B1C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124712"/>
            <a:ext cx="2240280" cy="128016"/>
          </a:xfrm>
          <a:prstGeom prst="rect">
            <a:avLst/>
          </a:prstGeom>
          <a:solidFill>
            <a:srgbClr val="8B1C4A"/>
          </a:solidFill>
          <a:ln w="12700">
            <a:solidFill>
              <a:srgbClr val="8B1C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9601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252728"/>
            <a:ext cx="205740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Operador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· roles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37560" y="960120"/>
            <a:ext cx="2377440" cy="96012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 w="19050">
            <a:solidFill>
              <a:srgbClr val="8B1C4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96012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8B1C4A"/>
          </a:solidFill>
          <a:ln w="12700">
            <a:solidFill>
              <a:srgbClr val="8B1C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1124712"/>
            <a:ext cx="2377440" cy="128016"/>
          </a:xfrm>
          <a:prstGeom prst="rect">
            <a:avLst/>
          </a:prstGeom>
          <a:solidFill>
            <a:srgbClr val="8B1C4A"/>
          </a:solidFill>
          <a:ln w="12700">
            <a:solidFill>
              <a:srgbClr val="8B1C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960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29000" y="1252728"/>
            <a:ext cx="219456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· destination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· scheduled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537960" y="960120"/>
            <a:ext cx="2331720" cy="96012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 w="19050">
            <a:solidFill>
              <a:srgbClr val="8B1C4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37960" y="960120"/>
            <a:ext cx="2331720" cy="274320"/>
          </a:xfrm>
          <a:prstGeom prst="roundRect">
            <a:avLst>
              <a:gd name="adj" fmla="val 20000"/>
            </a:avLst>
          </a:prstGeom>
          <a:solidFill>
            <a:srgbClr val="8B1C4A"/>
          </a:solidFill>
          <a:ln w="12700">
            <a:solidFill>
              <a:srgbClr val="8B1C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37960" y="1124712"/>
            <a:ext cx="2331720" cy="128016"/>
          </a:xfrm>
          <a:prstGeom prst="rect">
            <a:avLst/>
          </a:prstGeom>
          <a:solidFill>
            <a:srgbClr val="8B1C4A"/>
          </a:solidFill>
          <a:ln w="12700">
            <a:solidFill>
              <a:srgbClr val="8B1C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960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29400" y="1252728"/>
            <a:ext cx="214884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· license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activo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2606040"/>
            <a:ext cx="2240280" cy="96012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 w="19050">
            <a:solidFill>
              <a:srgbClr val="8B1C4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2606040"/>
            <a:ext cx="2240280" cy="274320"/>
          </a:xfrm>
          <a:prstGeom prst="roundRect">
            <a:avLst>
              <a:gd name="adj" fmla="val 20000"/>
            </a:avLst>
          </a:prstGeom>
          <a:solidFill>
            <a:srgbClr val="8B1C4A"/>
          </a:solidFill>
          <a:ln w="12700">
            <a:solidFill>
              <a:srgbClr val="8B1C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" y="2770632"/>
            <a:ext cx="2240280" cy="128016"/>
          </a:xfrm>
          <a:prstGeom prst="rect">
            <a:avLst/>
          </a:prstGeom>
          <a:solidFill>
            <a:srgbClr val="8B1C4A"/>
          </a:solidFill>
          <a:ln w="12700">
            <a:solidFill>
              <a:srgbClr val="8B1C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26060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Vehículo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" y="2898648"/>
            <a:ext cx="205740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· type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activo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537960" y="2606040"/>
            <a:ext cx="2331720" cy="96012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 w="19050">
            <a:solidFill>
              <a:srgbClr val="8B1C4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37960" y="2606040"/>
            <a:ext cx="2331720" cy="274320"/>
          </a:xfrm>
          <a:prstGeom prst="roundRect">
            <a:avLst>
              <a:gd name="adj" fmla="val 20000"/>
            </a:avLst>
          </a:prstGeom>
          <a:solidFill>
            <a:srgbClr val="8B1C4A"/>
          </a:solidFill>
          <a:ln w="12700">
            <a:solidFill>
              <a:srgbClr val="8B1C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37960" y="2770632"/>
            <a:ext cx="2331720" cy="128016"/>
          </a:xfrm>
          <a:prstGeom prst="rect">
            <a:avLst/>
          </a:prstGeom>
          <a:solidFill>
            <a:srgbClr val="8B1C4A"/>
          </a:solidFill>
          <a:ln w="12700">
            <a:solidFill>
              <a:srgbClr val="8B1C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26060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Envío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629400" y="2898648"/>
            <a:ext cx="214884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· actor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468880" y="1435608"/>
            <a:ext cx="86868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68880" y="118872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715000" y="1435608"/>
            <a:ext cx="82296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15000" y="118872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asignado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468880" y="3081528"/>
            <a:ext cx="86868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68880" y="283464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asignado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715000" y="3081528"/>
            <a:ext cx="82296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15000" y="283464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28600" y="359359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vida del Transporte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4320" y="3877056"/>
            <a:ext cx="1828800" cy="393192"/>
          </a:xfrm>
          <a:prstGeom prst="roundRect">
            <a:avLst>
              <a:gd name="adj" fmla="val 13953"/>
            </a:avLst>
          </a:prstGeom>
          <a:solidFill>
            <a:srgbClr val="2A6496"/>
          </a:solidFill>
          <a:ln w="12700">
            <a:solidFill>
              <a:srgbClr val="2A649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3877056"/>
            <a:ext cx="18288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103120" y="4073652"/>
            <a:ext cx="18288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86000" y="3877056"/>
            <a:ext cx="1828800" cy="393192"/>
          </a:xfrm>
          <a:prstGeom prst="roundRect">
            <a:avLst>
              <a:gd name="adj" fmla="val 13953"/>
            </a:avLst>
          </a:prstGeom>
          <a:solidFill>
            <a:srgbClr val="1B7A6D"/>
          </a:solidFill>
          <a:ln w="12700">
            <a:solidFill>
              <a:srgbClr val="1B7A6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286000" y="3877056"/>
            <a:ext cx="18288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114800" y="4073652"/>
            <a:ext cx="18288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297680" y="3877056"/>
            <a:ext cx="1828800" cy="393192"/>
          </a:xfrm>
          <a:prstGeom prst="roundRect">
            <a:avLst>
              <a:gd name="adj" fmla="val 13953"/>
            </a:avLst>
          </a:prstGeom>
          <a:solidFill>
            <a:srgbClr val="8B1C4A"/>
          </a:solidFill>
          <a:ln w="12700">
            <a:solidFill>
              <a:srgbClr val="8B1C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97680" y="3877056"/>
            <a:ext cx="18288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IN_TRANSIT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126480" y="4073652"/>
            <a:ext cx="18288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09360" y="3877056"/>
            <a:ext cx="1828800" cy="393192"/>
          </a:xfrm>
          <a:prstGeom prst="roundRect">
            <a:avLst>
              <a:gd name="adj" fmla="val 13953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09360" y="3877056"/>
            <a:ext cx="18288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074920" y="4334256"/>
            <a:ext cx="1645920" cy="274320"/>
          </a:xfrm>
          <a:prstGeom prst="roundRect">
            <a:avLst>
              <a:gd name="adj" fmla="val 20000"/>
            </a:avLst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74920" y="433425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 (desde PLANNED, ASSIGNED o IN_TRANSIT)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0" y="4873752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TransitOps · TFG Ingeniería Informática · UDC 2026  ·  7 / 18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E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 — lógica + cloud AWS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8B1C4A"/>
          </a:solidFill>
          <a:ln w="12700">
            <a:solidFill>
              <a:srgbClr val="8B1C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9144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(monolito modular)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207008"/>
            <a:ext cx="3383280" cy="530352"/>
          </a:xfrm>
          <a:prstGeom prst="roundRect">
            <a:avLst>
              <a:gd name="adj" fmla="val 10345"/>
            </a:avLst>
          </a:prstGeom>
          <a:solidFill>
            <a:srgbClr val="2A6496"/>
          </a:solidFill>
          <a:ln w="12700">
            <a:solidFill>
              <a:srgbClr val="2A64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207008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 (ASP.NET Core)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1865376"/>
            <a:ext cx="3383280" cy="530352"/>
          </a:xfrm>
          <a:prstGeom prst="roundRect">
            <a:avLst>
              <a:gd name="adj" fmla="val 10345"/>
            </a:avLst>
          </a:prstGeom>
          <a:solidFill>
            <a:srgbClr val="1B7A6D"/>
          </a:solidFill>
          <a:ln w="12700">
            <a:solidFill>
              <a:srgbClr val="1B7A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865376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 (lógica de dominio)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" y="2523744"/>
            <a:ext cx="3383280" cy="530352"/>
          </a:xfrm>
          <a:prstGeom prst="roundRect">
            <a:avLst>
              <a:gd name="adj" fmla="val 10345"/>
            </a:avLst>
          </a:prstGeom>
          <a:solidFill>
            <a:srgbClr val="8B1C4A"/>
          </a:solidFill>
          <a:ln w="12700">
            <a:solidFill>
              <a:srgbClr val="8B1C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2523744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  (EF Core)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3182112"/>
            <a:ext cx="3383280" cy="530352"/>
          </a:xfrm>
          <a:prstGeom prst="roundRect">
            <a:avLst>
              <a:gd name="adj" fmla="val 10345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3182112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 (PostgreSQL)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11880" y="2697480"/>
            <a:ext cx="54864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84448" y="2468880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251960" y="886968"/>
            <a:ext cx="4663440" cy="3840480"/>
          </a:xfrm>
          <a:prstGeom prst="roundRect">
            <a:avLst>
              <a:gd name="adj" fmla="val 2381"/>
            </a:avLst>
          </a:prstGeom>
          <a:solidFill>
            <a:srgbClr val="EEF4FF"/>
          </a:solidFill>
          <a:ln w="19050">
            <a:solidFill>
              <a:srgbClr val="93C5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15968" y="905256"/>
            <a:ext cx="4535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 transitops-dev-vpc  (eu-west-1)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370832" y="1161288"/>
            <a:ext cx="4407408" cy="822960"/>
          </a:xfrm>
          <a:prstGeom prst="roundRect">
            <a:avLst>
              <a:gd name="adj" fmla="val 6667"/>
            </a:avLst>
          </a:prstGeom>
          <a:solidFill>
            <a:srgbClr val="F0FDF4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16552" y="117043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Subnets públicas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983480" y="1389888"/>
            <a:ext cx="3337560" cy="475488"/>
          </a:xfrm>
          <a:prstGeom prst="roundRect">
            <a:avLst>
              <a:gd name="adj" fmla="val 11538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1389888"/>
            <a:ext cx="3337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 +  ACM / HTTPS  (Route53 → api.dev.transitops.net)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70832" y="2039112"/>
            <a:ext cx="4407408" cy="822960"/>
          </a:xfrm>
          <a:prstGeom prst="roundRect">
            <a:avLst>
              <a:gd name="adj" fmla="val 6667"/>
            </a:avLst>
          </a:prstGeom>
          <a:solidFill>
            <a:srgbClr val="FFF7ED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16552" y="204825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Subnets privadas (app)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983480" y="2258568"/>
            <a:ext cx="3337560" cy="475488"/>
          </a:xfrm>
          <a:prstGeom prst="roundRect">
            <a:avLst>
              <a:gd name="adj" fmla="val 11538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2258568"/>
            <a:ext cx="3337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Fargate  transitops-dev-api-svc  (desired/running = 1/1)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70832" y="2916936"/>
            <a:ext cx="4407408" cy="822960"/>
          </a:xfrm>
          <a:prstGeom prst="roundRect">
            <a:avLst>
              <a:gd name="adj" fmla="val 6667"/>
            </a:avLst>
          </a:prstGeom>
          <a:solidFill>
            <a:srgbClr val="F5F3FF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16552" y="292608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Subnets privadas (datos)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983480" y="3136392"/>
            <a:ext cx="3337560" cy="475488"/>
          </a:xfrm>
          <a:prstGeom prst="roundRect">
            <a:avLst>
              <a:gd name="adj" fmla="val 11538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3136392"/>
            <a:ext cx="3337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PostgreSQL  transitops-dev-db  (privado, Single-AZ)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47688" y="1865376"/>
            <a:ext cx="0" cy="393192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47688" y="2734056"/>
            <a:ext cx="0" cy="402336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15968" y="3803904"/>
            <a:ext cx="1005840" cy="658368"/>
          </a:xfrm>
          <a:prstGeom prst="roundRect">
            <a:avLst>
              <a:gd name="adj" fmla="val 9722"/>
            </a:avLst>
          </a:prstGeom>
          <a:solidFill>
            <a:srgbClr val="1B7A6D"/>
          </a:solidFill>
          <a:ln w="12700">
            <a:solidFill>
              <a:srgbClr val="1B7A6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15968" y="3803904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504688" y="3803904"/>
            <a:ext cx="1005840" cy="658368"/>
          </a:xfrm>
          <a:prstGeom prst="roundRect">
            <a:avLst>
              <a:gd name="adj" fmla="val 9722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04688" y="3803904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693408" y="3803904"/>
            <a:ext cx="1005840" cy="658368"/>
          </a:xfrm>
          <a:prstGeom prst="roundRect">
            <a:avLst>
              <a:gd name="adj" fmla="val 9722"/>
            </a:avLst>
          </a:prstGeom>
          <a:solidFill>
            <a:srgbClr val="2A6496"/>
          </a:solidFill>
          <a:ln w="12700">
            <a:solidFill>
              <a:srgbClr val="2A64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93408" y="3803904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logs+alarms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882128" y="3803904"/>
            <a:ext cx="1005840" cy="658368"/>
          </a:xfrm>
          <a:prstGeom prst="roundRect">
            <a:avLst>
              <a:gd name="adj" fmla="val 9722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82128" y="3803904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OIDC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0" y="4873752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TransitOps · TFG Ingeniería Informática · UDC 2026  ·  8 / 18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E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como código — Terraform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8B1C4A"/>
          </a:solidFill>
          <a:ln w="12700">
            <a:solidFill>
              <a:srgbClr val="8B1C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 (infra/terraform/)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5303520" cy="347472"/>
          </a:xfrm>
          <a:prstGeom prst="roundRect">
            <a:avLst>
              <a:gd name="adj" fmla="val 15789"/>
            </a:avLst>
          </a:prstGeom>
          <a:solidFill>
            <a:srgbClr val="2A6496"/>
          </a:solidFill>
          <a:ln w="12700">
            <a:solidFill>
              <a:srgbClr val="2A64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3444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· subnets públicas/privadas · SGs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4320" y="1636776"/>
            <a:ext cx="5303520" cy="347472"/>
          </a:xfrm>
          <a:prstGeom prst="roundRect">
            <a:avLst>
              <a:gd name="adj" fmla="val 15789"/>
            </a:avLst>
          </a:prstGeom>
          <a:solidFill>
            <a:srgbClr val="1B7A6D"/>
          </a:solidFill>
          <a:ln w="12700">
            <a:solidFill>
              <a:srgbClr val="1B7A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36776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container_registry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 + image scanning + retention policy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2039112"/>
            <a:ext cx="5303520" cy="347472"/>
          </a:xfrm>
          <a:prstGeom prst="roundRect">
            <a:avLst>
              <a:gd name="adj" fmla="val 15789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03911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PostgreSQL · subnet group · parameter group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441448"/>
            <a:ext cx="5303520" cy="347472"/>
          </a:xfrm>
          <a:prstGeom prst="roundRect">
            <a:avLst>
              <a:gd name="adj" fmla="val 15789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44144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runtime_config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Manager (DB, JWT, bootstrap) + SSM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843784"/>
            <a:ext cx="5303520" cy="347472"/>
          </a:xfrm>
          <a:prstGeom prst="roundRect">
            <a:avLst>
              <a:gd name="adj" fmla="val 15789"/>
            </a:avLst>
          </a:prstGeom>
          <a:solidFill>
            <a:srgbClr val="8B1C4A"/>
          </a:solidFill>
          <a:ln w="12700">
            <a:solidFill>
              <a:srgbClr val="8B1C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843784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container_runtime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cluster · ALB · task definition · HTTPS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46120"/>
            <a:ext cx="5303520" cy="347472"/>
          </a:xfrm>
          <a:prstGeom prst="roundRect">
            <a:avLst>
              <a:gd name="adj" fmla="val 15789"/>
            </a:avLst>
          </a:prstGeom>
          <a:solidFill>
            <a:srgbClr val="2A6496"/>
          </a:solidFill>
          <a:ln w="12700">
            <a:solidFill>
              <a:srgbClr val="2A64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24612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log group · dashboard · 9 alarms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648456"/>
            <a:ext cx="5303520" cy="347472"/>
          </a:xfrm>
          <a:prstGeom prst="roundRect">
            <a:avLst>
              <a:gd name="adj" fmla="val 15789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648456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github_oidc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role (sin claves AWS estáticas en CI/CD)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4050792"/>
            <a:ext cx="5303520" cy="347472"/>
          </a:xfrm>
          <a:prstGeom prst="roundRect">
            <a:avLst>
              <a:gd name="adj" fmla="val 15789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05079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environments/dev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 todos los módulos → 72 recursos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06440" y="9144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remoto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806440" y="1234440"/>
            <a:ext cx="3063240" cy="2194560"/>
          </a:xfrm>
          <a:prstGeom prst="roundRect">
            <a:avLst>
              <a:gd name="adj" fmla="val 3333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9320" y="1417320"/>
            <a:ext cx="1188720" cy="749808"/>
          </a:xfrm>
          <a:prstGeom prst="roundRect">
            <a:avLst>
              <a:gd name="adj" fmla="val 7317"/>
            </a:avLst>
          </a:prstGeom>
          <a:solidFill>
            <a:srgbClr val="1B7A6D"/>
          </a:solidFill>
          <a:ln w="12700">
            <a:solidFill>
              <a:srgbClr val="1B7A6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89320" y="1417320"/>
            <a:ext cx="1188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Bucket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tfstate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(cifrado+versionado)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315200" y="1417320"/>
            <a:ext cx="1371600" cy="749808"/>
          </a:xfrm>
          <a:prstGeom prst="roundRect">
            <a:avLst>
              <a:gd name="adj" fmla="val 7317"/>
            </a:avLst>
          </a:prstGeom>
          <a:solidFill>
            <a:srgbClr val="2A6496"/>
          </a:solidFill>
          <a:ln w="12700">
            <a:solidFill>
              <a:srgbClr val="2A64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0" y="1417320"/>
            <a:ext cx="1371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tfstate-locks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(exclusión mutua)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852160" y="2286000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key por entorno: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852160" y="25146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dev/foundation.tfstate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prod/foundation.tfstate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4320" y="4453128"/>
            <a:ext cx="8686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8B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 IaC: </a:t>
            </a:r>
            <a:pPr indent="0" marL="0">
              <a:buNone/>
            </a:pPr>
            <a:r>
              <a:rPr lang="en-US" sz="9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Idempotente · versionado en Git · estado remoto cifrado · módulos reutilizables · etiquetas obligatorias en todos los recursos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0" y="4873752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TransitOps · TFG Ingeniería Informática · UDC 2026  ·  9 / 18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E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y entrega continua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8B1C4A"/>
          </a:solidFill>
          <a:ln w="12700">
            <a:solidFill>
              <a:srgbClr val="8B1C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deploy-dev.yml  (GitHub Actions + OIDC, sin claves AWS estáticas)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1280160"/>
            <a:ext cx="1078992" cy="960120"/>
          </a:xfrm>
          <a:prstGeom prst="roundRect">
            <a:avLst>
              <a:gd name="adj" fmla="val 5714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1280160"/>
            <a:ext cx="10789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335024" y="1760220"/>
            <a:ext cx="9144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26464" y="1280160"/>
            <a:ext cx="1078992" cy="960120"/>
          </a:xfrm>
          <a:prstGeom prst="roundRect">
            <a:avLst>
              <a:gd name="adj" fmla="val 5714"/>
            </a:avLst>
          </a:prstGeom>
          <a:solidFill>
            <a:srgbClr val="2A6496"/>
          </a:solidFill>
          <a:ln w="12700">
            <a:solidFill>
              <a:srgbClr val="2A64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26464" y="1280160"/>
            <a:ext cx="10789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Test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(87)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05456" y="1760220"/>
            <a:ext cx="9144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96896" y="1280160"/>
            <a:ext cx="1078992" cy="960120"/>
          </a:xfrm>
          <a:prstGeom prst="roundRect">
            <a:avLst>
              <a:gd name="adj" fmla="val 5714"/>
            </a:avLst>
          </a:prstGeom>
          <a:solidFill>
            <a:srgbClr val="1B7A6D"/>
          </a:solidFill>
          <a:ln w="12700">
            <a:solidFill>
              <a:srgbClr val="1B7A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96896" y="1280160"/>
            <a:ext cx="10789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ECR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75888" y="1760220"/>
            <a:ext cx="9144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67328" y="1280160"/>
            <a:ext cx="1078992" cy="960120"/>
          </a:xfrm>
          <a:prstGeom prst="roundRect">
            <a:avLst>
              <a:gd name="adj" fmla="val 5714"/>
            </a:avLst>
          </a:prstGeom>
          <a:solidFill>
            <a:srgbClr val="2A6496"/>
          </a:solidFill>
          <a:ln w="12700">
            <a:solidFill>
              <a:srgbClr val="2A64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67328" y="1280160"/>
            <a:ext cx="10789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(infra)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1760220"/>
            <a:ext cx="9144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37760" y="1280160"/>
            <a:ext cx="1078992" cy="960120"/>
          </a:xfrm>
          <a:prstGeom prst="roundRect">
            <a:avLst>
              <a:gd name="adj" fmla="val 5714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1280160"/>
            <a:ext cx="10789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--migrate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-only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16752" y="1760220"/>
            <a:ext cx="9144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08192" y="1280160"/>
            <a:ext cx="1078992" cy="960120"/>
          </a:xfrm>
          <a:prstGeom prst="roundRect">
            <a:avLst>
              <a:gd name="adj" fmla="val 5714"/>
            </a:avLst>
          </a:prstGeom>
          <a:solidFill>
            <a:srgbClr val="8B1C4A"/>
          </a:solidFill>
          <a:ln w="12700">
            <a:solidFill>
              <a:srgbClr val="8B1C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08192" y="1280160"/>
            <a:ext cx="10789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(stable)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187184" y="1760220"/>
            <a:ext cx="9144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78624" y="1280160"/>
            <a:ext cx="1078992" cy="960120"/>
          </a:xfrm>
          <a:prstGeom prst="roundRect">
            <a:avLst>
              <a:gd name="adj" fmla="val 5714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78624" y="1280160"/>
            <a:ext cx="10789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426464" y="2295144"/>
            <a:ext cx="1170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ci.yml: dotnet restore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· test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596896" y="2295144"/>
            <a:ext cx="1170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→ ECR login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tag:  sprint8-good-sha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767328" y="2295144"/>
            <a:ext cx="1170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 apply -var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ecs_desired_count=0→1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937760" y="2295144"/>
            <a:ext cx="1170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ecs run-task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--migrate-only exit 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108192" y="2295144"/>
            <a:ext cx="1170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wait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services-stable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278624" y="2295144"/>
            <a:ext cx="1170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HTTPS ready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200 + correlationId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74320" y="3218688"/>
            <a:ext cx="8595360" cy="475488"/>
          </a:xfrm>
          <a:prstGeom prst="roundRect">
            <a:avLst>
              <a:gd name="adj" fmla="val 11538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236976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(OpenID Connect):  GitHub Actions asume un rol AWS por federación — sin access keys de larga duración almacenadas en secretos de repositorio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74320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rollback-dev.yml: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4320" y="4059936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tag conocido → terraform apply -var api_image_tag=&lt;known-good&gt; → ecs wait stable → smoke 200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0" y="4873752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TransitOps · TFG Ingeniería Informática · UDC 2026  ·  10 / 18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E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de despliegue — madurez operativa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8B1C4A"/>
          </a:solidFill>
          <a:ln w="12700">
            <a:solidFill>
              <a:srgbClr val="8B1C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3268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 de despliegue desde cero (recreate-from-scratch):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280160"/>
            <a:ext cx="1536192" cy="2194560"/>
          </a:xfrm>
          <a:prstGeom prst="roundRect">
            <a:avLst>
              <a:gd name="adj" fmla="val 4762"/>
            </a:avLst>
          </a:prstGeom>
          <a:solidFill>
            <a:srgbClr val="2A6496"/>
          </a:solidFill>
          <a:ln w="12700">
            <a:solidFill>
              <a:srgbClr val="2A64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298448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28600" y="1691640"/>
            <a:ext cx="1536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a 0 tareas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2176272"/>
            <a:ext cx="1371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apply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ecs_desired_count=0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72 recursos AWS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764792" y="2377440"/>
            <a:ext cx="18288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47672" y="1280160"/>
            <a:ext cx="1536192" cy="2194560"/>
          </a:xfrm>
          <a:prstGeom prst="roundRect">
            <a:avLst>
              <a:gd name="adj" fmla="val 4762"/>
            </a:avLst>
          </a:prstGeom>
          <a:solidFill>
            <a:srgbClr val="1B7A6D"/>
          </a:solidFill>
          <a:ln w="12700">
            <a:solidFill>
              <a:srgbClr val="1B7A6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47672" y="1298448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947672" y="1691640"/>
            <a:ext cx="1536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→ ECR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39112" y="2176272"/>
            <a:ext cx="1371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push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tag: sprint8-good-sha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483864" y="2377440"/>
            <a:ext cx="18288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66744" y="1280160"/>
            <a:ext cx="1536192" cy="2194560"/>
          </a:xfrm>
          <a:prstGeom prst="roundRect">
            <a:avLst>
              <a:gd name="adj" fmla="val 4762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66744" y="1298448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66744" y="1691640"/>
            <a:ext cx="1536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Secretos externos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758184" y="2176272"/>
            <a:ext cx="1371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secretsmanager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put-secret-value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en código)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202936" y="2377440"/>
            <a:ext cx="18288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85816" y="1280160"/>
            <a:ext cx="1536192" cy="2194560"/>
          </a:xfrm>
          <a:prstGeom prst="roundRect">
            <a:avLst>
              <a:gd name="adj" fmla="val 4762"/>
            </a:avLst>
          </a:prstGeom>
          <a:solidFill>
            <a:srgbClr val="8B1C4A"/>
          </a:solidFill>
          <a:ln w="12700">
            <a:solidFill>
              <a:srgbClr val="8B1C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85816" y="1298448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85816" y="1691640"/>
            <a:ext cx="1536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ECS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puntual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77256" y="2176272"/>
            <a:ext cx="1371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run-task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--migrate-only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0 ✓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922008" y="2377440"/>
            <a:ext cx="18288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04888" y="1280160"/>
            <a:ext cx="1536192" cy="2194560"/>
          </a:xfrm>
          <a:prstGeom prst="roundRect">
            <a:avLst>
              <a:gd name="adj" fmla="val 4762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04888" y="1298448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104888" y="1691640"/>
            <a:ext cx="1536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 servicio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196328" y="2176272"/>
            <a:ext cx="1371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apply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ecs_desired_count=1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wait stable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74320" y="36576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de diseño relevantes: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74320" y="3977640"/>
            <a:ext cx="8595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Secretos externos: nunca en código, imagen Docker ni variables Terraform — solo ARN en la task definition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circuit breaker habilitado: rollback automático si el despliegue falla (ECS deployment circuit breaker rollback)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explícita: el API no migra en startup; lo hace una tarea ECS puntual --migrate-only separada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0" y="4873752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TransitOps · TFG Ingeniería Informática · UDC 2026  ·  11 / 18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E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Fiabilidad — rollback y restore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8B1C4A"/>
          </a:solidFill>
          <a:ln w="12700">
            <a:solidFill>
              <a:srgbClr val="8B1C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326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a imagen conocida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52728"/>
            <a:ext cx="1234440" cy="914400"/>
          </a:xfrm>
          <a:prstGeom prst="roundRect">
            <a:avLst>
              <a:gd name="adj" fmla="val 6000"/>
            </a:avLst>
          </a:prstGeom>
          <a:solidFill>
            <a:srgbClr val="2A6496"/>
          </a:solidFill>
          <a:ln w="12700">
            <a:solidFill>
              <a:srgbClr val="2A64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52728"/>
            <a:ext cx="1234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known-good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(sprint8)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508760" y="1709928"/>
            <a:ext cx="18288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91640" y="1252728"/>
            <a:ext cx="1234440" cy="914400"/>
          </a:xfrm>
          <a:prstGeom prst="roundRect">
            <a:avLst>
              <a:gd name="adj" fmla="val 6000"/>
            </a:avLst>
          </a:prstGeom>
          <a:solidFill>
            <a:srgbClr val="1B7A6D"/>
          </a:solidFill>
          <a:ln w="12700">
            <a:solidFill>
              <a:srgbClr val="1B7A6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91640" y="1252728"/>
            <a:ext cx="1234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-var tag=…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26080" y="1709928"/>
            <a:ext cx="18288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0" y="1252728"/>
            <a:ext cx="1234440" cy="914400"/>
          </a:xfrm>
          <a:prstGeom prst="roundRect">
            <a:avLst>
              <a:gd name="adj" fmla="val 6000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1252728"/>
            <a:ext cx="1234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breaker OK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" y="226771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También validado: despliegue de imagen inexistente → ECS falla → circuit breaker revierte → servicio recupera.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63440" y="9326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RDS desde snapshot manual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252728"/>
            <a:ext cx="914400" cy="914400"/>
          </a:xfrm>
          <a:prstGeom prst="roundRect">
            <a:avLst>
              <a:gd name="adj" fmla="val 6000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25272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577840" y="1709928"/>
            <a:ext cx="164592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42432" y="1252728"/>
            <a:ext cx="914400" cy="914400"/>
          </a:xfrm>
          <a:prstGeom prst="roundRect">
            <a:avLst>
              <a:gd name="adj" fmla="val 6000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42432" y="125272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DB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secreto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656832" y="1709928"/>
            <a:ext cx="164592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21424" y="1252728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B1C4A"/>
          </a:solidFill>
          <a:ln w="12700">
            <a:solidFill>
              <a:srgbClr val="8B1C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21424" y="125272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--migrate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-only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735824" y="1709928"/>
            <a:ext cx="164592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00416" y="1252728"/>
            <a:ext cx="914400" cy="914400"/>
          </a:xfrm>
          <a:prstGeom prst="roundRect">
            <a:avLst>
              <a:gd name="adj" fmla="val 6000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00416" y="125272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0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63440" y="226771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Script:  Invoke-RdsRestoreTest.ps1 — limpia DB temporal, secreto, task definition y snapshot.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74320" y="290779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Runbooks operativos documentados: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3255264"/>
            <a:ext cx="2697480" cy="566928"/>
          </a:xfrm>
          <a:prstGeom prst="roundRect">
            <a:avLst>
              <a:gd name="adj" fmla="val 8065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55264"/>
            <a:ext cx="2542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normal: </a:t>
            </a:r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push → migrate → scale → smoke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154680" y="3255264"/>
            <a:ext cx="2697480" cy="566928"/>
          </a:xfrm>
          <a:prstGeom prst="roundRect">
            <a:avLst>
              <a:gd name="adj" fmla="val 8065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46120" y="3255264"/>
            <a:ext cx="2542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Rollback: </a:t>
            </a:r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tag → tf apply → ecs stable → smoke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035040" y="3255264"/>
            <a:ext cx="2697480" cy="566928"/>
          </a:xfrm>
          <a:prstGeom prst="roundRect">
            <a:avLst>
              <a:gd name="adj" fmla="val 8065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3255264"/>
            <a:ext cx="2542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admin: </a:t>
            </a:r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/bootstrap-admin → 201 o 409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3941064"/>
            <a:ext cx="2697480" cy="566928"/>
          </a:xfrm>
          <a:prstGeom prst="roundRect">
            <a:avLst>
              <a:gd name="adj" fmla="val 8065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941064"/>
            <a:ext cx="2542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ID: </a:t>
            </a:r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logs filter --filter-pattern &lt;corrId&gt;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154680" y="3941064"/>
            <a:ext cx="2697480" cy="566928"/>
          </a:xfrm>
          <a:prstGeom prst="roundRect">
            <a:avLst>
              <a:gd name="adj" fmla="val 8065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46120" y="3941064"/>
            <a:ext cx="2542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Alarma CloudWatch: </a:t>
            </a:r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events → logs → rollback / restart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035040" y="3941064"/>
            <a:ext cx="2697480" cy="566928"/>
          </a:xfrm>
          <a:prstGeom prst="roundRect">
            <a:avLst>
              <a:gd name="adj" fmla="val 8065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26480" y="3941064"/>
            <a:ext cx="2542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 &amp; audit: </a:t>
            </a:r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 destroy → state empty → audit script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0" y="4873752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TransitOps · TFG Ingeniería Informática · UDC 2026  ·  12 / 18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E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8B1C4A"/>
          </a:solidFill>
          <a:ln w="12700">
            <a:solidFill>
              <a:srgbClr val="8B1C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932688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2A6496"/>
          </a:solidFill>
          <a:ln w="12700">
            <a:solidFill>
              <a:srgbClr val="2A64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3268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estructurados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371600"/>
            <a:ext cx="2834640" cy="347472"/>
          </a:xfrm>
          <a:prstGeom prst="roundRect">
            <a:avLst>
              <a:gd name="adj" fmla="val 10526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7160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console (ASP.NET Core)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773936"/>
            <a:ext cx="2834640" cy="347472"/>
          </a:xfrm>
          <a:prstGeom prst="roundRect">
            <a:avLst>
              <a:gd name="adj" fmla="val 10526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773936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group:  /aws/ecs/transitops/dev/api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" y="2176272"/>
            <a:ext cx="2834640" cy="347472"/>
          </a:xfrm>
          <a:prstGeom prst="roundRect">
            <a:avLst>
              <a:gd name="adj" fmla="val 10526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176272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X-Correlation-ID en cada request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2578608"/>
            <a:ext cx="2834640" cy="347472"/>
          </a:xfrm>
          <a:prstGeom prst="roundRect">
            <a:avLst>
              <a:gd name="adj" fmla="val 10526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578608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· path · status · elapsed · userId · role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" y="2980944"/>
            <a:ext cx="2834640" cy="347472"/>
          </a:xfrm>
          <a:prstGeom prst="roundRect">
            <a:avLst>
              <a:gd name="adj" fmla="val 10526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98094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Runbook: filter-log-events --filter-pattern &lt;corrId&gt;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0" y="932688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1B7A6D"/>
          </a:solidFill>
          <a:ln w="12700">
            <a:solidFill>
              <a:srgbClr val="1B7A6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93268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CloudWatch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0" y="1371600"/>
            <a:ext cx="2834640" cy="347472"/>
          </a:xfrm>
          <a:prstGeom prst="roundRect">
            <a:avLst>
              <a:gd name="adj" fmla="val 10526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137160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Nombre:  transitops-dev-api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0" y="1773936"/>
            <a:ext cx="2834640" cy="347472"/>
          </a:xfrm>
          <a:prstGeom prst="roundRect">
            <a:avLst>
              <a:gd name="adj" fmla="val 10526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1773936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ALB: request count, target 5XX, latencia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0" y="2176272"/>
            <a:ext cx="2834640" cy="347472"/>
          </a:xfrm>
          <a:prstGeom prst="roundRect">
            <a:avLst>
              <a:gd name="adj" fmla="val 10526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2176272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ECS: CPU%, memoria%, running count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0" y="2578608"/>
            <a:ext cx="2834640" cy="347472"/>
          </a:xfrm>
          <a:prstGeom prst="roundRect">
            <a:avLst>
              <a:gd name="adj" fmla="val 10526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2578608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RDS: CPU%, conexiones, free storage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0" y="2980944"/>
            <a:ext cx="2834640" cy="347472"/>
          </a:xfrm>
          <a:prstGeom prst="roundRect">
            <a:avLst>
              <a:gd name="adj" fmla="val 10526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298094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App: errores y críticos (metric filter JSON)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72200" y="932688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8B1C4A"/>
          </a:solidFill>
          <a:ln w="12700">
            <a:solidFill>
              <a:srgbClr val="8B1C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93268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Alarmas CloudWatch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72200" y="1371600"/>
            <a:ext cx="2834640" cy="347472"/>
          </a:xfrm>
          <a:prstGeom prst="roundRect">
            <a:avLst>
              <a:gd name="adj" fmla="val 10526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137160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errors (Error + Critical en logs)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72200" y="1773936"/>
            <a:ext cx="2834640" cy="347472"/>
          </a:xfrm>
          <a:prstGeom prst="roundRect">
            <a:avLst>
              <a:gd name="adj" fmla="val 10526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63640" y="1773936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target 5XX count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172200" y="2176272"/>
            <a:ext cx="2834640" cy="347472"/>
          </a:xfrm>
          <a:prstGeom prst="roundRect">
            <a:avLst>
              <a:gd name="adj" fmla="val 10526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63640" y="2176272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target response time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72200" y="2578608"/>
            <a:ext cx="2834640" cy="347472"/>
          </a:xfrm>
          <a:prstGeom prst="roundRect">
            <a:avLst>
              <a:gd name="adj" fmla="val 10526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63640" y="2578608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unhealthy target count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72200" y="2980944"/>
            <a:ext cx="2834640" cy="347472"/>
          </a:xfrm>
          <a:prstGeom prst="roundRect">
            <a:avLst>
              <a:gd name="adj" fmla="val 10526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63640" y="298094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CPU utilization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72200" y="3383280"/>
            <a:ext cx="2834640" cy="347472"/>
          </a:xfrm>
          <a:prstGeom prst="roundRect">
            <a:avLst>
              <a:gd name="adj" fmla="val 10526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63640" y="338328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memory utilization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172200" y="3785616"/>
            <a:ext cx="2834640" cy="347472"/>
          </a:xfrm>
          <a:prstGeom prst="roundRect">
            <a:avLst>
              <a:gd name="adj" fmla="val 10526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63640" y="3785616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CPU utilization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172200" y="4187952"/>
            <a:ext cx="2834640" cy="347472"/>
          </a:xfrm>
          <a:prstGeom prst="roundRect">
            <a:avLst>
              <a:gd name="adj" fmla="val 10526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63640" y="4187952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DB connections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172200" y="4590288"/>
            <a:ext cx="2834640" cy="347472"/>
          </a:xfrm>
          <a:prstGeom prst="roundRect">
            <a:avLst>
              <a:gd name="adj" fmla="val 10526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63640" y="4590288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free storage space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0" y="4873752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TransitOps · TFG Ingeniería Informática · UDC 2026  ·  13 / 18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E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— línea base realista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8B1C4A"/>
          </a:solidFill>
          <a:ln w="12700">
            <a:solidFill>
              <a:srgbClr val="8B1C4A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3840480"/>
        </p:xfrm>
        <a:graphic>
          <a:graphicData uri="http://schemas.openxmlformats.org/drawingml/2006/table">
            <a:tbl>
              <a:tblPr/>
              <a:tblGrid>
                <a:gridCol w="1280160"/>
                <a:gridCol w="3840480"/>
                <a:gridCol w="347472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C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Controles implementados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C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Limitación documentada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C4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Aplicación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(firma externa), contraseñas Bcrypt, roles admin/operator, X-Correlation-ID sin stack trace, bootstrap token externo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OAuth externo; autenticación básica por usuario/contraseña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ALB único ingreso público; HTTP → HTTPS redirect; ECS assign_public_ip=false; RDS publicly_accessible=false; SG path estricto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ECS egress HTTPS a 0.0.0.0/0 (ECR y APIs AWS por NAT); VPC endpoints como mejora futura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Configuración &amp;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identidad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Secrets Manager para DB/JWT/bootstrap (ARN en task def, no valor); OIDC para CI/CD sin claves estáticas; execution role scoped a ARNs exactos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OIDC deploy role con permisos amplios Terraform; trust policy acotada a repositorio y rama; hardening producción pendiente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Auditado con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Test-Sprint8AwsPosture.ps1  →  todos los hard checks 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 Sprint 8: postura aceptable para dev académico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0" y="4873752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TransitOps · TFG Ingeniería Informática · UDC 2026  ·  14 / 18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E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 y entorno efímero — ingeniería responsable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8B1C4A"/>
          </a:solidFill>
          <a:ln w="12700">
            <a:solidFill>
              <a:srgbClr val="8B1C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326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del entorno dev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1097280" cy="822960"/>
          </a:xfrm>
          <a:prstGeom prst="roundRect">
            <a:avLst>
              <a:gd name="adj" fmla="val 6667"/>
            </a:avLst>
          </a:prstGeom>
          <a:solidFill>
            <a:srgbClr val="1B7A6D"/>
          </a:solidFill>
          <a:ln w="12700">
            <a:solidFill>
              <a:srgbClr val="1B7A6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61872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Recrear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(terraform apply)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371600" y="1673352"/>
            <a:ext cx="18288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54480" y="1261872"/>
            <a:ext cx="1097280" cy="822960"/>
          </a:xfrm>
          <a:prstGeom prst="roundRect">
            <a:avLst>
              <a:gd name="adj" fmla="val 6667"/>
            </a:avLst>
          </a:prstGeom>
          <a:solidFill>
            <a:srgbClr val="8B1C4A"/>
          </a:solidFill>
          <a:ln w="12700">
            <a:solidFill>
              <a:srgbClr val="8B1C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1261872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(evidencias)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51760" y="1673352"/>
            <a:ext cx="18288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34640" y="1261872"/>
            <a:ext cx="1097280" cy="822960"/>
          </a:xfrm>
          <a:prstGeom prst="roundRect">
            <a:avLst>
              <a:gd name="adj" fmla="val 6667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0" y="1261872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Destruir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(terraform destroy)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" y="22402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 entre ciclos: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" y="2523744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registrado  transitops.net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zone Route53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Terraform (S3 + DynamoDB)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80560" y="93268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Principales drivers de coste (dev activo)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1261872"/>
          <a:ext cx="4389120" cy="2971800"/>
        </p:xfrm>
        <a:graphic>
          <a:graphicData uri="http://schemas.openxmlformats.org/drawingml/2006/table">
            <a:tbl>
              <a:tblPr/>
              <a:tblGrid>
                <a:gridCol w="2286000"/>
                <a:gridCol w="2103120"/>
              </a:tblGrid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Servicio AWS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C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aplicado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C4A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 Gateway + EIP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NAT por entorno (mínimo)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Load Balancer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Destruido con tf destroy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ECS Fargate (CPU+memoria)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desired=0 en primera apply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RDS PostgreSQL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Single-AZ, retention=0, no final snapshot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CloudWatch (logs/alarms)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Destruido con tf destroy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Secrets Manager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Force-deleted tras uso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ECR image storage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ecr_force_delete=true en dev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274320" y="4297680"/>
            <a:ext cx="8595360" cy="420624"/>
          </a:xfrm>
          <a:prstGeom prst="roundRect">
            <a:avLst>
              <a:gd name="adj" fmla="val 13043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1480" y="4297680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8:  72 recursos destruidos · terraform state list vacío · Test-Sprint8DestroyAudit.ps1 OK · entorno dev a coste cero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0" y="4873752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TransitOps · TFG Ingeniería Informática · UDC 2026  ·  15 / 18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E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y resultados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8B1C4A"/>
          </a:solidFill>
          <a:ln w="12700">
            <a:solidFill>
              <a:srgbClr val="8B1C4A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3858768"/>
        </p:xfrm>
        <a:graphic>
          <a:graphicData uri="http://schemas.openxmlformats.org/drawingml/2006/table">
            <a:tbl>
              <a:tblPr/>
              <a:tblGrid>
                <a:gridCol w="1645920"/>
                <a:gridCol w="4297680"/>
                <a:gridCol w="26517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C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 (Sprint 8/9)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C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Evidencia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C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 locales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 / 87 pasados (dotnet test)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LocalVerification.md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 pipeline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terraform fmt + validate OK; memoria PDF compilada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9 checklist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AWS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 recursos · ECS 1/1 · HTTPS 200 · correlationId OK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CloudOperations.md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Observabilidad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alarmas · dashboard OK · logs JSON · X-Correlation-ID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CloudDeployment.md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Rollback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Known-good tag → ECS stable → smoke 200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CloudReliability.md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Restore RDS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Snapshot → --migrate-only exit 0 → limpieza OK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CloudReliability.md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Seguridad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Posture audit OK · ECS/RDS privados · OIDC activo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CloudOperations.md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Destrucción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 destroyed · state empty · destroy audit OK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FinalEvidence.md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Trazabilidad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RF + 11 RNF completados o aceptados con tradeoff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RequirementsTraceability.md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0" y="4873752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TransitOps · TFG Ingeniería Informática · UDC 2026  ·  16 / 18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E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Conclusiones, competencias y lecciones aprendidas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8B1C4A"/>
          </a:solidFill>
          <a:ln w="12700">
            <a:solidFill>
              <a:srgbClr val="8B1C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326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cumplidos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261872"/>
            <a:ext cx="4572000" cy="2176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cloud completa diseñada, desplegada y operada en AWS real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Terraform reproducible desde cero: 72 recursos en un solo apply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CI/CD con OIDC, migraciones seguras y smoke tests automatizados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 operativa: logs JSON, correlación, dashboard, 9 alarmas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Fiabilidad demostrada: rollback por tag y restore RDS desde snapshot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baseline auditada y tradeoffs documentados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35478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Competencias Euro-Inf / Mención IS cubiertas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3822192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sistemas distribuidos · IaC y automatización · DevSecOps · operación en producción · gestión del ciclo de vida del software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0" y="9326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incidencias reales resueltas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0" y="1261872"/>
            <a:ext cx="3840480" cy="1078992"/>
          </a:xfrm>
          <a:prstGeom prst="roundRect">
            <a:avLst>
              <a:gd name="adj" fmla="val 5932"/>
            </a:avLst>
          </a:prstGeom>
          <a:solidFill>
            <a:srgbClr val="F3F4F6"/>
          </a:solidFill>
          <a:ln w="19050">
            <a:solidFill>
              <a:srgbClr val="2A649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0" y="1261872"/>
            <a:ext cx="3840480" cy="274320"/>
          </a:xfrm>
          <a:prstGeom prst="roundRect">
            <a:avLst>
              <a:gd name="adj" fmla="val 23333"/>
            </a:avLst>
          </a:prstGeom>
          <a:solidFill>
            <a:srgbClr val="2A6496"/>
          </a:solidFill>
          <a:ln w="12700">
            <a:solidFill>
              <a:srgbClr val="2A64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1426464"/>
            <a:ext cx="3840480" cy="128016"/>
          </a:xfrm>
          <a:prstGeom prst="rect">
            <a:avLst/>
          </a:prstGeom>
          <a:solidFill>
            <a:srgbClr val="2A6496"/>
          </a:solidFill>
          <a:ln w="12700">
            <a:solidFill>
              <a:srgbClr val="2A64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12618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Delegación DNS / ACM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20640" y="1563624"/>
            <a:ext cx="3657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 necesita validación DNS antes de emitir el certificado. La delegación de NS a AWS debe completarse antes del terraform apply con HTTPS. Orden: delegar → esperar propagación → apply.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0" y="2450592"/>
            <a:ext cx="3840480" cy="1078992"/>
          </a:xfrm>
          <a:prstGeom prst="roundRect">
            <a:avLst>
              <a:gd name="adj" fmla="val 5932"/>
            </a:avLst>
          </a:prstGeom>
          <a:solidFill>
            <a:srgbClr val="F3F4F6"/>
          </a:solidFill>
          <a:ln w="19050">
            <a:solidFill>
              <a:srgbClr val="C2410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0" y="2450592"/>
            <a:ext cx="3840480" cy="274320"/>
          </a:xfrm>
          <a:prstGeom prst="roundRect">
            <a:avLst>
              <a:gd name="adj" fmla="val 23333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0" y="2615184"/>
            <a:ext cx="3840480" cy="12801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24505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Manager: secretos en borrado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20640" y="2752344"/>
            <a:ext cx="3657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destroy programa la eliminación de secretos con período de recuperación. En un recreate rápido, el secreto aún existe y falla la creación. Solución: aws secretsmanager delete-secret --force-delete-without-recovery.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0" y="3639312"/>
            <a:ext cx="3840480" cy="1078992"/>
          </a:xfrm>
          <a:prstGeom prst="roundRect">
            <a:avLst>
              <a:gd name="adj" fmla="val 5932"/>
            </a:avLst>
          </a:prstGeom>
          <a:solidFill>
            <a:srgbClr val="F3F4F6"/>
          </a:solidFill>
          <a:ln w="19050">
            <a:solidFill>
              <a:srgbClr val="8B1C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0" y="3639312"/>
            <a:ext cx="3840480" cy="274320"/>
          </a:xfrm>
          <a:prstGeom prst="roundRect">
            <a:avLst>
              <a:gd name="adj" fmla="val 23333"/>
            </a:avLst>
          </a:prstGeom>
          <a:solidFill>
            <a:srgbClr val="8B1C4A"/>
          </a:solidFill>
          <a:ln w="12700">
            <a:solidFill>
              <a:srgbClr val="8B1C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0" y="3803904"/>
            <a:ext cx="3840480" cy="128016"/>
          </a:xfrm>
          <a:prstGeom prst="rect">
            <a:avLst/>
          </a:prstGeom>
          <a:solidFill>
            <a:srgbClr val="8B1C4A"/>
          </a:solidFill>
          <a:ln w="12700">
            <a:solidFill>
              <a:srgbClr val="8B1C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36393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ECR: force_delete en dev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20640" y="3941064"/>
            <a:ext cx="3657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destroy no puede eliminar un repositorio ECR con imágenes a menos que force_delete = true. Sin esta flag, destroy falla con error de dependencia. En prod se omite esta flag por seguridad.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0" y="4873752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TransitOps · TFG Ingeniería Informática · UDC 2026  ·  17 / 18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8B1C4A"/>
          </a:solidFill>
          <a:ln w="12700">
            <a:solidFill>
              <a:srgbClr val="8B1C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 da Coruña  ·  Facultade de Informática da Coruña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DB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Líneas de trabajo futuro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024128"/>
            <a:ext cx="7315200" cy="2084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prod con RDS Multi-AZ, backups, WAF y autoscaling real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o app móvil sobre la misma API REST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a arquitectura de microservicios (ECS tasks separadas por dominio)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 / OpenTelemetry para trazado distribuido y profiling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de backup en producción y restore automatizado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pull request con entornos efímeros por rama (staging automático)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371600" y="3218688"/>
            <a:ext cx="6400800" cy="0"/>
          </a:xfrm>
          <a:prstGeom prst="line">
            <a:avLst/>
          </a:prstGeom>
          <a:noFill/>
          <a:ln w="12700">
            <a:solidFill>
              <a:srgbClr val="3A52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31012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Muchas gracias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40416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8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Pablo Manzanares López  ·  pablo.manzanares@altia.es  ·  github.com/pey-45/TransitOps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3891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Dra. Paula María Castro Castro  ·  Directora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TransitOps — Defensa TFG</dc:title>
  <dc:subject>PptxGenJS Presentation</dc:subject>
  <dc:creator>Pablo Manzanares López</dc:creator>
  <cp:lastModifiedBy>Pablo Manzanares López</cp:lastModifiedBy>
  <cp:revision>1</cp:revision>
  <dcterms:created xsi:type="dcterms:W3CDTF">2026-06-13T19:38:36Z</dcterms:created>
  <dcterms:modified xsi:type="dcterms:W3CDTF">2026-06-13T19:38:36Z</dcterms:modified>
</cp:coreProperties>
</file>