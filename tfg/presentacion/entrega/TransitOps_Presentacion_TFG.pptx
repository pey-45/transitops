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93b7a812b64eda" /><Relationship Type="http://schemas.openxmlformats.org/officeDocument/2006/relationships/extended-properties" Target="/docProps/app.xml" Id="Rb39eb04992204e00" /><Relationship Type="http://schemas.openxmlformats.org/officeDocument/2006/relationships/officeDocument" Target="/ppt/presentation.xml" Id="R087f66b39f344e45" /></Relationships>
</file>

<file path=ppt/presentation.xml><?xml version="1.0" encoding="utf-8"?>
<p:presentation xmlns:p="http://schemas.openxmlformats.org/presentationml/2006/main">
  <p:sldMasterIdLst>
    <p:sldMasterId xmlns:r="http://schemas.openxmlformats.org/officeDocument/2006/relationships" id="2147483648" r:id="Rd9d8e93ed0dc44e8"/>
  </p:sldMasterIdLst>
  <p:notesMasterIdLst>
    <p:notesMasterId xmlns:r="http://schemas.openxmlformats.org/officeDocument/2006/relationships" r:id="Rce0f257a42fc42dc"/>
  </p:notesMasterIdLst>
  <p:sldIdLst>
    <p:sldId xmlns:r="http://schemas.openxmlformats.org/officeDocument/2006/relationships" id="256" r:id="R1e033a4619804b26"/>
    <p:sldId xmlns:r="http://schemas.openxmlformats.org/officeDocument/2006/relationships" id="257" r:id="Rd181730703a8493c"/>
    <p:sldId xmlns:r="http://schemas.openxmlformats.org/officeDocument/2006/relationships" id="258" r:id="Rb1970ca7d6784113"/>
    <p:sldId xmlns:r="http://schemas.openxmlformats.org/officeDocument/2006/relationships" id="259" r:id="R5f70150faf284216"/>
    <p:sldId xmlns:r="http://schemas.openxmlformats.org/officeDocument/2006/relationships" id="260" r:id="Rdb7323d2148a471e"/>
    <p:sldId xmlns:r="http://schemas.openxmlformats.org/officeDocument/2006/relationships" id="261" r:id="R51b7dd9b946d4499"/>
    <p:sldId xmlns:r="http://schemas.openxmlformats.org/officeDocument/2006/relationships" id="262" r:id="Rcc91203180654d4a"/>
    <p:sldId xmlns:r="http://schemas.openxmlformats.org/officeDocument/2006/relationships" id="263" r:id="Rd6c7f3939ea645d3"/>
    <p:sldId xmlns:r="http://schemas.openxmlformats.org/officeDocument/2006/relationships" id="264" r:id="Ra5821322943545e7"/>
    <p:sldId xmlns:r="http://schemas.openxmlformats.org/officeDocument/2006/relationships" id="265" r:id="R1415732878494294"/>
    <p:sldId xmlns:r="http://schemas.openxmlformats.org/officeDocument/2006/relationships" id="266" r:id="R6d1d10a3bfdd4f4a"/>
    <p:sldId xmlns:r="http://schemas.openxmlformats.org/officeDocument/2006/relationships" id="267" r:id="Rbe56884c98c846ef"/>
    <p:sldId xmlns:r="http://schemas.openxmlformats.org/officeDocument/2006/relationships" id="268" r:id="R081a76e295cb4429"/>
    <p:sldId xmlns:r="http://schemas.openxmlformats.org/officeDocument/2006/relationships" id="269" r:id="R05e7f712bbf54483"/>
    <p:sldId xmlns:r="http://schemas.openxmlformats.org/officeDocument/2006/relationships" id="270" r:id="R903f2ea45e8244bf"/>
    <p:sldId xmlns:r="http://schemas.openxmlformats.org/officeDocument/2006/relationships" id="271" r:id="Red039a20c3fc4752"/>
    <p:sldId xmlns:r="http://schemas.openxmlformats.org/officeDocument/2006/relationships" id="272" r:id="R19434e94768b4f51"/>
    <p:sldId xmlns:r="http://schemas.openxmlformats.org/officeDocument/2006/relationships" id="273" r:id="Rb8690b62e2bf4853"/>
    <p:sldId xmlns:r="http://schemas.openxmlformats.org/officeDocument/2006/relationships" id="274" r:id="Ree2357951edb428f"/>
    <p:sldId xmlns:r="http://schemas.openxmlformats.org/officeDocument/2006/relationships" id="275" r:id="R577e0bfdc53745a9"/>
    <p:sldId xmlns:r="http://schemas.openxmlformats.org/officeDocument/2006/relationships" id="276" r:id="R211170b3c47a4c78"/>
    <p:sldId xmlns:r="http://schemas.openxmlformats.org/officeDocument/2006/relationships" id="277" r:id="R85134336681e4a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8c1faa0e944d49" /><Relationship Type="http://schemas.openxmlformats.org/officeDocument/2006/relationships/slideMaster" Target="/ppt/slideMasters/slideMaster1.xml" Id="Rd9d8e93ed0dc44e8" /><Relationship Type="http://schemas.openxmlformats.org/officeDocument/2006/relationships/notesMaster" Target="/ppt/notesMasters/notesMaster1.xml" Id="Rce0f257a42fc42dc" /><Relationship Type="http://schemas.openxmlformats.org/officeDocument/2006/relationships/presProps" Target="/ppt/presProps.xml" Id="R7be8551944cb44ce" /><Relationship Type="http://schemas.openxmlformats.org/officeDocument/2006/relationships/tableStyles" Target="/ppt/tableStyles.xml" Id="Rcc09a35d07094cc7" /><Relationship Type="http://schemas.openxmlformats.org/officeDocument/2006/relationships/slide" Target="/ppt/slides/slide1.xml" Id="R1e033a4619804b26" /><Relationship Type="http://schemas.openxmlformats.org/officeDocument/2006/relationships/slide" Target="/ppt/slides/slide2.xml" Id="Rd181730703a8493c" /><Relationship Type="http://schemas.openxmlformats.org/officeDocument/2006/relationships/slide" Target="/ppt/slides/slide3.xml" Id="Rb1970ca7d6784113" /><Relationship Type="http://schemas.openxmlformats.org/officeDocument/2006/relationships/slide" Target="/ppt/slides/slide4.xml" Id="R5f70150faf284216" /><Relationship Type="http://schemas.openxmlformats.org/officeDocument/2006/relationships/slide" Target="/ppt/slides/slide5.xml" Id="Rdb7323d2148a471e" /><Relationship Type="http://schemas.openxmlformats.org/officeDocument/2006/relationships/slide" Target="/ppt/slides/slide6.xml" Id="R51b7dd9b946d4499" /><Relationship Type="http://schemas.openxmlformats.org/officeDocument/2006/relationships/slide" Target="/ppt/slides/slide7.xml" Id="Rcc91203180654d4a" /><Relationship Type="http://schemas.openxmlformats.org/officeDocument/2006/relationships/slide" Target="/ppt/slides/slide8.xml" Id="Rd6c7f3939ea645d3" /><Relationship Type="http://schemas.openxmlformats.org/officeDocument/2006/relationships/slide" Target="/ppt/slides/slide9.xml" Id="Ra5821322943545e7" /><Relationship Type="http://schemas.openxmlformats.org/officeDocument/2006/relationships/slide" Target="/ppt/slides/slide10.xml" Id="R1415732878494294" /><Relationship Type="http://schemas.openxmlformats.org/officeDocument/2006/relationships/slide" Target="/ppt/slides/slide11.xml" Id="R6d1d10a3bfdd4f4a" /><Relationship Type="http://schemas.openxmlformats.org/officeDocument/2006/relationships/slide" Target="/ppt/slides/slide12.xml" Id="Rbe56884c98c846ef" /><Relationship Type="http://schemas.openxmlformats.org/officeDocument/2006/relationships/slide" Target="/ppt/slides/slide13.xml" Id="R081a76e295cb4429" /><Relationship Type="http://schemas.openxmlformats.org/officeDocument/2006/relationships/slide" Target="/ppt/slides/slide14.xml" Id="R05e7f712bbf54483" /><Relationship Type="http://schemas.openxmlformats.org/officeDocument/2006/relationships/slide" Target="/ppt/slides/slide15.xml" Id="R903f2ea45e8244bf" /><Relationship Type="http://schemas.openxmlformats.org/officeDocument/2006/relationships/slide" Target="/ppt/slides/slide16.xml" Id="Red039a20c3fc4752" /><Relationship Type="http://schemas.openxmlformats.org/officeDocument/2006/relationships/slide" Target="/ppt/slides/slide17.xml" Id="R19434e94768b4f51" /><Relationship Type="http://schemas.openxmlformats.org/officeDocument/2006/relationships/slide" Target="/ppt/slides/slide18.xml" Id="Rb8690b62e2bf4853" /><Relationship Type="http://schemas.openxmlformats.org/officeDocument/2006/relationships/slide" Target="/ppt/slides/slide19.xml" Id="Ree2357951edb428f" /><Relationship Type="http://schemas.openxmlformats.org/officeDocument/2006/relationships/slide" Target="/ppt/slides/slide20.xml" Id="R577e0bfdc53745a9" /><Relationship Type="http://schemas.openxmlformats.org/officeDocument/2006/relationships/slide" Target="/ppt/slides/slide21.xml" Id="R211170b3c47a4c78" /><Relationship Type="http://schemas.openxmlformats.org/officeDocument/2006/relationships/slide" Target="/ppt/slides/slide22.xml" Id="R85134336681e4a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18975fb24848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6641e71380425c" /><Relationship Type="http://schemas.openxmlformats.org/officeDocument/2006/relationships/notesMaster" Target="/ppt/notesMasters/notesMaster1.xml" Id="R4782eb996d9f48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098db3c6fd4b0a" /><Relationship Type="http://schemas.openxmlformats.org/officeDocument/2006/relationships/notesMaster" Target="/ppt/notesMasters/notesMaster1.xml" Id="R101ece90636b43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80f1e455aa4c52" /><Relationship Type="http://schemas.openxmlformats.org/officeDocument/2006/relationships/notesMaster" Target="/ppt/notesMasters/notesMaster1.xml" Id="R0c3e64e5cd6649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eb74e66ef54d40" /><Relationship Type="http://schemas.openxmlformats.org/officeDocument/2006/relationships/notesMaster" Target="/ppt/notesMasters/notesMaster1.xml" Id="R5bff8675baf143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ea1a1108434d72" /><Relationship Type="http://schemas.openxmlformats.org/officeDocument/2006/relationships/notesMaster" Target="/ppt/notesMasters/notesMaster1.xml" Id="R65f9d2ad51be44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952b7634c94229" /><Relationship Type="http://schemas.openxmlformats.org/officeDocument/2006/relationships/notesMaster" Target="/ppt/notesMasters/notesMaster1.xml" Id="R1c5e7bff20d341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ca6e2cf7b842ea" /><Relationship Type="http://schemas.openxmlformats.org/officeDocument/2006/relationships/notesMaster" Target="/ppt/notesMasters/notesMaster1.xml" Id="R274754d09e9641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0369ebdfb54a65" /><Relationship Type="http://schemas.openxmlformats.org/officeDocument/2006/relationships/notesMaster" Target="/ppt/notesMasters/notesMaster1.xml" Id="R907f4ef6235f4a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9288472b234c30" /><Relationship Type="http://schemas.openxmlformats.org/officeDocument/2006/relationships/notesMaster" Target="/ppt/notesMasters/notesMaster1.xml" Id="R83185dae33b844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952c501b964a85" /><Relationship Type="http://schemas.openxmlformats.org/officeDocument/2006/relationships/notesMaster" Target="/ppt/notesMasters/notesMaster1.xml" Id="Ra219cb9d8d9a42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7e67c07cc84cf7" /><Relationship Type="http://schemas.openxmlformats.org/officeDocument/2006/relationships/notesMaster" Target="/ppt/notesMasters/notesMaster1.xml" Id="Rb7833b7d859a46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3fc08563e546a3" /><Relationship Type="http://schemas.openxmlformats.org/officeDocument/2006/relationships/notesMaster" Target="/ppt/notesMasters/notesMaster1.xml" Id="R75047ed59b1144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19dd355d6b45e1" /><Relationship Type="http://schemas.openxmlformats.org/officeDocument/2006/relationships/notesMaster" Target="/ppt/notesMasters/notesMaster1.xml" Id="R93c5f57c0e7843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daa18788d544e6a" /><Relationship Type="http://schemas.openxmlformats.org/officeDocument/2006/relationships/notesMaster" Target="/ppt/notesMasters/notesMaster1.xml" Id="R98bc4613b5f543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5acd3bbb3d4dde" /><Relationship Type="http://schemas.openxmlformats.org/officeDocument/2006/relationships/notesMaster" Target="/ppt/notesMasters/notesMaster1.xml" Id="R4489795041d84f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c16687fe494eb6" /><Relationship Type="http://schemas.openxmlformats.org/officeDocument/2006/relationships/notesMaster" Target="/ppt/notesMasters/notesMaster1.xml" Id="Raac3ec713c094c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8d15ff60c84ab4" /><Relationship Type="http://schemas.openxmlformats.org/officeDocument/2006/relationships/notesMaster" Target="/ppt/notesMasters/notesMaster1.xml" Id="R9cd340cf088d41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c947164c4ec4858" /><Relationship Type="http://schemas.openxmlformats.org/officeDocument/2006/relationships/notesMaster" Target="/ppt/notesMasters/notesMaster1.xml" Id="R77d77cb5a6a648f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48088c486146d2" /><Relationship Type="http://schemas.openxmlformats.org/officeDocument/2006/relationships/notesMaster" Target="/ppt/notesMasters/notesMaster1.xml" Id="R1d6b327690f7464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27b9356922d4621" /><Relationship Type="http://schemas.openxmlformats.org/officeDocument/2006/relationships/notesMaster" Target="/ppt/notesMasters/notesMaster1.xml" Id="R52827f4f32e64f2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ff21e200a642df" /><Relationship Type="http://schemas.openxmlformats.org/officeDocument/2006/relationships/notesMaster" Target="/ppt/notesMasters/notesMaster1.xml" Id="Rac69b0802a514ad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fb97d1574c84fc1" /><Relationship Type="http://schemas.openxmlformats.org/officeDocument/2006/relationships/notesMaster" Target="/ppt/notesMasters/notesMaster1.xml" Id="Ra1b065e3be9a46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0:25. Tramo 0:00–0:25.</a:t>
            </a:r>
          </a:p>
          <a:p xmlns:a="http://schemas.openxmlformats.org/drawingml/2006/main">
            <a:r>
              <a:t/>
            </a:r>
          </a:p>
          <a:p xmlns:a="http://schemas.openxmlformats.org/drawingml/2006/main">
            <a:r>
              <a:t>Buenos días. Soy Pablo Manzanares López y voy a presentar TransitOps, mi Trabajo Fin de Grado. El proyecto recorre el ciclo de vida completo de una aplicación de gestión de transportes, desde el análisis de necesidades hasta su validación y despliegue.</a:t>
            </a:r>
          </a:p>
          <a:p xmlns:a="http://schemas.openxmlformats.org/drawingml/2006/main">
            <a:r>
              <a:t/>
            </a:r>
          </a:p>
          <a:p xmlns:a="http://schemas.openxmlformats.org/drawingml/2006/main">
            <a:r>
              <a:t>FUENTES</a:t>
            </a:r>
          </a:p>
          <a:p xmlns:a="http://schemas.openxmlformats.org/drawingml/2006/main">
            <a:r>
              <a:t>Memoria, portada y capítulo 1, pp.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0:30. Tramo 0:25–0:55.</a:t>
            </a:r>
          </a:p>
          <a:p xmlns:a="http://schemas.openxmlformats.org/drawingml/2006/main">
            <a:r>
              <a:t/>
            </a:r>
          </a:p>
          <a:p xmlns:a="http://schemas.openxmlformats.org/drawingml/2006/main">
            <a:r>
              <a:t>La exposición sigue el mismo razonamiento con el que se construyó el proyecto. Primero presentaré el problema, los objetivos y el alcance. Después explicaré la metodología y las decisiones de diseño. La parte central mostrará el producto mediante un flujo operativo. Terminaré con la validación, el despliegue y una evaluación crítica del resultado.</a:t>
            </a:r>
          </a:p>
          <a:p xmlns:a="http://schemas.openxmlformats.org/drawingml/2006/main">
            <a:r>
              <a:t/>
            </a:r>
          </a:p>
          <a:p xmlns:a="http://schemas.openxmlformats.org/drawingml/2006/main">
            <a:r>
              <a:t>FUENTES</a:t>
            </a:r>
          </a:p>
          <a:p xmlns:a="http://schemas.openxmlformats.org/drawingml/2006/main">
            <a:r>
              <a:t>Estructura de la defensa elaborada a partir de los capítulos 1–13 de la memoria.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0:50. Tramo 0:55–1:45.</a:t>
            </a:r>
          </a:p>
          <a:p xmlns:a="http://schemas.openxmlformats.org/drawingml/2006/main">
            <a:r>
              <a:t/>
            </a:r>
          </a:p>
          <a:p xmlns:a="http://schemas.openxmlformats.org/drawingml/2006/main">
            <a:r>
              <a:t>El caso de partida es una pyme de transporte que coordina vehículos, conductores, clientes y envíos. Cuando la información queda repartida entre hojas de cálculo, mensajes y llamadas, responder qué recurso está disponible o qué ocurrió con una entrega exige reconstruir varias fuentes. Esto favorece dobles reservas, el uso de datos obsoletos y la pérdida de autoría de las incidencias. El caso de negocio se definió mediante una entrevista simulada, por lo que el trabajo no afirma mejoras medidas en una empresa real.</a:t>
            </a:r>
          </a:p>
          <a:p xmlns:a="http://schemas.openxmlformats.org/drawingml/2006/main">
            <a:r>
              <a:t/>
            </a:r>
          </a:p>
          <a:p xmlns:a="http://schemas.openxmlformats.org/drawingml/2006/main">
            <a:r>
              <a:t>FUENTES</a:t>
            </a:r>
          </a:p>
          <a:p xmlns:a="http://schemas.openxmlformats.org/drawingml/2006/main">
            <a:r>
              <a:t>Memoria, capítulos 1 y 4.1, pp. 1–3 y 15. docs/ClientRequirements.md.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0:55. Tramo 1:45–2:40.</a:t>
            </a:r>
          </a:p>
          <a:p xmlns:a="http://schemas.openxmlformats.org/drawingml/2006/main">
            <a:r>
              <a:t/>
            </a:r>
          </a:p>
          <a:p xmlns:a="http://schemas.openxmlformats.org/drawingml/2006/main">
            <a:r>
              <a:t>El objetivo principal fue construir una aplicación web mantenible para centralizar la operación diaria y demostrar el ciclo de vida completo que la produce. El resultado debía permitir gestionar datos maestros, planificar envíos, asignar recursos, controlar estados y consultar una cronología verificable. El proyecto se consideraría completo si cubría los cuatro casos de uso de extremo a extremo, mantenía trazabilidad entre requisitos y pruebas, podía ejecutarse de forma reproducible y quedaba accesible en un entorno desplegado.</a:t>
            </a:r>
          </a:p>
          <a:p xmlns:a="http://schemas.openxmlformats.org/drawingml/2006/main">
            <a:r>
              <a:t/>
            </a:r>
          </a:p>
          <a:p xmlns:a="http://schemas.openxmlformats.org/drawingml/2006/main">
            <a:r>
              <a:t>FUENTES</a:t>
            </a:r>
          </a:p>
          <a:p xmlns:a="http://schemas.openxmlformats.org/drawingml/2006/main">
            <a:r>
              <a:t>Memoria, apartados 1.2–1.3, pp.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1:00. Tramo 2:40–3:40.</a:t>
            </a:r>
          </a:p>
          <a:p xmlns:a="http://schemas.openxmlformats.org/drawingml/2006/main">
            <a:r>
              <a:t/>
            </a:r>
          </a:p>
          <a:p xmlns:a="http://schemas.openxmlformats.org/drawingml/2006/main">
            <a:r>
              <a:t>La especificación contiene catorce requisitos funcionales, diecisiete reglas de negocio y seis requisitos no funcionales. El operador gestiona catálogos, envíos, asignaciones, estados y eventos. El administrador añade la gestión de usuarios. Conductores y clientes son entidades del dominio, no usuarios del sistema. El alcance se limita al núcleo operativo. La optimización de rutas, el GPS, la facturación y el acceso de clientes externos quedan fuera para reservar esfuerzo a la calidad, la reproducibilidad y la evaluación del producto.</a:t>
            </a:r>
          </a:p>
          <a:p xmlns:a="http://schemas.openxmlformats.org/drawingml/2006/main">
            <a:r>
              <a:t/>
            </a:r>
          </a:p>
          <a:p xmlns:a="http://schemas.openxmlformats.org/drawingml/2006/main">
            <a:r>
              <a:t>FUENTES</a:t>
            </a:r>
          </a:p>
          <a:p xmlns:a="http://schemas.openxmlformats.org/drawingml/2006/main">
            <a:r>
              <a:t>Memoria, capítulo 4, pp. 15–21. docs/Requirements.md.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0:55. Tramo 3:40–4:35.</a:t>
            </a:r>
          </a:p>
          <a:p xmlns:a="http://schemas.openxmlformats.org/drawingml/2006/main">
            <a:r>
              <a:t/>
            </a:r>
          </a:p>
          <a:p xmlns:a="http://schemas.openxmlformats.org/drawingml/2006/main">
            <a:r>
              <a:t>Cuatro casos de uso organizan el alcance. El primero cubre el acceso y la sesión. El segundo mantiene vehículos, conductores y clientes. El tercero recorre la operación del envío, desde su creación y asignación hasta la entrega o cancelación, con eventos durante el trayecto. El cuarto reúne administración e indicadores. Esta división convierte una lista extensa de requisitos en recorridos demostrables y proporciona la base de las pruebas de sistema.</a:t>
            </a:r>
          </a:p>
          <a:p xmlns:a="http://schemas.openxmlformats.org/drawingml/2006/main">
            <a:r>
              <a:t/>
            </a:r>
          </a:p>
          <a:p xmlns:a="http://schemas.openxmlformats.org/drawingml/2006/main">
            <a:r>
              <a:t>FUENTES</a:t>
            </a:r>
          </a:p>
          <a:p xmlns:a="http://schemas.openxmlformats.org/drawingml/2006/main">
            <a:r>
              <a:t>Memoria, apartado 4.4, pp. 17–21. docs/Requirements.md.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1:10. Tramo 4:35–5:45.</a:t>
            </a:r>
          </a:p>
          <a:p xmlns:a="http://schemas.openxmlformats.org/drawingml/2006/main">
            <a:r>
              <a:t/>
            </a:r>
          </a:p>
          <a:p xmlns:a="http://schemas.openxmlformats.org/drawingml/2006/main">
            <a:r>
              <a:t>El desarrollo se organizó en incrementos verticales. Cada sprint añadió una capacidad completa, con datos, servicio, API, interfaz y pruebas. El primer sprint dejó un esqueleto autenticado que atravesaba todas las capas. Los siguientes añadieron catálogos, envíos, operación, historial y administración. El séptimo consolidó concurrencia, seguridad, pruebas de sistema y despliegue. El modelo conceptual se diseñó al principio para evitar contradicciones, mientras el esquema físico evolucionó mediante migraciones. Cada incremento se cerró solo cuando el flujo funcionaba integrado y sus comprobaciones quedaban documentadas.</a:t>
            </a:r>
          </a:p>
          <a:p xmlns:a="http://schemas.openxmlformats.org/drawingml/2006/main">
            <a:r>
              <a:t/>
            </a:r>
          </a:p>
          <a:p xmlns:a="http://schemas.openxmlformats.org/drawingml/2006/main">
            <a:r>
              <a:t>FUENTES</a:t>
            </a:r>
          </a:p>
          <a:p xmlns:a="http://schemas.openxmlformats.org/drawingml/2006/main">
            <a:r>
              <a:t>Memoria, capítulo 3 y tabla 3.1, pp. 9–14. 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1:05. Tramo 5:45–6:50.</a:t>
            </a:r>
          </a:p>
          <a:p xmlns:a="http://schemas.openxmlformats.org/drawingml/2006/main">
            <a:r>
              <a:t/>
            </a:r>
          </a:p>
          <a:p xmlns:a="http://schemas.openxmlformats.org/drawingml/2006/main">
            <a:r>
              <a:t>La solución separa una SPA React con TypeScript, una API ASP.NET Core sobre .NET 10 y una base PostgreSQL mediante Entity Framework Core. Nginx sirve la interfaz y reenvía las peticiones bajo el mismo origen. La API concentra la autorización, la validación y las reglas de negocio. El backend se organiza por funcionalidades y los controladores delegan en servicios, lo que permite probar las reglas sin levantar todo el servidor. Una API modular única aporta separación suficiente para este alcance sin introducir coordinación distribuida.</a:t>
            </a:r>
          </a:p>
          <a:p xmlns:a="http://schemas.openxmlformats.org/drawingml/2006/main">
            <a:r>
              <a:t/>
            </a:r>
          </a:p>
          <a:p xmlns:a="http://schemas.openxmlformats.org/drawingml/2006/main">
            <a:r>
              <a:t>FUENTES</a:t>
            </a:r>
          </a:p>
          <a:p xmlns:a="http://schemas.openxmlformats.org/drawingml/2006/main">
            <a:r>
              <a:t>Memoria, capítulo 5 y figura 5.1, pp. 22–24. docs/design/IntegrationArchitecture.md.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1:05. Tramo 6:50–7:55.</a:t>
            </a:r>
          </a:p>
          <a:p xmlns:a="http://schemas.openxmlformats.org/drawingml/2006/main">
            <a:r>
              <a:t/>
            </a:r>
          </a:p>
          <a:p xmlns:a="http://schemas.openxmlformats.org/drawingml/2006/main">
            <a:r>
              <a:t>El envío es el centro del modelo. Se vincula con un cliente y puede recibir una pareja de vehículo y conductor. Los eventos pertenecen al envío y conservan la identidad del usuario que actúa. Los catálogos y usuarios emplean baja lógica para preservar referencias históricas. El ciclo de estados se expresa mediante acciones explícitas y cerradas: un envío nace planificado, puede iniciarse si tiene recursos y termina entregado o cancelado. PostgreSQL refuerza las invariantes que deben mantenerse incluso cuando llegan peticiones simultáneas.</a:t>
            </a:r>
          </a:p>
          <a:p xmlns:a="http://schemas.openxmlformats.org/drawingml/2006/main">
            <a:r>
              <a:t/>
            </a:r>
          </a:p>
          <a:p xmlns:a="http://schemas.openxmlformats.org/drawingml/2006/main">
            <a:r>
              <a:t>FUENTES</a:t>
            </a:r>
          </a:p>
          <a:p xmlns:a="http://schemas.openxmlformats.org/drawingml/2006/main">
            <a:r>
              <a:t>Memoria, apartados 5.2 y 6.4–6.7, pp. 23 y 27–32. Figura 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1:00. Tramo 7:55–8:55.</a:t>
            </a:r>
          </a:p>
          <a:p xmlns:a="http://schemas.openxmlformats.org/drawingml/2006/main">
            <a:r>
              <a:t/>
            </a:r>
          </a:p>
          <a:p xmlns:a="http://schemas.openxmlformats.org/drawingml/2006/main">
            <a:r>
              <a:t>La demostración funcional sigue un único envío. Primero se preparan los catálogos y se crea el envío. Después se asignan conjuntamente un vehículo y un conductor. El operador inicia el trayecto, registra puntos de control o incidencias y termina la operación con la entrega o la cancelación. El resumen refleja el resultado. Este recorrido es útil porque conecta la mayor parte del dominio y permite observar las reglas en la interfaz sin separar artificialmente frontend y backend.</a:t>
            </a:r>
          </a:p>
          <a:p xmlns:a="http://schemas.openxmlformats.org/drawingml/2006/main">
            <a:r>
              <a:t/>
            </a:r>
          </a:p>
          <a:p xmlns:a="http://schemas.openxmlformats.org/drawingml/2006/main">
            <a:r>
              <a:t>FUENTES</a:t>
            </a:r>
          </a:p>
          <a:p xmlns:a="http://schemas.openxmlformats.org/drawingml/2006/main">
            <a:r>
              <a:t>Memoria, capítulos 6–7 y casos de uso 2–3, pp. 18–20 y 27–46.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1:05. Tramo 8:55–10:00.</a:t>
            </a:r>
          </a:p>
          <a:p xmlns:a="http://schemas.openxmlformats.org/drawingml/2006/main">
            <a:r>
              <a:t/>
            </a:r>
          </a:p>
          <a:p xmlns:a="http://schemas.openxmlformats.org/drawingml/2006/main">
            <a:r>
              <a:t>El envío se crea en estado planificado y la asignación recibe siempre el vehículo y el conductor juntos. La aplicación impide utilizar recursos inactivos o ya ocupados en otro envío abierto. La capacidad insuficiente se trata de forma distinta: la asignación se confirma y el operador recibe una advertencia. En el ejemplo, la carga estimada es de cuatro mil quinientos kilos y el vehículo registra una capacidad de tres mil. La regla de negocio pedía informar, no bloquear.</a:t>
            </a:r>
          </a:p>
          <a:p xmlns:a="http://schemas.openxmlformats.org/drawingml/2006/main">
            <a:r>
              <a:t/>
            </a:r>
          </a:p>
          <a:p xmlns:a="http://schemas.openxmlformats.org/drawingml/2006/main">
            <a:r>
              <a:t>FUENTES</a:t>
            </a:r>
          </a:p>
          <a:p xmlns:a="http://schemas.openxmlformats.org/drawingml/2006/main">
            <a:r>
              <a:t>Memoria, apartado 6.6 y figura 7.5, pp. 29–30 y 39. Datos de prueba del Sprint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1:05. Tramo 10:00–11:05.</a:t>
            </a:r>
          </a:p>
          <a:p xmlns:a="http://schemas.openxmlformats.org/drawingml/2006/main">
            <a:r>
              <a:t/>
            </a:r>
          </a:p>
          <a:p xmlns:a="http://schemas.openxmlformats.org/drawingml/2006/main">
            <a:r>
              <a:t>Durante el trayecto, el sistema combina eventos automáticos con puntos de control e incidencias introducidos por el operador. El historial solo permite añadir y consultar. Distingue cuándo ocurrió un hecho de cuándo se registró y obtiene el autor de la identidad autenticada. Los cambios de estado y su evento automático se confirman en la misma transacción, de forma que el estado actual y la explicación de cómo se alcanzó no puedan divergir.</a:t>
            </a:r>
          </a:p>
          <a:p xmlns:a="http://schemas.openxmlformats.org/drawingml/2006/main">
            <a:r>
              <a:t/>
            </a:r>
          </a:p>
          <a:p xmlns:a="http://schemas.openxmlformats.org/drawingml/2006/main">
            <a:r>
              <a:t>FUENTES</a:t>
            </a:r>
          </a:p>
          <a:p xmlns:a="http://schemas.openxmlformats.org/drawingml/2006/main">
            <a:r>
              <a:t>Memoria, apartado 6.7 y figura 7.8, pp. 30–32 y 42. Datos de prueba del Sprint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0:50. Tramo 11:05–11:55.</a:t>
            </a:r>
          </a:p>
          <a:p xmlns:a="http://schemas.openxmlformats.org/drawingml/2006/main">
            <a:r>
              <a:t/>
            </a:r>
          </a:p>
          <a:p xmlns:a="http://schemas.openxmlformats.org/drawingml/2006/main">
            <a:r>
              <a:t>El administrador puede crear cuentas, cambiar roles, activar o desactivar usuarios y reasignar contraseñas. La API protege que siempre permanezca al menos un administrador activo. El panel resume los envíos por estado, la actividad de vehículos y conductores y las incidencias del periodo seleccionado. Los indicadores sirven para orientar la operación y enlazan con los listados filtrados. La captura usa datos de demostración y no representa actividad empresarial real.</a:t>
            </a:r>
          </a:p>
          <a:p xmlns:a="http://schemas.openxmlformats.org/drawingml/2006/main">
            <a:r>
              <a:t/>
            </a:r>
          </a:p>
          <a:p xmlns:a="http://schemas.openxmlformats.org/drawingml/2006/main">
            <a:r>
              <a:t>FUENTES</a:t>
            </a:r>
          </a:p>
          <a:p xmlns:a="http://schemas.openxmlformats.org/drawingml/2006/main">
            <a:r>
              <a:t>Memoria, apartados 6.8 y 7.6, pp. 32–33 y 44–46. Datos de demostración del Sprint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1:10. Tramo 11:55–13:05.</a:t>
            </a:r>
          </a:p>
          <a:p xmlns:a="http://schemas.openxmlformats.org/drawingml/2006/main">
            <a:r>
              <a:t/>
            </a:r>
          </a:p>
          <a:p xmlns:a="http://schemas.openxmlformats.org/drawingml/2006/main">
            <a:r>
              <a:t>La validación se reparte según el tipo de riesgo. Ciento treinta y nueve pruebas de backend comprueban reglas, contratos HTTP, persistencia y concurrencia. Treinta y tres pruebas de frontend verifican los flujos de interacción. Cuatro pruebas de sistema con Playwright recorren los casos de uso sobre la composición completa. Las restricciones de concurrencia se prueban contra PostgreSQL real, y la integración continua repite compilación, suites y migraciones sobre un entorno limpio. Los recuentos indican casos ejecutados, no porcentaje de cobertura.</a:t>
            </a:r>
          </a:p>
          <a:p xmlns:a="http://schemas.openxmlformats.org/drawingml/2006/main">
            <a:r>
              <a:t/>
            </a:r>
          </a:p>
          <a:p xmlns:a="http://schemas.openxmlformats.org/drawingml/2006/main">
            <a:r>
              <a:t>FUENTES</a:t>
            </a:r>
          </a:p>
          <a:p xmlns:a="http://schemas.openxmlformats.org/drawingml/2006/main">
            <a:r>
              <a:t>Memoria, capítulo 8, pp. 48–55. Recuentos documentados al cierre del Sprint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1:05. Tramo 13:05–14:10.</a:t>
            </a:r>
          </a:p>
          <a:p xmlns:a="http://schemas.openxmlformats.org/drawingml/2006/main">
            <a:r>
              <a:t/>
            </a:r>
          </a:p>
          <a:p xmlns:a="http://schemas.openxmlformats.org/drawingml/2006/main">
            <a:r>
              <a:t>Tras superar la validación, GitHub Actions publica las imágenes de la API y la web en GHCR. Una máquina Ubuntu descarga esas imágenes y aplica la misma composición de contenedores descrita en la documentación. Un script comprueba la configuración, la salud, la revisión y los digests desplegados. Systemd ejecuta periódicamente ese procedimiento. El acceso público usa un túnel saliente de Cloudflare, de modo que ningún puerto de los contenedores queda publicado en el host. Es un entorno de demostración reproducible, no un servicio en producción.</a:t>
            </a:r>
          </a:p>
          <a:p xmlns:a="http://schemas.openxmlformats.org/drawingml/2006/main">
            <a:r>
              <a:t/>
            </a:r>
          </a:p>
          <a:p xmlns:a="http://schemas.openxmlformats.org/drawingml/2006/main">
            <a:r>
              <a:t>FUENTES</a:t>
            </a:r>
          </a:p>
          <a:p xmlns:a="http://schemas.openxmlformats.org/drawingml/2006/main">
            <a:r>
              <a:t>Memoria, capítulo 9, pp. 56–60. docs/Deployment.md.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1:00. Tramo 14:10–15:10.</a:t>
            </a:r>
          </a:p>
          <a:p xmlns:a="http://schemas.openxmlformats.org/drawingml/2006/main">
            <a:r>
              <a:t/>
            </a:r>
          </a:p>
          <a:p xmlns:a="http://schemas.openxmlformats.org/drawingml/2006/main">
            <a:r>
              <a:t>El producto cubre RF-01 a RF-14 y los cuatro casos de uso completos. La trazabilidad relaciona cada necesidad con su diseño, su implementación y su evidencia. La arquitectura demostró que podía crecer por incrementos sin abandonar la integración de extremo a extremo. El despliegue verificó además que los procedimientos podían reproducirse fuera de la máquina de desarrollo. El resultado cumple los criterios técnicos definidos al inicio, aunque no permite afirmar impacto empresarial porque no se evaluó con usuarios reales.</a:t>
            </a:r>
          </a:p>
          <a:p xmlns:a="http://schemas.openxmlformats.org/drawingml/2006/main">
            <a:r>
              <a:t/>
            </a:r>
          </a:p>
          <a:p xmlns:a="http://schemas.openxmlformats.org/drawingml/2006/main">
            <a:r>
              <a:t>FUENTES</a:t>
            </a:r>
          </a:p>
          <a:p xmlns:a="http://schemas.openxmlformats.org/drawingml/2006/main">
            <a:r>
              <a:t>Memoria, capítulos 10, 12 y 13, pp. 61–62 y 66–69.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0:55. Tramo 15:10–16:05.</a:t>
            </a:r>
          </a:p>
          <a:p xmlns:a="http://schemas.openxmlformats.org/drawingml/2006/main">
            <a:r>
              <a:t/>
            </a:r>
          </a:p>
          <a:p xmlns:a="http://schemas.openxmlformats.org/drawingml/2006/main">
            <a:r>
              <a:t>La evaluación tiene límites claros. El caso de negocio es simulado, no hubo pruebas con usuarios ni pruebas de carga, y el despliegue carece de alojamiento estable, copias y métricas. Además, las imágenes publicadas se construyen de nuevo después de las pruebas de sistema, aunque parten del mismo commit. La continuación prioritaria sería validar el núcleo con usuarios y estabilizar la operación. Solo después tendría sentido ampliar el producto con rutas, GPS, facturación o acceso externo.</a:t>
            </a:r>
          </a:p>
          <a:p xmlns:a="http://schemas.openxmlformats.org/drawingml/2006/main">
            <a:r>
              <a:t/>
            </a:r>
          </a:p>
          <a:p xmlns:a="http://schemas.openxmlformats.org/drawingml/2006/main">
            <a:r>
              <a:t>FUENTES</a:t>
            </a:r>
          </a:p>
          <a:p xmlns:a="http://schemas.openxmlformats.org/drawingml/2006/main">
            <a:r>
              <a:t>Memoria, apartados 9.5, 12.2 y capítulo 13, pp. 60 y 66–69.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0:45. Tramo 16:05–16:50.</a:t>
            </a:r>
          </a:p>
          <a:p xmlns:a="http://schemas.openxmlformats.org/drawingml/2006/main">
            <a:r>
              <a:t/>
            </a:r>
          </a:p>
          <a:p xmlns:a="http://schemas.openxmlformats.org/drawingml/2006/main">
            <a:r>
              <a:t>TransitOps entrega un núcleo operativo completo y demostrable. El proyecto vincula las necesidades iniciales con decisiones de diseño, reglas de negocio, pruebas y un despliegue reproducible. La principal aportación del trabajo está en esa continuidad: cada incremento produjo una capacidad utilizable y dejó evidencia suficiente para evaluar el resultado. Muchas gracias. Quedo a vuestra disposición para las preguntas.</a:t>
            </a:r>
          </a:p>
          <a:p xmlns:a="http://schemas.openxmlformats.org/drawingml/2006/main">
            <a:r>
              <a:t/>
            </a:r>
          </a:p>
          <a:p xmlns:a="http://schemas.openxmlformats.org/drawingml/2006/main">
            <a:r>
              <a:t>FUENTES</a:t>
            </a:r>
          </a:p>
          <a:p xmlns:a="http://schemas.openxmlformats.org/drawingml/2006/main">
            <a:r>
              <a:t>Memoria, capítulo 13, pp. 68–69.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para preguntas. Fuera del tiempo principal.</a:t>
            </a:r>
          </a:p>
          <a:p xmlns:a="http://schemas.openxmlformats.org/drawingml/2006/main">
            <a:r>
              <a:t/>
            </a:r>
          </a:p>
          <a:p xmlns:a="http://schemas.openxmlformats.org/drawingml/2006/main">
            <a:r>
              <a:t>Diapositiva de apoyo para preguntas sobre la relación entre requisitos, incrementos y evidencias.</a:t>
            </a:r>
          </a:p>
          <a:p xmlns:a="http://schemas.openxmlformats.org/drawingml/2006/main">
            <a:r>
              <a:t/>
            </a:r>
          </a:p>
          <a:p xmlns:a="http://schemas.openxmlformats.org/drawingml/2006/main">
            <a:r>
              <a:t>FUENTES</a:t>
            </a:r>
          </a:p>
          <a:p xmlns:a="http://schemas.openxmlformats.org/drawingml/2006/main">
            <a:r>
              <a:t>Memoria, capítulo 10, pp. 61–62. docs/Requirements.md y 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para preguntas. Fuera del tiempo principal.</a:t>
            </a:r>
          </a:p>
          <a:p xmlns:a="http://schemas.openxmlformats.org/drawingml/2006/main">
            <a:r>
              <a:t/>
            </a:r>
          </a:p>
          <a:p xmlns:a="http://schemas.openxmlformats.org/drawingml/2006/main">
            <a:r>
              <a:t>Diapositiva de apoyo para explicar las garantías de doble reserva, último administrador y revocación de sesiones.</a:t>
            </a:r>
          </a:p>
          <a:p xmlns:a="http://schemas.openxmlformats.org/drawingml/2006/main">
            <a:r>
              <a:t/>
            </a:r>
          </a:p>
          <a:p xmlns:a="http://schemas.openxmlformats.org/drawingml/2006/main">
            <a:r>
              <a:t>FUENTES</a:t>
            </a:r>
          </a:p>
          <a:p xmlns:a="http://schemas.openxmlformats.org/drawingml/2006/main">
            <a:r>
              <a:t>Memoria, apartados 6.1–6.3, 6.6, 6.8 y 8.3, pp. 25–33 y 52–54.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para preguntas. Fuera del tiempo principal.</a:t>
            </a:r>
          </a:p>
          <a:p xmlns:a="http://schemas.openxmlformats.org/drawingml/2006/main">
            <a:r>
              <a:t/>
            </a:r>
          </a:p>
          <a:p xmlns:a="http://schemas.openxmlformats.org/drawingml/2006/main">
            <a:r>
              <a:t>Diapositiva de apoyo. Las 300 horas y los 6.137,50 euros son estimaciones académicas, no registros reales de dedicación o gasto.</a:t>
            </a:r>
          </a:p>
          <a:p xmlns:a="http://schemas.openxmlformats.org/drawingml/2006/main">
            <a:r>
              <a:t/>
            </a:r>
          </a:p>
          <a:p xmlns:a="http://schemas.openxmlformats.org/drawingml/2006/main">
            <a:r>
              <a:t>FUENTES</a:t>
            </a:r>
          </a:p>
          <a:p xmlns:a="http://schemas.openxmlformats.org/drawingml/2006/main">
            <a:r>
              <a:t>Memoria, apartados 3.3–3.4 y tablas 3.2–3.3, pp. 11–13.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para preguntas. Fuera del tiempo principal.</a:t>
            </a:r>
          </a:p>
          <a:p xmlns:a="http://schemas.openxmlformats.org/drawingml/2006/main">
            <a:r>
              <a:t/>
            </a:r>
          </a:p>
          <a:p xmlns:a="http://schemas.openxmlformats.org/drawingml/2006/main">
            <a:r>
              <a:t>Diapositiva de apoyo con los recuentos acumulados de pruebas al cierre de cada sprint. No representan porcentaje de cobertura.</a:t>
            </a:r>
          </a:p>
          <a:p xmlns:a="http://schemas.openxmlformats.org/drawingml/2006/main">
            <a:r>
              <a:t/>
            </a:r>
          </a:p>
          <a:p xmlns:a="http://schemas.openxmlformats.org/drawingml/2006/main">
            <a:r>
              <a:t>FUENTES</a:t>
            </a:r>
          </a:p>
          <a:p xmlns:a="http://schemas.openxmlformats.org/drawingml/2006/main">
            <a:r>
              <a:t>Memoria, apartado 8.2, pp. 49–52.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d861ac44f442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305757ca224d50" /><Relationship Type="http://schemas.openxmlformats.org/officeDocument/2006/relationships/slideLayout" Target="/ppt/slideLayouts/slideLayout1.xml" Id="R43e71046027e41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e71046027e41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dc385d1fe5432e" /><Relationship Type="http://schemas.openxmlformats.org/officeDocument/2006/relationships/image" Target="/ppt/media/image.png" Id="R128e7fdac9a04bb4" /><Relationship Type="http://schemas.openxmlformats.org/officeDocument/2006/relationships/notesSlide" Target="/ppt/notesSlides/notesSlide1.xml" Id="R8618d2ea76fb49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d51c9b969d459d" /><Relationship Type="http://schemas.openxmlformats.org/officeDocument/2006/relationships/notesSlide" Target="/ppt/notesSlides/notesSlide2.xml" Id="Rf5d28aeb55a741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29ecd4e4b743fb" /><Relationship Type="http://schemas.openxmlformats.org/officeDocument/2006/relationships/notesSlide" Target="/ppt/notesSlides/notesSlide3.xml" Id="Rfb82d414693f42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425483d5234377" /><Relationship Type="http://schemas.openxmlformats.org/officeDocument/2006/relationships/notesSlide" Target="/ppt/notesSlides/notesSlide4.xml" Id="R389d6d33a01d4c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6c9e3d38e24612" /><Relationship Type="http://schemas.openxmlformats.org/officeDocument/2006/relationships/notesSlide" Target="/ppt/notesSlides/notesSlide5.xml" Id="R6c908f5cc0b444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4d80bfacf74532" /><Relationship Type="http://schemas.openxmlformats.org/officeDocument/2006/relationships/notesSlide" Target="/ppt/notesSlides/notesSlide6.xml" Id="R599efd77acf24f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978eea6dcb4b5f" /><Relationship Type="http://schemas.openxmlformats.org/officeDocument/2006/relationships/notesSlide" Target="/ppt/notesSlides/notesSlide7.xml" Id="Rb9d2ae47863244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1a52559b8349f4" /><Relationship Type="http://schemas.openxmlformats.org/officeDocument/2006/relationships/image" Target="/ppt/media/image2.png" Id="R1d5fd7ba0b3f448c" /><Relationship Type="http://schemas.openxmlformats.org/officeDocument/2006/relationships/notesSlide" Target="/ppt/notesSlides/notesSlide8.xml" Id="Radce7813fc6646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b76bbd952a4ae9" /><Relationship Type="http://schemas.openxmlformats.org/officeDocument/2006/relationships/image" Target="/ppt/media/image3.png" Id="Ra57e564962924963" /><Relationship Type="http://schemas.openxmlformats.org/officeDocument/2006/relationships/notesSlide" Target="/ppt/notesSlides/notesSlide9.xml" Id="Re4c33b7ac8a94d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edfdcfb63b46fa" /><Relationship Type="http://schemas.openxmlformats.org/officeDocument/2006/relationships/image" Target="/ppt/media/image4.png" Id="R2c571ac36a114d2b" /><Relationship Type="http://schemas.openxmlformats.org/officeDocument/2006/relationships/notesSlide" Target="/ppt/notesSlides/notesSlide10.xml" Id="Rdce26fceb89a4b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efcbaf16a140be" /><Relationship Type="http://schemas.openxmlformats.org/officeDocument/2006/relationships/image" Target="/ppt/media/image.jpeg" Id="Rd014c4ca455c4538" /><Relationship Type="http://schemas.openxmlformats.org/officeDocument/2006/relationships/notesSlide" Target="/ppt/notesSlides/notesSlide11.xml" Id="R15c30874202f45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f38a5cec514331" /><Relationship Type="http://schemas.openxmlformats.org/officeDocument/2006/relationships/image" Target="/ppt/media/image2.jpeg" Id="Rc2e62ff644ce4e0d" /><Relationship Type="http://schemas.openxmlformats.org/officeDocument/2006/relationships/notesSlide" Target="/ppt/notesSlides/notesSlide12.xml" Id="R963ea21d1ac54d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d3853671f4743ce" /><Relationship Type="http://schemas.openxmlformats.org/officeDocument/2006/relationships/image" Target="/ppt/media/image3.jpeg" Id="R51e38e36b2a0430b" /><Relationship Type="http://schemas.openxmlformats.org/officeDocument/2006/relationships/notesSlide" Target="/ppt/notesSlides/notesSlide13.xml" Id="R5fd1522a3cb54d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4f5461f6bce49fb" /><Relationship Type="http://schemas.openxmlformats.org/officeDocument/2006/relationships/notesSlide" Target="/ppt/notesSlides/notesSlide14.xml" Id="R2b100ce97bd740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5824431d8914eec" /><Relationship Type="http://schemas.openxmlformats.org/officeDocument/2006/relationships/image" Target="/ppt/media/image5.png" Id="R7b289996308a49a9" /><Relationship Type="http://schemas.openxmlformats.org/officeDocument/2006/relationships/notesSlide" Target="/ppt/notesSlides/notesSlide15.xml" Id="R3a4237f3c22c4e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ee1859a2ef24cda" /><Relationship Type="http://schemas.openxmlformats.org/officeDocument/2006/relationships/notesSlide" Target="/ppt/notesSlides/notesSlide16.xml" Id="Rc0b8f7229c8c4a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35182e1a8184c2c" /><Relationship Type="http://schemas.openxmlformats.org/officeDocument/2006/relationships/notesSlide" Target="/ppt/notesSlides/notesSlide17.xml" Id="Rd96aed38394a430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15f8cef5ffb447c" /><Relationship Type="http://schemas.openxmlformats.org/officeDocument/2006/relationships/notesSlide" Target="/ppt/notesSlides/notesSlide18.xml" Id="Ra928fe7e7d5d46e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2e306fff63d494b" /><Relationship Type="http://schemas.openxmlformats.org/officeDocument/2006/relationships/notesSlide" Target="/ppt/notesSlides/notesSlide19.xml" Id="Rfe1440cfeb51418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65e62de314c4a2c" /><Relationship Type="http://schemas.openxmlformats.org/officeDocument/2006/relationships/notesSlide" Target="/ppt/notesSlides/notesSlide20.xml" Id="R833158a599fb48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9427d77cc02474d" /><Relationship Type="http://schemas.openxmlformats.org/officeDocument/2006/relationships/notesSlide" Target="/ppt/notesSlides/notesSlide21.xml" Id="R021c644096d542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297394f30934174" /><Relationship Type="http://schemas.openxmlformats.org/officeDocument/2006/relationships/notesSlide" Target="/ppt/notesSlides/notesSlide22.xml" Id="Rf79b15cb2396422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28e7fdac9a04bb4"/>
          <a:stretch xmlns:a="http://schemas.openxmlformats.org/drawingml/2006/main"/>
        </p:blipFill>
        <p:spPr>
          <a:xfrm xmlns:a="http://schemas.openxmlformats.org/drawingml/2006/main">
            <a:off x="609600" y="412006"/>
            <a:ext cx="4095750" cy="528538"/>
          </a:xfrm>
          <a:prstGeom xmlns:a="http://schemas.openxmlformats.org/drawingml/2006/main" prst="rect">
            <a:avLst/>
          </a:prstGeom>
        </p:spPr>
      </p:pic>
      <p:sp>
        <p:nvSpPr>
          <p:cNvPr id="2" name="TransitOps">
            <a:extLst xmlns:a="http://schemas.openxmlformats.org/drawingml/2006/main">
              <a:ext uri="{FF2B5EF4-FFF2-40B4-BE49-F238E27FC236}">
                <a16:creationId xmlns:a16="http://schemas.microsoft.com/office/drawing/2014/main" id="{37439AD1-5B16-4438-87C8-0F4BC6A01EBE}"/>
              </a:ext>
            </a:extLst>
          </p:cNvPr>
          <p:cNvSpPr>
            <a:spLocks xmlns:a="http://schemas.openxmlformats.org/drawingml/2006/main" noGrp="1"/>
          </p:cNvSpPr>
          <p:nvPr/>
        </p:nvSpPr>
        <p:spPr>
          <a:xfrm xmlns:a="http://schemas.openxmlformats.org/drawingml/2006/main">
            <a:off x="609600" y="1619250"/>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14263D"/>
                </a:solidFill>
                <a:latin typeface="Arial"/>
                <a:ea typeface="Arial"/>
                <a:cs typeface="Arial"/>
              </a:defRPr>
            </a:pPr>
            <a:r>
              <a:rPr sz="6600" b="1">
                <a:solidFill>
                  <a:srgbClr val="14263D"/>
                </a:solidFill>
                <a:latin typeface="Arial"/>
                <a:ea typeface="Arial"/>
                <a:cs typeface="Arial"/>
              </a:rPr>
              <a:t>TransitOps</a:t>
            </a:r>
          </a:p>
        </p:txBody>
      </p:sp>
      <p:sp>
        <p:nvSpPr>
          <p:cNvPr id="3" name="Diseño y desarrollo de una aplicación&#10;de gestión de transpor">
            <a:extLst xmlns:a="http://schemas.openxmlformats.org/drawingml/2006/main">
              <a:ext uri="{FF2B5EF4-FFF2-40B4-BE49-F238E27FC236}">
                <a16:creationId xmlns:a16="http://schemas.microsoft.com/office/drawing/2014/main" id="{099F3ECE-1B43-4AAA-8DE0-4EC9D57978B0}"/>
              </a:ext>
            </a:extLst>
          </p:cNvPr>
          <p:cNvSpPr>
            <a:spLocks xmlns:a="http://schemas.openxmlformats.org/drawingml/2006/main" noGrp="1"/>
          </p:cNvSpPr>
          <p:nvPr/>
        </p:nvSpPr>
        <p:spPr>
          <a:xfrm xmlns:a="http://schemas.openxmlformats.org/drawingml/2006/main">
            <a:off x="638175" y="287655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14263D"/>
                </a:solidFill>
                <a:latin typeface="Arial"/>
                <a:ea typeface="Arial"/>
                <a:cs typeface="Arial"/>
              </a:defRPr>
            </a:pPr>
            <a:r>
              <a:rPr sz="3000" b="0">
                <a:solidFill>
                  <a:srgbClr val="14263D"/>
                </a:solidFill>
                <a:latin typeface="Arial"/>
                <a:ea typeface="Arial"/>
                <a:cs typeface="Arial"/>
              </a:rPr>
              <a:t>Diseño y desarrollo de una aplicación</a:t>
            </a:r>
          </a:p>
          <a:p xmlns:a="http://schemas.openxmlformats.org/drawingml/2006/main">
            <a:pPr algn="l">
              <a:defRPr sz="3000" b="0">
                <a:solidFill>
                  <a:srgbClr val="14263D"/>
                </a:solidFill>
                <a:latin typeface="Arial"/>
                <a:ea typeface="Arial"/>
                <a:cs typeface="Arial"/>
              </a:defRPr>
            </a:pPr>
            <a:r>
              <a:rPr sz="3000" b="0">
                <a:solidFill>
                  <a:srgbClr val="14263D"/>
                </a:solidFill>
                <a:latin typeface="Arial"/>
                <a:ea typeface="Arial"/>
                <a:cs typeface="Arial"/>
              </a:rPr>
              <a:t>de gestión de transportes</a:t>
            </a:r>
          </a:p>
        </p:txBody>
      </p:sp>
      <p:sp>
        <p:nvSpPr>
          <p:cNvPr id="4" name="Ciclo de vida completo del software">
            <a:extLst xmlns:a="http://schemas.openxmlformats.org/drawingml/2006/main">
              <a:ext uri="{FF2B5EF4-FFF2-40B4-BE49-F238E27FC236}">
                <a16:creationId xmlns:a16="http://schemas.microsoft.com/office/drawing/2014/main" id="{DC53E0A2-9D97-475A-9439-76B12C54645E}"/>
              </a:ext>
            </a:extLst>
          </p:cNvPr>
          <p:cNvSpPr>
            <a:spLocks xmlns:a="http://schemas.openxmlformats.org/drawingml/2006/main" noGrp="1"/>
          </p:cNvSpPr>
          <p:nvPr/>
        </p:nvSpPr>
        <p:spPr>
          <a:xfrm xmlns:a="http://schemas.openxmlformats.org/drawingml/2006/main">
            <a:off x="638175" y="40862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C0007F"/>
                </a:solidFill>
                <a:latin typeface="Arial"/>
                <a:ea typeface="Arial"/>
                <a:cs typeface="Arial"/>
              </a:defRPr>
            </a:pPr>
            <a:r>
              <a:rPr sz="2550" b="1">
                <a:solidFill>
                  <a:srgbClr val="C0007F"/>
                </a:solidFill>
                <a:latin typeface="Arial"/>
                <a:ea typeface="Arial"/>
                <a:cs typeface="Arial"/>
              </a:rPr>
              <a:t>Ciclo de vida completo del software</a:t>
            </a:r>
          </a:p>
        </p:txBody>
      </p:sp>
      <p:sp>
        <p:nvSpPr>
          <p:cNvPr id="5" name="Pablo Manzanares López">
            <a:extLst xmlns:a="http://schemas.openxmlformats.org/drawingml/2006/main">
              <a:ext uri="{FF2B5EF4-FFF2-40B4-BE49-F238E27FC236}">
                <a16:creationId xmlns:a16="http://schemas.microsoft.com/office/drawing/2014/main" id="{E2E69F2E-2147-4A55-859E-9B1433322DF5}"/>
              </a:ext>
            </a:extLst>
          </p:cNvPr>
          <p:cNvSpPr>
            <a:spLocks xmlns:a="http://schemas.openxmlformats.org/drawingml/2006/main" noGrp="1"/>
          </p:cNvSpPr>
          <p:nvPr/>
        </p:nvSpPr>
        <p:spPr>
          <a:xfrm xmlns:a="http://schemas.openxmlformats.org/drawingml/2006/main">
            <a:off x="638175" y="523875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4263D"/>
                </a:solidFill>
                <a:latin typeface="Arial"/>
                <a:ea typeface="Arial"/>
                <a:cs typeface="Arial"/>
              </a:defRPr>
            </a:pPr>
            <a:r>
              <a:rPr sz="1950" b="1">
                <a:solidFill>
                  <a:srgbClr val="14263D"/>
                </a:solidFill>
                <a:latin typeface="Arial"/>
                <a:ea typeface="Arial"/>
                <a:cs typeface="Arial"/>
              </a:rPr>
              <a:t>Pablo Manzanares López</a:t>
            </a:r>
          </a:p>
        </p:txBody>
      </p:sp>
      <p:sp>
        <p:nvSpPr>
          <p:cNvPr id="6" name="Dirección: Paula María Castro Castro">
            <a:extLst xmlns:a="http://schemas.openxmlformats.org/drawingml/2006/main">
              <a:ext uri="{FF2B5EF4-FFF2-40B4-BE49-F238E27FC236}">
                <a16:creationId xmlns:a16="http://schemas.microsoft.com/office/drawing/2014/main" id="{DD0E8769-AA6D-4B43-B7C8-08B070B47779}"/>
              </a:ext>
            </a:extLst>
          </p:cNvPr>
          <p:cNvSpPr>
            <a:spLocks xmlns:a="http://schemas.openxmlformats.org/drawingml/2006/main" noGrp="1"/>
          </p:cNvSpPr>
          <p:nvPr/>
        </p:nvSpPr>
        <p:spPr>
          <a:xfrm xmlns:a="http://schemas.openxmlformats.org/drawingml/2006/main">
            <a:off x="638175" y="564832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36174"/>
                </a:solidFill>
                <a:latin typeface="Arial"/>
                <a:ea typeface="Arial"/>
                <a:cs typeface="Arial"/>
              </a:defRPr>
            </a:pPr>
            <a:r>
              <a:rPr sz="1650" b="0">
                <a:solidFill>
                  <a:srgbClr val="536174"/>
                </a:solidFill>
                <a:latin typeface="Arial"/>
                <a:ea typeface="Arial"/>
                <a:cs typeface="Arial"/>
              </a:rPr>
              <a:t>Dirección: Paula María Castro Castro</a:t>
            </a:r>
          </a:p>
        </p:txBody>
      </p:sp>
      <p:sp>
        <p:nvSpPr>
          <p:cNvPr id="7" name="Grado en Ingeniería Informática&#10;Mención en Ingeniería del So">
            <a:extLst xmlns:a="http://schemas.openxmlformats.org/drawingml/2006/main">
              <a:ext uri="{FF2B5EF4-FFF2-40B4-BE49-F238E27FC236}">
                <a16:creationId xmlns:a16="http://schemas.microsoft.com/office/drawing/2014/main" id="{FB62C7ED-7BDC-4372-A457-5F77BBE9CB6F}"/>
              </a:ext>
            </a:extLst>
          </p:cNvPr>
          <p:cNvSpPr>
            <a:spLocks xmlns:a="http://schemas.openxmlformats.org/drawingml/2006/main" noGrp="1"/>
          </p:cNvSpPr>
          <p:nvPr/>
        </p:nvSpPr>
        <p:spPr>
          <a:xfrm xmlns:a="http://schemas.openxmlformats.org/drawingml/2006/main">
            <a:off x="7858125" y="5267325"/>
            <a:ext cx="3733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575" b="0">
                <a:solidFill>
                  <a:srgbClr val="536174"/>
                </a:solidFill>
                <a:latin typeface="Arial"/>
                <a:ea typeface="Arial"/>
                <a:cs typeface="Arial"/>
              </a:defRPr>
            </a:pPr>
            <a:r>
              <a:rPr sz="1575" b="0">
                <a:solidFill>
                  <a:srgbClr val="536174"/>
                </a:solidFill>
                <a:latin typeface="Arial"/>
                <a:ea typeface="Arial"/>
                <a:cs typeface="Arial"/>
              </a:rPr>
              <a:t>Grado en Ingeniería Informática</a:t>
            </a:r>
          </a:p>
          <a:p xmlns:a="http://schemas.openxmlformats.org/drawingml/2006/main">
            <a:pPr algn="r">
              <a:defRPr sz="1575" b="0">
                <a:solidFill>
                  <a:srgbClr val="536174"/>
                </a:solidFill>
                <a:latin typeface="Arial"/>
                <a:ea typeface="Arial"/>
                <a:cs typeface="Arial"/>
              </a:defRPr>
            </a:pPr>
            <a:r>
              <a:rPr sz="1575" b="0">
                <a:solidFill>
                  <a:srgbClr val="536174"/>
                </a:solidFill>
                <a:latin typeface="Arial"/>
                <a:ea typeface="Arial"/>
                <a:cs typeface="Arial"/>
              </a:rPr>
              <a:t>Mención en Ingeniería del Software</a:t>
            </a:r>
          </a:p>
        </p:txBody>
      </p:sp>
      <p:sp>
        <p:nvSpPr>
          <p:cNvPr id="8" name="Facultad de Informática · Septiembre de 2026">
            <a:extLst xmlns:a="http://schemas.openxmlformats.org/drawingml/2006/main">
              <a:ext uri="{FF2B5EF4-FFF2-40B4-BE49-F238E27FC236}">
                <a16:creationId xmlns:a16="http://schemas.microsoft.com/office/drawing/2014/main" id="{DB747C5A-7105-4DF2-A73A-18854A83B1C7}"/>
              </a:ext>
            </a:extLst>
          </p:cNvPr>
          <p:cNvSpPr>
            <a:spLocks xmlns:a="http://schemas.openxmlformats.org/drawingml/2006/main" noGrp="1"/>
          </p:cNvSpPr>
          <p:nvPr/>
        </p:nvSpPr>
        <p:spPr>
          <a:xfrm xmlns:a="http://schemas.openxmlformats.org/drawingml/2006/main">
            <a:off x="638175"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36174"/>
                </a:solidFill>
                <a:latin typeface="Arial"/>
                <a:ea typeface="Arial"/>
                <a:cs typeface="Arial"/>
              </a:defRPr>
            </a:pPr>
            <a:r>
              <a:rPr sz="1275" b="0">
                <a:solidFill>
                  <a:srgbClr val="536174"/>
                </a:solidFill>
                <a:latin typeface="Arial"/>
                <a:ea typeface="Arial"/>
                <a:cs typeface="Arial"/>
              </a:rPr>
              <a:t>Facultad de Informática · Septiembre de 2026</a:t>
            </a:r>
          </a:p>
        </p:txBody>
      </p:sp>
    </p:spTree>
    <p:extLst>
      <p:ext uri="{BB962C8B-B14F-4D97-AF65-F5344CB8AC3E}">
        <p14:creationId xmlns:p14="http://schemas.microsoft.com/office/powerpoint/2010/main" val="10130501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ORRIDO">
            <a:extLst xmlns:a="http://schemas.openxmlformats.org/drawingml/2006/main">
              <a:ext uri="{FF2B5EF4-FFF2-40B4-BE49-F238E27FC236}">
                <a16:creationId xmlns:a16="http://schemas.microsoft.com/office/drawing/2014/main" id="{1F60E326-332C-4B24-A5D2-79B0BEA5C212}"/>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RECORRIDO</a:t>
            </a:r>
          </a:p>
        </p:txBody>
      </p:sp>
      <p:sp>
        <p:nvSpPr>
          <p:cNvPr id="2" name="Estructura de la presentación">
            <a:extLst xmlns:a="http://schemas.openxmlformats.org/drawingml/2006/main">
              <a:ext uri="{FF2B5EF4-FFF2-40B4-BE49-F238E27FC236}">
                <a16:creationId xmlns:a16="http://schemas.microsoft.com/office/drawing/2014/main" id="{B10151D1-6858-4FF3-80B3-53FDA77F63AE}"/>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Estructura de la presentación</a:t>
            </a:r>
          </a:p>
        </p:txBody>
      </p:sp>
      <p:sp>
        <p:nvSpPr>
          <p:cNvPr id="3" name="">
            <a:extLst xmlns:a="http://schemas.openxmlformats.org/drawingml/2006/main">
              <a:ext uri="{FF2B5EF4-FFF2-40B4-BE49-F238E27FC236}">
                <a16:creationId xmlns:a16="http://schemas.microsoft.com/office/drawing/2014/main" id="{340A13FF-B53A-4318-B00E-9DDBB5849491}"/>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1C8C95C2-6CA6-4051-A202-B86BE0D6A92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02</a:t>
            </a:r>
          </a:p>
        </p:txBody>
      </p:sp>
      <p:sp>
        <p:nvSpPr>
          <p:cNvPr id="5" name="01">
            <a:extLst xmlns:a="http://schemas.openxmlformats.org/drawingml/2006/main">
              <a:ext uri="{FF2B5EF4-FFF2-40B4-BE49-F238E27FC236}">
                <a16:creationId xmlns:a16="http://schemas.microsoft.com/office/drawing/2014/main" id="{B3D9084D-EBE1-4715-AC30-23A27504CBF9}"/>
              </a:ext>
            </a:extLst>
          </p:cNvPr>
          <p:cNvSpPr>
            <a:spLocks xmlns:a="http://schemas.openxmlformats.org/drawingml/2006/main" noGrp="1"/>
          </p:cNvSpPr>
          <p:nvPr/>
        </p:nvSpPr>
        <p:spPr>
          <a:xfrm xmlns:a="http://schemas.openxmlformats.org/drawingml/2006/main">
            <a:off x="609600" y="17430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C0007F"/>
                </a:solidFill>
                <a:latin typeface="Arial"/>
                <a:ea typeface="Arial"/>
                <a:cs typeface="Arial"/>
              </a:defRPr>
            </a:pPr>
            <a:r>
              <a:rPr sz="2100" b="1">
                <a:solidFill>
                  <a:srgbClr val="C0007F"/>
                </a:solidFill>
                <a:latin typeface="Arial"/>
                <a:ea typeface="Arial"/>
                <a:cs typeface="Arial"/>
              </a:rPr>
              <a:t>01</a:t>
            </a:r>
          </a:p>
        </p:txBody>
      </p:sp>
      <p:sp>
        <p:nvSpPr>
          <p:cNvPr id="6" name="Problema y objetivos">
            <a:extLst xmlns:a="http://schemas.openxmlformats.org/drawingml/2006/main">
              <a:ext uri="{FF2B5EF4-FFF2-40B4-BE49-F238E27FC236}">
                <a16:creationId xmlns:a16="http://schemas.microsoft.com/office/drawing/2014/main" id="{0E68AEB9-B3B9-44E3-B24B-5ED072646FF5}"/>
              </a:ext>
            </a:extLst>
          </p:cNvPr>
          <p:cNvSpPr>
            <a:spLocks xmlns:a="http://schemas.openxmlformats.org/drawingml/2006/main" noGrp="1"/>
          </p:cNvSpPr>
          <p:nvPr/>
        </p:nvSpPr>
        <p:spPr>
          <a:xfrm xmlns:a="http://schemas.openxmlformats.org/drawingml/2006/main">
            <a:off x="1447800" y="17430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63D"/>
                </a:solidFill>
                <a:latin typeface="Arial"/>
                <a:ea typeface="Arial"/>
                <a:cs typeface="Arial"/>
              </a:defRPr>
            </a:pPr>
            <a:r>
              <a:rPr sz="2175" b="1">
                <a:solidFill>
                  <a:srgbClr val="14263D"/>
                </a:solidFill>
                <a:latin typeface="Arial"/>
                <a:ea typeface="Arial"/>
                <a:cs typeface="Arial"/>
              </a:rPr>
              <a:t>Problema y objetivos</a:t>
            </a:r>
          </a:p>
        </p:txBody>
      </p:sp>
      <p:sp>
        <p:nvSpPr>
          <p:cNvPr id="7" name="">
            <a:extLst xmlns:a="http://schemas.openxmlformats.org/drawingml/2006/main">
              <a:ext uri="{FF2B5EF4-FFF2-40B4-BE49-F238E27FC236}">
                <a16:creationId xmlns:a16="http://schemas.microsoft.com/office/drawing/2014/main" id="{CDA06383-4285-4325-9FC5-2AE7C476666C}"/>
              </a:ext>
            </a:extLst>
          </p:cNvPr>
          <p:cNvSpPr>
            <a:spLocks xmlns:a="http://schemas.openxmlformats.org/drawingml/2006/main" noGrp="1"/>
          </p:cNvSpPr>
          <p:nvPr/>
        </p:nvSpPr>
        <p:spPr>
          <a:xfrm xmlns:a="http://schemas.openxmlformats.org/drawingml/2006/main">
            <a:off x="609600" y="2343150"/>
            <a:ext cx="5095875" cy="9525"/>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8" name="02">
            <a:extLst xmlns:a="http://schemas.openxmlformats.org/drawingml/2006/main">
              <a:ext uri="{FF2B5EF4-FFF2-40B4-BE49-F238E27FC236}">
                <a16:creationId xmlns:a16="http://schemas.microsoft.com/office/drawing/2014/main" id="{432002D1-49F7-4F49-B40A-04531F57585B}"/>
              </a:ext>
            </a:extLst>
          </p:cNvPr>
          <p:cNvSpPr>
            <a:spLocks xmlns:a="http://schemas.openxmlformats.org/drawingml/2006/main" noGrp="1"/>
          </p:cNvSpPr>
          <p:nvPr/>
        </p:nvSpPr>
        <p:spPr>
          <a:xfrm xmlns:a="http://schemas.openxmlformats.org/drawingml/2006/main">
            <a:off x="609600" y="28098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C0007F"/>
                </a:solidFill>
                <a:latin typeface="Arial"/>
                <a:ea typeface="Arial"/>
                <a:cs typeface="Arial"/>
              </a:defRPr>
            </a:pPr>
            <a:r>
              <a:rPr sz="2100" b="1">
                <a:solidFill>
                  <a:srgbClr val="C0007F"/>
                </a:solidFill>
                <a:latin typeface="Arial"/>
                <a:ea typeface="Arial"/>
                <a:cs typeface="Arial"/>
              </a:rPr>
              <a:t>02</a:t>
            </a:r>
          </a:p>
        </p:txBody>
      </p:sp>
      <p:sp>
        <p:nvSpPr>
          <p:cNvPr id="9" name="Requisitos y alcance">
            <a:extLst xmlns:a="http://schemas.openxmlformats.org/drawingml/2006/main">
              <a:ext uri="{FF2B5EF4-FFF2-40B4-BE49-F238E27FC236}">
                <a16:creationId xmlns:a16="http://schemas.microsoft.com/office/drawing/2014/main" id="{E46264C4-F456-4142-87A7-CA5E6DA528FC}"/>
              </a:ext>
            </a:extLst>
          </p:cNvPr>
          <p:cNvSpPr>
            <a:spLocks xmlns:a="http://schemas.openxmlformats.org/drawingml/2006/main" noGrp="1"/>
          </p:cNvSpPr>
          <p:nvPr/>
        </p:nvSpPr>
        <p:spPr>
          <a:xfrm xmlns:a="http://schemas.openxmlformats.org/drawingml/2006/main">
            <a:off x="1447800" y="2809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63D"/>
                </a:solidFill>
                <a:latin typeface="Arial"/>
                <a:ea typeface="Arial"/>
                <a:cs typeface="Arial"/>
              </a:defRPr>
            </a:pPr>
            <a:r>
              <a:rPr sz="2175" b="1">
                <a:solidFill>
                  <a:srgbClr val="14263D"/>
                </a:solidFill>
                <a:latin typeface="Arial"/>
                <a:ea typeface="Arial"/>
                <a:cs typeface="Arial"/>
              </a:rPr>
              <a:t>Requisitos y alcance</a:t>
            </a:r>
          </a:p>
        </p:txBody>
      </p:sp>
      <p:sp>
        <p:nvSpPr>
          <p:cNvPr id="10" name="">
            <a:extLst xmlns:a="http://schemas.openxmlformats.org/drawingml/2006/main">
              <a:ext uri="{FF2B5EF4-FFF2-40B4-BE49-F238E27FC236}">
                <a16:creationId xmlns:a16="http://schemas.microsoft.com/office/drawing/2014/main" id="{3165121E-CF3D-4E8E-80AB-07CFB014E54D}"/>
              </a:ext>
            </a:extLst>
          </p:cNvPr>
          <p:cNvSpPr>
            <a:spLocks xmlns:a="http://schemas.openxmlformats.org/drawingml/2006/main" noGrp="1"/>
          </p:cNvSpPr>
          <p:nvPr/>
        </p:nvSpPr>
        <p:spPr>
          <a:xfrm xmlns:a="http://schemas.openxmlformats.org/drawingml/2006/main">
            <a:off x="609600" y="3409950"/>
            <a:ext cx="5095875" cy="9525"/>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11" name="03">
            <a:extLst xmlns:a="http://schemas.openxmlformats.org/drawingml/2006/main">
              <a:ext uri="{FF2B5EF4-FFF2-40B4-BE49-F238E27FC236}">
                <a16:creationId xmlns:a16="http://schemas.microsoft.com/office/drawing/2014/main" id="{ADE9F0FC-E8CA-40AE-A3D2-69BF167C0E0C}"/>
              </a:ext>
            </a:extLst>
          </p:cNvPr>
          <p:cNvSpPr>
            <a:spLocks xmlns:a="http://schemas.openxmlformats.org/drawingml/2006/main" noGrp="1"/>
          </p:cNvSpPr>
          <p:nvPr/>
        </p:nvSpPr>
        <p:spPr>
          <a:xfrm xmlns:a="http://schemas.openxmlformats.org/drawingml/2006/main">
            <a:off x="609600" y="38766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C0007F"/>
                </a:solidFill>
                <a:latin typeface="Arial"/>
                <a:ea typeface="Arial"/>
                <a:cs typeface="Arial"/>
              </a:defRPr>
            </a:pPr>
            <a:r>
              <a:rPr sz="2100" b="1">
                <a:solidFill>
                  <a:srgbClr val="C0007F"/>
                </a:solidFill>
                <a:latin typeface="Arial"/>
                <a:ea typeface="Arial"/>
                <a:cs typeface="Arial"/>
              </a:rPr>
              <a:t>03</a:t>
            </a:r>
          </a:p>
        </p:txBody>
      </p:sp>
      <p:sp>
        <p:nvSpPr>
          <p:cNvPr id="12" name="Metodología">
            <a:extLst xmlns:a="http://schemas.openxmlformats.org/drawingml/2006/main">
              <a:ext uri="{FF2B5EF4-FFF2-40B4-BE49-F238E27FC236}">
                <a16:creationId xmlns:a16="http://schemas.microsoft.com/office/drawing/2014/main" id="{B9E4C72E-DE02-4FE8-894F-4B8BA0AC87F1}"/>
              </a:ext>
            </a:extLst>
          </p:cNvPr>
          <p:cNvSpPr>
            <a:spLocks xmlns:a="http://schemas.openxmlformats.org/drawingml/2006/main" noGrp="1"/>
          </p:cNvSpPr>
          <p:nvPr/>
        </p:nvSpPr>
        <p:spPr>
          <a:xfrm xmlns:a="http://schemas.openxmlformats.org/drawingml/2006/main">
            <a:off x="1447800" y="38766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63D"/>
                </a:solidFill>
                <a:latin typeface="Arial"/>
                <a:ea typeface="Arial"/>
                <a:cs typeface="Arial"/>
              </a:defRPr>
            </a:pPr>
            <a:r>
              <a:rPr sz="2175" b="1">
                <a:solidFill>
                  <a:srgbClr val="14263D"/>
                </a:solidFill>
                <a:latin typeface="Arial"/>
                <a:ea typeface="Arial"/>
                <a:cs typeface="Arial"/>
              </a:rPr>
              <a:t>Metodología</a:t>
            </a:r>
          </a:p>
        </p:txBody>
      </p:sp>
      <p:sp>
        <p:nvSpPr>
          <p:cNvPr id="13" name="">
            <a:extLst xmlns:a="http://schemas.openxmlformats.org/drawingml/2006/main">
              <a:ext uri="{FF2B5EF4-FFF2-40B4-BE49-F238E27FC236}">
                <a16:creationId xmlns:a16="http://schemas.microsoft.com/office/drawing/2014/main" id="{1EC51AD8-FBF0-48C9-9EAC-DD33FCD14CF0}"/>
              </a:ext>
            </a:extLst>
          </p:cNvPr>
          <p:cNvSpPr>
            <a:spLocks xmlns:a="http://schemas.openxmlformats.org/drawingml/2006/main" noGrp="1"/>
          </p:cNvSpPr>
          <p:nvPr/>
        </p:nvSpPr>
        <p:spPr>
          <a:xfrm xmlns:a="http://schemas.openxmlformats.org/drawingml/2006/main">
            <a:off x="609600" y="4476750"/>
            <a:ext cx="5095875" cy="9525"/>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14" name="04">
            <a:extLst xmlns:a="http://schemas.openxmlformats.org/drawingml/2006/main">
              <a:ext uri="{FF2B5EF4-FFF2-40B4-BE49-F238E27FC236}">
                <a16:creationId xmlns:a16="http://schemas.microsoft.com/office/drawing/2014/main" id="{915D5016-E5B0-48D6-A0FF-DA4DBA72A807}"/>
              </a:ext>
            </a:extLst>
          </p:cNvPr>
          <p:cNvSpPr>
            <a:spLocks xmlns:a="http://schemas.openxmlformats.org/drawingml/2006/main" noGrp="1"/>
          </p:cNvSpPr>
          <p:nvPr/>
        </p:nvSpPr>
        <p:spPr>
          <a:xfrm xmlns:a="http://schemas.openxmlformats.org/drawingml/2006/main">
            <a:off x="609600" y="49434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C0007F"/>
                </a:solidFill>
                <a:latin typeface="Arial"/>
                <a:ea typeface="Arial"/>
                <a:cs typeface="Arial"/>
              </a:defRPr>
            </a:pPr>
            <a:r>
              <a:rPr sz="2100" b="1">
                <a:solidFill>
                  <a:srgbClr val="C0007F"/>
                </a:solidFill>
                <a:latin typeface="Arial"/>
                <a:ea typeface="Arial"/>
                <a:cs typeface="Arial"/>
              </a:rPr>
              <a:t>04</a:t>
            </a:r>
          </a:p>
        </p:txBody>
      </p:sp>
      <p:sp>
        <p:nvSpPr>
          <p:cNvPr id="15" name="Diseño y arquitectura">
            <a:extLst xmlns:a="http://schemas.openxmlformats.org/drawingml/2006/main">
              <a:ext uri="{FF2B5EF4-FFF2-40B4-BE49-F238E27FC236}">
                <a16:creationId xmlns:a16="http://schemas.microsoft.com/office/drawing/2014/main" id="{5D4957B9-8AC4-43EB-8DB9-731A54DB77D1}"/>
              </a:ext>
            </a:extLst>
          </p:cNvPr>
          <p:cNvSpPr>
            <a:spLocks xmlns:a="http://schemas.openxmlformats.org/drawingml/2006/main" noGrp="1"/>
          </p:cNvSpPr>
          <p:nvPr/>
        </p:nvSpPr>
        <p:spPr>
          <a:xfrm xmlns:a="http://schemas.openxmlformats.org/drawingml/2006/main">
            <a:off x="1447800" y="49434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63D"/>
                </a:solidFill>
                <a:latin typeface="Arial"/>
                <a:ea typeface="Arial"/>
                <a:cs typeface="Arial"/>
              </a:defRPr>
            </a:pPr>
            <a:r>
              <a:rPr sz="2175" b="1">
                <a:solidFill>
                  <a:srgbClr val="14263D"/>
                </a:solidFill>
                <a:latin typeface="Arial"/>
                <a:ea typeface="Arial"/>
                <a:cs typeface="Arial"/>
              </a:rPr>
              <a:t>Diseño y arquitectura</a:t>
            </a:r>
          </a:p>
        </p:txBody>
      </p:sp>
      <p:sp>
        <p:nvSpPr>
          <p:cNvPr id="16" name="">
            <a:extLst xmlns:a="http://schemas.openxmlformats.org/drawingml/2006/main">
              <a:ext uri="{FF2B5EF4-FFF2-40B4-BE49-F238E27FC236}">
                <a16:creationId xmlns:a16="http://schemas.microsoft.com/office/drawing/2014/main" id="{2E72EE87-FC5B-4276-B642-6404303E9383}"/>
              </a:ext>
            </a:extLst>
          </p:cNvPr>
          <p:cNvSpPr>
            <a:spLocks xmlns:a="http://schemas.openxmlformats.org/drawingml/2006/main" noGrp="1"/>
          </p:cNvSpPr>
          <p:nvPr/>
        </p:nvSpPr>
        <p:spPr>
          <a:xfrm xmlns:a="http://schemas.openxmlformats.org/drawingml/2006/main">
            <a:off x="609600" y="5543550"/>
            <a:ext cx="5095875" cy="9525"/>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17" name="05">
            <a:extLst xmlns:a="http://schemas.openxmlformats.org/drawingml/2006/main">
              <a:ext uri="{FF2B5EF4-FFF2-40B4-BE49-F238E27FC236}">
                <a16:creationId xmlns:a16="http://schemas.microsoft.com/office/drawing/2014/main" id="{95C191D7-5940-480F-910D-77060591C108}"/>
              </a:ext>
            </a:extLst>
          </p:cNvPr>
          <p:cNvSpPr>
            <a:spLocks xmlns:a="http://schemas.openxmlformats.org/drawingml/2006/main" noGrp="1"/>
          </p:cNvSpPr>
          <p:nvPr/>
        </p:nvSpPr>
        <p:spPr>
          <a:xfrm xmlns:a="http://schemas.openxmlformats.org/drawingml/2006/main">
            <a:off x="6486525" y="17430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C0007F"/>
                </a:solidFill>
                <a:latin typeface="Arial"/>
                <a:ea typeface="Arial"/>
                <a:cs typeface="Arial"/>
              </a:defRPr>
            </a:pPr>
            <a:r>
              <a:rPr sz="2100" b="1">
                <a:solidFill>
                  <a:srgbClr val="C0007F"/>
                </a:solidFill>
                <a:latin typeface="Arial"/>
                <a:ea typeface="Arial"/>
                <a:cs typeface="Arial"/>
              </a:rPr>
              <a:t>05</a:t>
            </a:r>
          </a:p>
        </p:txBody>
      </p:sp>
      <p:sp>
        <p:nvSpPr>
          <p:cNvPr id="18" name="Demostración funcional">
            <a:extLst xmlns:a="http://schemas.openxmlformats.org/drawingml/2006/main">
              <a:ext uri="{FF2B5EF4-FFF2-40B4-BE49-F238E27FC236}">
                <a16:creationId xmlns:a16="http://schemas.microsoft.com/office/drawing/2014/main" id="{A0AC6FAC-1E2E-414B-AC6D-FA9768788FB1}"/>
              </a:ext>
            </a:extLst>
          </p:cNvPr>
          <p:cNvSpPr>
            <a:spLocks xmlns:a="http://schemas.openxmlformats.org/drawingml/2006/main" noGrp="1"/>
          </p:cNvSpPr>
          <p:nvPr/>
        </p:nvSpPr>
        <p:spPr>
          <a:xfrm xmlns:a="http://schemas.openxmlformats.org/drawingml/2006/main">
            <a:off x="7324725" y="17430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63D"/>
                </a:solidFill>
                <a:latin typeface="Arial"/>
                <a:ea typeface="Arial"/>
                <a:cs typeface="Arial"/>
              </a:defRPr>
            </a:pPr>
            <a:r>
              <a:rPr sz="2175" b="1">
                <a:solidFill>
                  <a:srgbClr val="14263D"/>
                </a:solidFill>
                <a:latin typeface="Arial"/>
                <a:ea typeface="Arial"/>
                <a:cs typeface="Arial"/>
              </a:rPr>
              <a:t>Demostración funcional</a:t>
            </a:r>
          </a:p>
        </p:txBody>
      </p:sp>
      <p:sp>
        <p:nvSpPr>
          <p:cNvPr id="19" name="">
            <a:extLst xmlns:a="http://schemas.openxmlformats.org/drawingml/2006/main">
              <a:ext uri="{FF2B5EF4-FFF2-40B4-BE49-F238E27FC236}">
                <a16:creationId xmlns:a16="http://schemas.microsoft.com/office/drawing/2014/main" id="{0367EFD3-D426-4C94-927F-197EA0C0036A}"/>
              </a:ext>
            </a:extLst>
          </p:cNvPr>
          <p:cNvSpPr>
            <a:spLocks xmlns:a="http://schemas.openxmlformats.org/drawingml/2006/main" noGrp="1"/>
          </p:cNvSpPr>
          <p:nvPr/>
        </p:nvSpPr>
        <p:spPr>
          <a:xfrm xmlns:a="http://schemas.openxmlformats.org/drawingml/2006/main">
            <a:off x="6486525" y="2343150"/>
            <a:ext cx="5095875" cy="9525"/>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20" name="06">
            <a:extLst xmlns:a="http://schemas.openxmlformats.org/drawingml/2006/main">
              <a:ext uri="{FF2B5EF4-FFF2-40B4-BE49-F238E27FC236}">
                <a16:creationId xmlns:a16="http://schemas.microsoft.com/office/drawing/2014/main" id="{AEA50D35-BAE9-426F-B81B-AB180BD79B5B}"/>
              </a:ext>
            </a:extLst>
          </p:cNvPr>
          <p:cNvSpPr>
            <a:spLocks xmlns:a="http://schemas.openxmlformats.org/drawingml/2006/main" noGrp="1"/>
          </p:cNvSpPr>
          <p:nvPr/>
        </p:nvSpPr>
        <p:spPr>
          <a:xfrm xmlns:a="http://schemas.openxmlformats.org/drawingml/2006/main">
            <a:off x="6486525" y="28098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C0007F"/>
                </a:solidFill>
                <a:latin typeface="Arial"/>
                <a:ea typeface="Arial"/>
                <a:cs typeface="Arial"/>
              </a:defRPr>
            </a:pPr>
            <a:r>
              <a:rPr sz="2100" b="1">
                <a:solidFill>
                  <a:srgbClr val="C0007F"/>
                </a:solidFill>
                <a:latin typeface="Arial"/>
                <a:ea typeface="Arial"/>
                <a:cs typeface="Arial"/>
              </a:rPr>
              <a:t>06</a:t>
            </a:r>
          </a:p>
        </p:txBody>
      </p:sp>
      <p:sp>
        <p:nvSpPr>
          <p:cNvPr id="21" name="Validación y despliegue">
            <a:extLst xmlns:a="http://schemas.openxmlformats.org/drawingml/2006/main">
              <a:ext uri="{FF2B5EF4-FFF2-40B4-BE49-F238E27FC236}">
                <a16:creationId xmlns:a16="http://schemas.microsoft.com/office/drawing/2014/main" id="{EE804C77-CC58-455E-AEDC-42D85C28E7E3}"/>
              </a:ext>
            </a:extLst>
          </p:cNvPr>
          <p:cNvSpPr>
            <a:spLocks xmlns:a="http://schemas.openxmlformats.org/drawingml/2006/main" noGrp="1"/>
          </p:cNvSpPr>
          <p:nvPr/>
        </p:nvSpPr>
        <p:spPr>
          <a:xfrm xmlns:a="http://schemas.openxmlformats.org/drawingml/2006/main">
            <a:off x="7324725" y="2809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63D"/>
                </a:solidFill>
                <a:latin typeface="Arial"/>
                <a:ea typeface="Arial"/>
                <a:cs typeface="Arial"/>
              </a:defRPr>
            </a:pPr>
            <a:r>
              <a:rPr sz="2175" b="1">
                <a:solidFill>
                  <a:srgbClr val="14263D"/>
                </a:solidFill>
                <a:latin typeface="Arial"/>
                <a:ea typeface="Arial"/>
                <a:cs typeface="Arial"/>
              </a:rPr>
              <a:t>Validación y despliegue</a:t>
            </a:r>
          </a:p>
        </p:txBody>
      </p:sp>
      <p:sp>
        <p:nvSpPr>
          <p:cNvPr id="22" name="">
            <a:extLst xmlns:a="http://schemas.openxmlformats.org/drawingml/2006/main">
              <a:ext uri="{FF2B5EF4-FFF2-40B4-BE49-F238E27FC236}">
                <a16:creationId xmlns:a16="http://schemas.microsoft.com/office/drawing/2014/main" id="{E22C7454-25A4-4775-91DF-89A7B19984E3}"/>
              </a:ext>
            </a:extLst>
          </p:cNvPr>
          <p:cNvSpPr>
            <a:spLocks xmlns:a="http://schemas.openxmlformats.org/drawingml/2006/main" noGrp="1"/>
          </p:cNvSpPr>
          <p:nvPr/>
        </p:nvSpPr>
        <p:spPr>
          <a:xfrm xmlns:a="http://schemas.openxmlformats.org/drawingml/2006/main">
            <a:off x="6486525" y="3409950"/>
            <a:ext cx="5095875" cy="9525"/>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23" name="07">
            <a:extLst xmlns:a="http://schemas.openxmlformats.org/drawingml/2006/main">
              <a:ext uri="{FF2B5EF4-FFF2-40B4-BE49-F238E27FC236}">
                <a16:creationId xmlns:a16="http://schemas.microsoft.com/office/drawing/2014/main" id="{F647164E-BAAC-46DD-80D5-2F1C8AC97750}"/>
              </a:ext>
            </a:extLst>
          </p:cNvPr>
          <p:cNvSpPr>
            <a:spLocks xmlns:a="http://schemas.openxmlformats.org/drawingml/2006/main" noGrp="1"/>
          </p:cNvSpPr>
          <p:nvPr/>
        </p:nvSpPr>
        <p:spPr>
          <a:xfrm xmlns:a="http://schemas.openxmlformats.org/drawingml/2006/main">
            <a:off x="6486525" y="38766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C0007F"/>
                </a:solidFill>
                <a:latin typeface="Arial"/>
                <a:ea typeface="Arial"/>
                <a:cs typeface="Arial"/>
              </a:defRPr>
            </a:pPr>
            <a:r>
              <a:rPr sz="2100" b="1">
                <a:solidFill>
                  <a:srgbClr val="C0007F"/>
                </a:solidFill>
                <a:latin typeface="Arial"/>
                <a:ea typeface="Arial"/>
                <a:cs typeface="Arial"/>
              </a:rPr>
              <a:t>07</a:t>
            </a:r>
          </a:p>
        </p:txBody>
      </p:sp>
      <p:sp>
        <p:nvSpPr>
          <p:cNvPr id="24" name="Conclusiones y trabajo futuro">
            <a:extLst xmlns:a="http://schemas.openxmlformats.org/drawingml/2006/main">
              <a:ext uri="{FF2B5EF4-FFF2-40B4-BE49-F238E27FC236}">
                <a16:creationId xmlns:a16="http://schemas.microsoft.com/office/drawing/2014/main" id="{C2BDB1BD-811C-4D6F-93AD-2C455521C98E}"/>
              </a:ext>
            </a:extLst>
          </p:cNvPr>
          <p:cNvSpPr>
            <a:spLocks xmlns:a="http://schemas.openxmlformats.org/drawingml/2006/main" noGrp="1"/>
          </p:cNvSpPr>
          <p:nvPr/>
        </p:nvSpPr>
        <p:spPr>
          <a:xfrm xmlns:a="http://schemas.openxmlformats.org/drawingml/2006/main">
            <a:off x="7324725" y="38766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263D"/>
                </a:solidFill>
                <a:latin typeface="Arial"/>
                <a:ea typeface="Arial"/>
                <a:cs typeface="Arial"/>
              </a:defRPr>
            </a:pPr>
            <a:r>
              <a:rPr sz="2175" b="1">
                <a:solidFill>
                  <a:srgbClr val="14263D"/>
                </a:solidFill>
                <a:latin typeface="Arial"/>
                <a:ea typeface="Arial"/>
                <a:cs typeface="Arial"/>
              </a:rPr>
              <a:t>Conclusiones y trabajo futuro</a:t>
            </a:r>
          </a:p>
        </p:txBody>
      </p:sp>
      <p:sp>
        <p:nvSpPr>
          <p:cNvPr id="25" name="">
            <a:extLst xmlns:a="http://schemas.openxmlformats.org/drawingml/2006/main">
              <a:ext uri="{FF2B5EF4-FFF2-40B4-BE49-F238E27FC236}">
                <a16:creationId xmlns:a16="http://schemas.microsoft.com/office/drawing/2014/main" id="{8349D93E-8E08-4A4F-87ED-B9B72DC00BAA}"/>
              </a:ext>
            </a:extLst>
          </p:cNvPr>
          <p:cNvSpPr>
            <a:spLocks xmlns:a="http://schemas.openxmlformats.org/drawingml/2006/main" noGrp="1"/>
          </p:cNvSpPr>
          <p:nvPr/>
        </p:nvSpPr>
        <p:spPr>
          <a:xfrm xmlns:a="http://schemas.openxmlformats.org/drawingml/2006/main">
            <a:off x="6486525" y="4476750"/>
            <a:ext cx="5095875" cy="9525"/>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26" name="Orden de la defensa: definición, construcción, demostración ">
            <a:extLst xmlns:a="http://schemas.openxmlformats.org/drawingml/2006/main">
              <a:ext uri="{FF2B5EF4-FFF2-40B4-BE49-F238E27FC236}">
                <a16:creationId xmlns:a16="http://schemas.microsoft.com/office/drawing/2014/main" id="{89405A23-7CD9-4279-9EBB-25562F21C5BA}"/>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Orden de la defensa: definición, construcción, demostración y evaluación.</a:t>
            </a:r>
          </a:p>
        </p:txBody>
      </p:sp>
    </p:spTree>
    <p:extLst>
      <p:ext uri="{BB962C8B-B14F-4D97-AF65-F5344CB8AC3E}">
        <p14:creationId xmlns:p14="http://schemas.microsoft.com/office/powerpoint/2010/main" val="7694443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1 · PROBLEMA Y OBJETIVOS">
            <a:extLst xmlns:a="http://schemas.openxmlformats.org/drawingml/2006/main">
              <a:ext uri="{FF2B5EF4-FFF2-40B4-BE49-F238E27FC236}">
                <a16:creationId xmlns:a16="http://schemas.microsoft.com/office/drawing/2014/main" id="{F6A8037B-A981-4700-A484-E199598B220A}"/>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01 · PROBLEMA Y OBJETIVOS</a:t>
            </a:r>
          </a:p>
        </p:txBody>
      </p:sp>
      <p:sp>
        <p:nvSpPr>
          <p:cNvPr id="2" name="Problema de partida">
            <a:extLst xmlns:a="http://schemas.openxmlformats.org/drawingml/2006/main">
              <a:ext uri="{FF2B5EF4-FFF2-40B4-BE49-F238E27FC236}">
                <a16:creationId xmlns:a16="http://schemas.microsoft.com/office/drawing/2014/main" id="{9596CA6C-13FC-407C-AE65-FE0C01D9AC12}"/>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Problema de partida</a:t>
            </a:r>
          </a:p>
        </p:txBody>
      </p:sp>
      <p:sp>
        <p:nvSpPr>
          <p:cNvPr id="3" name="">
            <a:extLst xmlns:a="http://schemas.openxmlformats.org/drawingml/2006/main">
              <a:ext uri="{FF2B5EF4-FFF2-40B4-BE49-F238E27FC236}">
                <a16:creationId xmlns:a16="http://schemas.microsoft.com/office/drawing/2014/main" id="{8AABC0F0-51FC-493C-BDDC-2CC3FD4FEF97}"/>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7F58C739-93B4-4832-A0BB-D96692B43AB1}"/>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03</a:t>
            </a:r>
          </a:p>
        </p:txBody>
      </p:sp>
      <p:sp>
        <p:nvSpPr>
          <p:cNvPr id="5" name="La información operativa está repartida entre hojas, mensaje">
            <a:extLst xmlns:a="http://schemas.openxmlformats.org/drawingml/2006/main">
              <a:ext uri="{FF2B5EF4-FFF2-40B4-BE49-F238E27FC236}">
                <a16:creationId xmlns:a16="http://schemas.microsoft.com/office/drawing/2014/main" id="{BD002B01-124A-4671-B964-1E8586E07C59}"/>
              </a:ext>
            </a:extLst>
          </p:cNvPr>
          <p:cNvSpPr>
            <a:spLocks xmlns:a="http://schemas.openxmlformats.org/drawingml/2006/main" noGrp="1"/>
          </p:cNvSpPr>
          <p:nvPr/>
        </p:nvSpPr>
        <p:spPr>
          <a:xfrm xmlns:a="http://schemas.openxmlformats.org/drawingml/2006/main">
            <a:off x="609600" y="1714500"/>
            <a:ext cx="642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14263D"/>
                </a:solidFill>
                <a:latin typeface="Arial"/>
                <a:ea typeface="Arial"/>
                <a:cs typeface="Arial"/>
              </a:defRPr>
            </a:pPr>
            <a:r>
              <a:rPr sz="2925" b="1">
                <a:solidFill>
                  <a:srgbClr val="14263D"/>
                </a:solidFill>
                <a:latin typeface="Arial"/>
                <a:ea typeface="Arial"/>
                <a:cs typeface="Arial"/>
              </a:rPr>
              <a:t>La información operativa está repartida entre hojas, mensajes y llamadas</a:t>
            </a:r>
          </a:p>
        </p:txBody>
      </p:sp>
      <p:sp>
        <p:nvSpPr>
          <p:cNvPr id="6" name="Disponibilidad incierta">
            <a:extLst xmlns:a="http://schemas.openxmlformats.org/drawingml/2006/main">
              <a:ext uri="{FF2B5EF4-FFF2-40B4-BE49-F238E27FC236}">
                <a16:creationId xmlns:a16="http://schemas.microsoft.com/office/drawing/2014/main" id="{5012ACFC-D315-4C8D-9108-D328C501C5FE}"/>
              </a:ext>
            </a:extLst>
          </p:cNvPr>
          <p:cNvSpPr>
            <a:spLocks xmlns:a="http://schemas.openxmlformats.org/drawingml/2006/main" noGrp="1"/>
          </p:cNvSpPr>
          <p:nvPr/>
        </p:nvSpPr>
        <p:spPr>
          <a:xfrm xmlns:a="http://schemas.openxmlformats.org/drawingml/2006/main">
            <a:off x="7572375" y="172402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Disponibilidad incierta</a:t>
            </a:r>
          </a:p>
        </p:txBody>
      </p:sp>
      <p:sp>
        <p:nvSpPr>
          <p:cNvPr id="7" name="Un vehículo o conductor puede quedar reservado dos veces.">
            <a:extLst xmlns:a="http://schemas.openxmlformats.org/drawingml/2006/main">
              <a:ext uri="{FF2B5EF4-FFF2-40B4-BE49-F238E27FC236}">
                <a16:creationId xmlns:a16="http://schemas.microsoft.com/office/drawing/2014/main" id="{8CB33C91-51B1-4E05-B6E4-ACE3250AC8CB}"/>
              </a:ext>
            </a:extLst>
          </p:cNvPr>
          <p:cNvSpPr>
            <a:spLocks xmlns:a="http://schemas.openxmlformats.org/drawingml/2006/main" noGrp="1"/>
          </p:cNvSpPr>
          <p:nvPr/>
        </p:nvSpPr>
        <p:spPr>
          <a:xfrm xmlns:a="http://schemas.openxmlformats.org/drawingml/2006/main">
            <a:off x="7572375" y="2143125"/>
            <a:ext cx="400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Un vehículo o conductor puede quedar reservado dos veces.</a:t>
            </a:r>
          </a:p>
        </p:txBody>
      </p:sp>
      <p:sp>
        <p:nvSpPr>
          <p:cNvPr id="8" name="Historia incompleta">
            <a:extLst xmlns:a="http://schemas.openxmlformats.org/drawingml/2006/main">
              <a:ext uri="{FF2B5EF4-FFF2-40B4-BE49-F238E27FC236}">
                <a16:creationId xmlns:a16="http://schemas.microsoft.com/office/drawing/2014/main" id="{1ADC0C69-F289-480F-AC69-7EC67BC1B8D0}"/>
              </a:ext>
            </a:extLst>
          </p:cNvPr>
          <p:cNvSpPr>
            <a:spLocks xmlns:a="http://schemas.openxmlformats.org/drawingml/2006/main" noGrp="1"/>
          </p:cNvSpPr>
          <p:nvPr/>
        </p:nvSpPr>
        <p:spPr>
          <a:xfrm xmlns:a="http://schemas.openxmlformats.org/drawingml/2006/main">
            <a:off x="7572375" y="328612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Historia incompleta</a:t>
            </a:r>
          </a:p>
        </p:txBody>
      </p:sp>
      <p:sp>
        <p:nvSpPr>
          <p:cNvPr id="9" name="Reconstruir una incidencia exige buscar qué pasó y quién act">
            <a:extLst xmlns:a="http://schemas.openxmlformats.org/drawingml/2006/main">
              <a:ext uri="{FF2B5EF4-FFF2-40B4-BE49-F238E27FC236}">
                <a16:creationId xmlns:a16="http://schemas.microsoft.com/office/drawing/2014/main" id="{C8CB32D5-716E-4B59-8168-ACB3B462F73A}"/>
              </a:ext>
            </a:extLst>
          </p:cNvPr>
          <p:cNvSpPr>
            <a:spLocks xmlns:a="http://schemas.openxmlformats.org/drawingml/2006/main" noGrp="1"/>
          </p:cNvSpPr>
          <p:nvPr/>
        </p:nvSpPr>
        <p:spPr>
          <a:xfrm xmlns:a="http://schemas.openxmlformats.org/drawingml/2006/main">
            <a:off x="7572375" y="3705225"/>
            <a:ext cx="4000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Reconstruir una incidencia exige buscar qué pasó y quién actuó.</a:t>
            </a:r>
          </a:p>
        </p:txBody>
      </p:sp>
      <p:sp>
        <p:nvSpPr>
          <p:cNvPr id="10" name="Datos sin vigencia clara">
            <a:extLst xmlns:a="http://schemas.openxmlformats.org/drawingml/2006/main">
              <a:ext uri="{FF2B5EF4-FFF2-40B4-BE49-F238E27FC236}">
                <a16:creationId xmlns:a16="http://schemas.microsoft.com/office/drawing/2014/main" id="{5348C210-48B1-46DD-871A-98D9078EA4D4}"/>
              </a:ext>
            </a:extLst>
          </p:cNvPr>
          <p:cNvSpPr>
            <a:spLocks xmlns:a="http://schemas.openxmlformats.org/drawingml/2006/main" noGrp="1"/>
          </p:cNvSpPr>
          <p:nvPr/>
        </p:nvSpPr>
        <p:spPr>
          <a:xfrm xmlns:a="http://schemas.openxmlformats.org/drawingml/2006/main">
            <a:off x="7572375" y="49339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Datos sin vigencia clara</a:t>
            </a:r>
          </a:p>
        </p:txBody>
      </p:sp>
      <p:sp>
        <p:nvSpPr>
          <p:cNvPr id="11" name="Los registros obsoletos pueden volver a utilizarse por error">
            <a:extLst xmlns:a="http://schemas.openxmlformats.org/drawingml/2006/main">
              <a:ext uri="{FF2B5EF4-FFF2-40B4-BE49-F238E27FC236}">
                <a16:creationId xmlns:a16="http://schemas.microsoft.com/office/drawing/2014/main" id="{DE80B2D1-A8BC-4E22-A92E-1C0FF546C4FA}"/>
              </a:ext>
            </a:extLst>
          </p:cNvPr>
          <p:cNvSpPr>
            <a:spLocks xmlns:a="http://schemas.openxmlformats.org/drawingml/2006/main" noGrp="1"/>
          </p:cNvSpPr>
          <p:nvPr/>
        </p:nvSpPr>
        <p:spPr>
          <a:xfrm xmlns:a="http://schemas.openxmlformats.org/drawingml/2006/main">
            <a:off x="7572375" y="535305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Los registros obsoletos pueden volver a utilizarse por error.</a:t>
            </a:r>
          </a:p>
        </p:txBody>
      </p:sp>
      <p:sp>
        <p:nvSpPr>
          <p:cNvPr id="12" name="Caso ficticio de pyme de transporte definido mediante una en">
            <a:extLst xmlns:a="http://schemas.openxmlformats.org/drawingml/2006/main">
              <a:ext uri="{FF2B5EF4-FFF2-40B4-BE49-F238E27FC236}">
                <a16:creationId xmlns:a16="http://schemas.microsoft.com/office/drawing/2014/main" id="{A2AF83F1-85D4-4677-AAD0-1BBC84DA3FA7}"/>
              </a:ext>
            </a:extLst>
          </p:cNvPr>
          <p:cNvSpPr>
            <a:spLocks xmlns:a="http://schemas.openxmlformats.org/drawingml/2006/main" noGrp="1"/>
          </p:cNvSpPr>
          <p:nvPr/>
        </p:nvSpPr>
        <p:spPr>
          <a:xfrm xmlns:a="http://schemas.openxmlformats.org/drawingml/2006/main">
            <a:off x="609600" y="4895850"/>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56A5"/>
                </a:solidFill>
                <a:latin typeface="Arial"/>
                <a:ea typeface="Arial"/>
                <a:cs typeface="Arial"/>
              </a:defRPr>
            </a:pPr>
            <a:r>
              <a:rPr sz="2175" b="0">
                <a:solidFill>
                  <a:srgbClr val="2156A5"/>
                </a:solidFill>
                <a:latin typeface="Arial"/>
                <a:ea typeface="Arial"/>
                <a:cs typeface="Arial"/>
              </a:rPr>
              <a:t>Caso ficticio de pyme de transporte definido mediante una entrevista simulada</a:t>
            </a:r>
          </a:p>
        </p:txBody>
      </p:sp>
      <p:sp>
        <p:nvSpPr>
          <p:cNvPr id="13" name="Memoria, pp. 1–3 y 15. El trabajo no mide impacto en una emp">
            <a:extLst xmlns:a="http://schemas.openxmlformats.org/drawingml/2006/main">
              <a:ext uri="{FF2B5EF4-FFF2-40B4-BE49-F238E27FC236}">
                <a16:creationId xmlns:a16="http://schemas.microsoft.com/office/drawing/2014/main" id="{A6E7F284-C9D3-45C2-B29D-CE6DF93C3625}"/>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Memoria, pp. 1–3 y 15. El trabajo no mide impacto en una empresa real.</a:t>
            </a:r>
          </a:p>
        </p:txBody>
      </p:sp>
    </p:spTree>
    <p:extLst>
      <p:ext uri="{BB962C8B-B14F-4D97-AF65-F5344CB8AC3E}">
        <p14:creationId xmlns:p14="http://schemas.microsoft.com/office/powerpoint/2010/main" val="13050833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01 · PROBLEMA Y OBJETIVOS">
            <a:extLst xmlns:a="http://schemas.openxmlformats.org/drawingml/2006/main">
              <a:ext uri="{FF2B5EF4-FFF2-40B4-BE49-F238E27FC236}">
                <a16:creationId xmlns:a16="http://schemas.microsoft.com/office/drawing/2014/main" id="{45D5332A-355E-46D7-B6F0-0C1940188731}"/>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01 · PROBLEMA Y OBJETIVOS</a:t>
            </a:r>
          </a:p>
        </p:txBody>
      </p:sp>
      <p:sp>
        <p:nvSpPr>
          <p:cNvPr id="2" name="Objetivos y criterios de éxito">
            <a:extLst xmlns:a="http://schemas.openxmlformats.org/drawingml/2006/main">
              <a:ext uri="{FF2B5EF4-FFF2-40B4-BE49-F238E27FC236}">
                <a16:creationId xmlns:a16="http://schemas.microsoft.com/office/drawing/2014/main" id="{7326632D-F9BB-482D-9A82-8C3B5A2A2304}"/>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Objetivos y criterios de éxito</a:t>
            </a:r>
          </a:p>
        </p:txBody>
      </p:sp>
      <p:sp>
        <p:nvSpPr>
          <p:cNvPr id="3" name="">
            <a:extLst xmlns:a="http://schemas.openxmlformats.org/drawingml/2006/main">
              <a:ext uri="{FF2B5EF4-FFF2-40B4-BE49-F238E27FC236}">
                <a16:creationId xmlns:a16="http://schemas.microsoft.com/office/drawing/2014/main" id="{DB3B2358-24D4-4BA9-ADBD-56420B65F4A6}"/>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B0EF980F-548E-48A0-9FA9-B97AF8B7A1F5}"/>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04</a:t>
            </a:r>
          </a:p>
        </p:txBody>
      </p:sp>
      <p:sp>
        <p:nvSpPr>
          <p:cNvPr id="5" name="Centralizar la operación diaria y demostrar el ciclo de vida">
            <a:extLst xmlns:a="http://schemas.openxmlformats.org/drawingml/2006/main">
              <a:ext uri="{FF2B5EF4-FFF2-40B4-BE49-F238E27FC236}">
                <a16:creationId xmlns:a16="http://schemas.microsoft.com/office/drawing/2014/main" id="{90A6A221-0257-471F-8B91-2A195FE9DB4B}"/>
              </a:ext>
            </a:extLst>
          </p:cNvPr>
          <p:cNvSpPr>
            <a:spLocks xmlns:a="http://schemas.openxmlformats.org/drawingml/2006/main" noGrp="1"/>
          </p:cNvSpPr>
          <p:nvPr/>
        </p:nvSpPr>
        <p:spPr>
          <a:xfrm xmlns:a="http://schemas.openxmlformats.org/drawingml/2006/main">
            <a:off x="609600" y="160972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4263D"/>
                </a:solidFill>
                <a:latin typeface="Arial"/>
                <a:ea typeface="Arial"/>
                <a:cs typeface="Arial"/>
              </a:defRPr>
            </a:pPr>
            <a:r>
              <a:rPr sz="2550" b="1">
                <a:solidFill>
                  <a:srgbClr val="14263D"/>
                </a:solidFill>
                <a:latin typeface="Arial"/>
                <a:ea typeface="Arial"/>
                <a:cs typeface="Arial"/>
              </a:rPr>
              <a:t>Centralizar la operación diaria y demostrar el ciclo de vida completo del producto</a:t>
            </a:r>
          </a:p>
        </p:txBody>
      </p:sp>
      <p:graphicFrame>
        <p:nvGraphicFramePr>
          <p:cNvPr id="13" name=""/>
          <p:cNvGraphicFramePr/>
          <p:nvPr/>
        </p:nvGraphicFramePr>
        <p:xfrm>
          <a:off xmlns:a="http://schemas.openxmlformats.org/drawingml/2006/main" x="609600" y="2667000"/>
          <a:ext xmlns:a="http://schemas.openxmlformats.org/drawingml/2006/main" cx="10972800" cy="3238500"/>
        </p:xfrm>
        <a:graphic xmlns:a="http://schemas.openxmlformats.org/drawingml/2006/main">
          <a:graphicData uri="http://schemas.openxmlformats.org/drawingml/2006/table">
            <a:tbl>
              <a:tblPr firstRow="0" bandRow="0"/>
              <a:tblGrid>
                <a:gridCol w="3143250"/>
                <a:gridCol w="7829550"/>
              </a:tblGrid>
              <a:tr h="647700">
                <a:tc>
                  <a:txBody>
                    <a:bodyPr>
                      <a:noAutofit/>
                    </a:bodyPr>
                    <a:lstStyle/>
                    <a:p>
                      <a:r>
                        <a:rPr sz="1875" b="1">
                          <a:solidFill>
                            <a:srgbClr val="FFFFFF"/>
                          </a:solidFill>
                          <a:latin typeface="Arial"/>
                          <a:ea typeface="Arial"/>
                          <a:cs typeface="Arial"/>
                        </a:rPr>
                        <a:t>Criterio</a:t>
                      </a:r>
                    </a:p>
                  </a:txBody>
                  <a:tcPr marL="142875" marR="142875" marT="95250" marB="85725" anchor="ctr">
                    <a:solidFill>
                      <a:srgbClr val="14263D"/>
                    </a:solidFill>
                  </a:tcPr>
                </a:tc>
                <a:tc>
                  <a:txBody>
                    <a:bodyPr>
                      <a:noAutofit/>
                    </a:bodyPr>
                    <a:lstStyle/>
                    <a:p>
                      <a:r>
                        <a:rPr sz="1875" b="1">
                          <a:solidFill>
                            <a:srgbClr val="FFFFFF"/>
                          </a:solidFill>
                          <a:latin typeface="Arial"/>
                          <a:ea typeface="Arial"/>
                          <a:cs typeface="Arial"/>
                        </a:rPr>
                        <a:t>Evidencia esperada</a:t>
                      </a:r>
                    </a:p>
                  </a:txBody>
                  <a:tcPr marL="142875" marR="142875" marT="95250" marB="85725" anchor="ctr">
                    <a:solidFill>
                      <a:srgbClr val="14263D"/>
                    </a:solidFill>
                  </a:tcPr>
                </a:tc>
              </a:tr>
              <a:tr h="647700">
                <a:tc>
                  <a:txBody>
                    <a:bodyPr>
                      <a:noAutofit/>
                    </a:bodyPr>
                    <a:lstStyle/>
                    <a:p>
                      <a:r>
                        <a:rPr sz="1875" b="0">
                          <a:solidFill>
                            <a:srgbClr val="14263D"/>
                          </a:solidFill>
                          <a:latin typeface="Arial"/>
                          <a:ea typeface="Arial"/>
                          <a:cs typeface="Arial"/>
                        </a:rPr>
                        <a:t>Funcionalidad</a:t>
                      </a:r>
                    </a:p>
                  </a:txBody>
                  <a:tcPr marL="142875" marR="142875" marT="95250" marB="85725" anchor="ctr">
                    <a:solidFill>
                      <a:srgbClr val="FFFFFF"/>
                    </a:solidFill>
                  </a:tcPr>
                </a:tc>
                <a:tc>
                  <a:txBody>
                    <a:bodyPr>
                      <a:noAutofit/>
                    </a:bodyPr>
                    <a:lstStyle/>
                    <a:p>
                      <a:r>
                        <a:rPr sz="1875" b="0">
                          <a:solidFill>
                            <a:srgbClr val="14263D"/>
                          </a:solidFill>
                          <a:latin typeface="Arial"/>
                          <a:ea typeface="Arial"/>
                          <a:cs typeface="Arial"/>
                        </a:rPr>
                        <a:t>Cuatro casos de uso completos</a:t>
                      </a:r>
                    </a:p>
                  </a:txBody>
                  <a:tcPr marL="142875" marR="142875" marT="95250" marB="85725" anchor="ctr">
                    <a:solidFill>
                      <a:srgbClr val="FFFFFF"/>
                    </a:solidFill>
                  </a:tcPr>
                </a:tc>
              </a:tr>
              <a:tr h="647700">
                <a:tc>
                  <a:txBody>
                    <a:bodyPr>
                      <a:noAutofit/>
                    </a:bodyPr>
                    <a:lstStyle/>
                    <a:p>
                      <a:r>
                        <a:rPr sz="1875" b="0">
                          <a:solidFill>
                            <a:srgbClr val="14263D"/>
                          </a:solidFill>
                          <a:latin typeface="Arial"/>
                          <a:ea typeface="Arial"/>
                          <a:cs typeface="Arial"/>
                        </a:rPr>
                        <a:t>Calidad</a:t>
                      </a:r>
                    </a:p>
                  </a:txBody>
                  <a:tcPr marL="142875" marR="142875" marT="95250" marB="85725" anchor="ctr">
                    <a:solidFill>
                      <a:srgbClr val="FFFFFF"/>
                    </a:solidFill>
                  </a:tcPr>
                </a:tc>
                <a:tc>
                  <a:txBody>
                    <a:bodyPr>
                      <a:noAutofit/>
                    </a:bodyPr>
                    <a:lstStyle/>
                    <a:p>
                      <a:r>
                        <a:rPr sz="1875" b="0">
                          <a:solidFill>
                            <a:srgbClr val="14263D"/>
                          </a:solidFill>
                          <a:latin typeface="Arial"/>
                          <a:ea typeface="Arial"/>
                          <a:cs typeface="Arial"/>
                        </a:rPr>
                        <a:t>Reglas verificadas en varias capas</a:t>
                      </a:r>
                    </a:p>
                  </a:txBody>
                  <a:tcPr marL="142875" marR="142875" marT="95250" marB="85725" anchor="ctr">
                    <a:solidFill>
                      <a:srgbClr val="FFFFFF"/>
                    </a:solidFill>
                  </a:tcPr>
                </a:tc>
              </a:tr>
              <a:tr h="647700">
                <a:tc>
                  <a:txBody>
                    <a:bodyPr>
                      <a:noAutofit/>
                    </a:bodyPr>
                    <a:lstStyle/>
                    <a:p>
                      <a:r>
                        <a:rPr sz="1875" b="0">
                          <a:solidFill>
                            <a:srgbClr val="14263D"/>
                          </a:solidFill>
                          <a:latin typeface="Arial"/>
                          <a:ea typeface="Arial"/>
                          <a:cs typeface="Arial"/>
                        </a:rPr>
                        <a:t>Reproducibilidad</a:t>
                      </a:r>
                    </a:p>
                  </a:txBody>
                  <a:tcPr marL="142875" marR="142875" marT="95250" marB="85725" anchor="ctr">
                    <a:solidFill>
                      <a:srgbClr val="FFFFFF"/>
                    </a:solidFill>
                  </a:tcPr>
                </a:tc>
                <a:tc>
                  <a:txBody>
                    <a:bodyPr>
                      <a:noAutofit/>
                    </a:bodyPr>
                    <a:lstStyle/>
                    <a:p>
                      <a:r>
                        <a:rPr sz="1875" b="0">
                          <a:solidFill>
                            <a:srgbClr val="14263D"/>
                          </a:solidFill>
                          <a:latin typeface="Arial"/>
                          <a:ea typeface="Arial"/>
                          <a:cs typeface="Arial"/>
                        </a:rPr>
                        <a:t>Ejecución y despliegue documentados</a:t>
                      </a:r>
                    </a:p>
                  </a:txBody>
                  <a:tcPr marL="142875" marR="142875" marT="95250" marB="85725" anchor="ctr">
                    <a:solidFill>
                      <a:srgbClr val="FFFFFF"/>
                    </a:solidFill>
                  </a:tcPr>
                </a:tc>
              </a:tr>
              <a:tr h="647700">
                <a:tc>
                  <a:txBody>
                    <a:bodyPr>
                      <a:noAutofit/>
                    </a:bodyPr>
                    <a:lstStyle/>
                    <a:p>
                      <a:r>
                        <a:rPr sz="1875" b="0">
                          <a:solidFill>
                            <a:srgbClr val="14263D"/>
                          </a:solidFill>
                          <a:latin typeface="Arial"/>
                          <a:ea typeface="Arial"/>
                          <a:cs typeface="Arial"/>
                        </a:rPr>
                        <a:t>Trazabilidad</a:t>
                      </a:r>
                    </a:p>
                  </a:txBody>
                  <a:tcPr marL="142875" marR="142875" marT="95250" marB="85725" anchor="ctr">
                    <a:solidFill>
                      <a:srgbClr val="FFFFFF"/>
                    </a:solidFill>
                  </a:tcPr>
                </a:tc>
                <a:tc>
                  <a:txBody>
                    <a:bodyPr>
                      <a:noAutofit/>
                    </a:bodyPr>
                    <a:lstStyle/>
                    <a:p>
                      <a:r>
                        <a:rPr sz="1875" b="0">
                          <a:solidFill>
                            <a:srgbClr val="14263D"/>
                          </a:solidFill>
                          <a:latin typeface="Arial"/>
                          <a:ea typeface="Arial"/>
                          <a:cs typeface="Arial"/>
                        </a:rPr>
                        <a:t>Necesidad, decisión y prueba relacionadas</a:t>
                      </a:r>
                    </a:p>
                  </a:txBody>
                  <a:tcPr marL="142875" marR="142875" marT="95250" marB="85725" anchor="ctr">
                    <a:solidFill>
                      <a:srgbClr val="FFFFFF"/>
                    </a:solidFill>
                  </a:tcPr>
                </a:tc>
              </a:tr>
            </a:tbl>
          </a:graphicData>
        </a:graphic>
      </p:graphicFrame>
      <p:sp>
        <p:nvSpPr>
          <p:cNvPr id="7" name="Objetivo general y criterios de éxito de la memoria, pp. 2–3">
            <a:extLst xmlns:a="http://schemas.openxmlformats.org/drawingml/2006/main">
              <a:ext uri="{FF2B5EF4-FFF2-40B4-BE49-F238E27FC236}">
                <a16:creationId xmlns:a16="http://schemas.microsoft.com/office/drawing/2014/main" id="{A0D2B46C-EFFE-4644-ABE2-E4B9913B438A}"/>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Objetivo general y criterios de éxito de la memoria, pp. 2–3.</a:t>
            </a:r>
          </a:p>
        </p:txBody>
      </p:sp>
    </p:spTree>
    <p:extLst>
      <p:ext uri="{BB962C8B-B14F-4D97-AF65-F5344CB8AC3E}">
        <p14:creationId xmlns:p14="http://schemas.microsoft.com/office/powerpoint/2010/main" val="19428170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02 · REQUISITOS Y ALCANCE">
            <a:extLst xmlns:a="http://schemas.openxmlformats.org/drawingml/2006/main">
              <a:ext uri="{FF2B5EF4-FFF2-40B4-BE49-F238E27FC236}">
                <a16:creationId xmlns:a16="http://schemas.microsoft.com/office/drawing/2014/main" id="{9EC32E37-A6A0-4D10-9346-4285699E9C0C}"/>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02 · REQUISITOS Y ALCANCE</a:t>
            </a:r>
          </a:p>
        </p:txBody>
      </p:sp>
      <p:sp>
        <p:nvSpPr>
          <p:cNvPr id="2" name="Requisitos y alcance">
            <a:extLst xmlns:a="http://schemas.openxmlformats.org/drawingml/2006/main">
              <a:ext uri="{FF2B5EF4-FFF2-40B4-BE49-F238E27FC236}">
                <a16:creationId xmlns:a16="http://schemas.microsoft.com/office/drawing/2014/main" id="{B58729C1-6346-492E-A2EE-A2E73E6B2E04}"/>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Requisitos y alcance</a:t>
            </a:r>
          </a:p>
        </p:txBody>
      </p:sp>
      <p:sp>
        <p:nvSpPr>
          <p:cNvPr id="3" name="">
            <a:extLst xmlns:a="http://schemas.openxmlformats.org/drawingml/2006/main">
              <a:ext uri="{FF2B5EF4-FFF2-40B4-BE49-F238E27FC236}">
                <a16:creationId xmlns:a16="http://schemas.microsoft.com/office/drawing/2014/main" id="{CC9E89C2-BA3E-468E-981B-C456448C9A23}"/>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EF4EDE32-2276-4400-93D4-C06F316BAD27}"/>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05</a:t>
            </a:r>
          </a:p>
        </p:txBody>
      </p:sp>
      <p:sp>
        <p:nvSpPr>
          <p:cNvPr id="5" name="14">
            <a:extLst xmlns:a="http://schemas.openxmlformats.org/drawingml/2006/main">
              <a:ext uri="{FF2B5EF4-FFF2-40B4-BE49-F238E27FC236}">
                <a16:creationId xmlns:a16="http://schemas.microsoft.com/office/drawing/2014/main" id="{82C16979-5013-4C42-9092-1D6C36B27C1B}"/>
              </a:ext>
            </a:extLst>
          </p:cNvPr>
          <p:cNvSpPr>
            <a:spLocks xmlns:a="http://schemas.openxmlformats.org/drawingml/2006/main" noGrp="1"/>
          </p:cNvSpPr>
          <p:nvPr/>
        </p:nvSpPr>
        <p:spPr>
          <a:xfrm xmlns:a="http://schemas.openxmlformats.org/drawingml/2006/main">
            <a:off x="609600" y="1619250"/>
            <a:ext cx="2095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1">
                <a:solidFill>
                  <a:srgbClr val="C0007F"/>
                </a:solidFill>
                <a:latin typeface="Arial"/>
                <a:ea typeface="Arial"/>
                <a:cs typeface="Arial"/>
              </a:defRPr>
            </a:pPr>
            <a:r>
              <a:rPr sz="5250" b="1">
                <a:solidFill>
                  <a:srgbClr val="C0007F"/>
                </a:solidFill>
                <a:latin typeface="Arial"/>
                <a:ea typeface="Arial"/>
                <a:cs typeface="Arial"/>
              </a:rPr>
              <a:t>14</a:t>
            </a:r>
          </a:p>
        </p:txBody>
      </p:sp>
      <p:sp>
        <p:nvSpPr>
          <p:cNvPr id="6" name="requisitos&#10;funcionales">
            <a:extLst xmlns:a="http://schemas.openxmlformats.org/drawingml/2006/main">
              <a:ext uri="{FF2B5EF4-FFF2-40B4-BE49-F238E27FC236}">
                <a16:creationId xmlns:a16="http://schemas.microsoft.com/office/drawing/2014/main" id="{4FDEE55D-8B48-41D6-BF4C-D3BEE592368E}"/>
              </a:ext>
            </a:extLst>
          </p:cNvPr>
          <p:cNvSpPr>
            <a:spLocks xmlns:a="http://schemas.openxmlformats.org/drawingml/2006/main" noGrp="1"/>
          </p:cNvSpPr>
          <p:nvPr/>
        </p:nvSpPr>
        <p:spPr>
          <a:xfrm xmlns:a="http://schemas.openxmlformats.org/drawingml/2006/main">
            <a:off x="609600" y="2514600"/>
            <a:ext cx="209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requisitos</a:t>
            </a:r>
          </a:p>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funcionales</a:t>
            </a:r>
          </a:p>
        </p:txBody>
      </p:sp>
      <p:sp>
        <p:nvSpPr>
          <p:cNvPr id="7" name="17">
            <a:extLst xmlns:a="http://schemas.openxmlformats.org/drawingml/2006/main">
              <a:ext uri="{FF2B5EF4-FFF2-40B4-BE49-F238E27FC236}">
                <a16:creationId xmlns:a16="http://schemas.microsoft.com/office/drawing/2014/main" id="{19B5863C-4B00-40B3-BA6F-87799AD1FB79}"/>
              </a:ext>
            </a:extLst>
          </p:cNvPr>
          <p:cNvSpPr>
            <a:spLocks xmlns:a="http://schemas.openxmlformats.org/drawingml/2006/main" noGrp="1"/>
          </p:cNvSpPr>
          <p:nvPr/>
        </p:nvSpPr>
        <p:spPr>
          <a:xfrm xmlns:a="http://schemas.openxmlformats.org/drawingml/2006/main">
            <a:off x="3105150" y="1619250"/>
            <a:ext cx="2095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1">
                <a:solidFill>
                  <a:srgbClr val="C0007F"/>
                </a:solidFill>
                <a:latin typeface="Arial"/>
                <a:ea typeface="Arial"/>
                <a:cs typeface="Arial"/>
              </a:defRPr>
            </a:pPr>
            <a:r>
              <a:rPr sz="5250" b="1">
                <a:solidFill>
                  <a:srgbClr val="C0007F"/>
                </a:solidFill>
                <a:latin typeface="Arial"/>
                <a:ea typeface="Arial"/>
                <a:cs typeface="Arial"/>
              </a:rPr>
              <a:t>17</a:t>
            </a:r>
          </a:p>
        </p:txBody>
      </p:sp>
      <p:sp>
        <p:nvSpPr>
          <p:cNvPr id="8" name="reglas de&#10;negocio">
            <a:extLst xmlns:a="http://schemas.openxmlformats.org/drawingml/2006/main">
              <a:ext uri="{FF2B5EF4-FFF2-40B4-BE49-F238E27FC236}">
                <a16:creationId xmlns:a16="http://schemas.microsoft.com/office/drawing/2014/main" id="{0861E509-38AE-4664-B38F-71DEA912D34A}"/>
              </a:ext>
            </a:extLst>
          </p:cNvPr>
          <p:cNvSpPr>
            <a:spLocks xmlns:a="http://schemas.openxmlformats.org/drawingml/2006/main" noGrp="1"/>
          </p:cNvSpPr>
          <p:nvPr/>
        </p:nvSpPr>
        <p:spPr>
          <a:xfrm xmlns:a="http://schemas.openxmlformats.org/drawingml/2006/main">
            <a:off x="3105150" y="2514600"/>
            <a:ext cx="209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reglas de</a:t>
            </a:r>
          </a:p>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negocio</a:t>
            </a:r>
          </a:p>
        </p:txBody>
      </p:sp>
      <p:sp>
        <p:nvSpPr>
          <p:cNvPr id="9" name="6">
            <a:extLst xmlns:a="http://schemas.openxmlformats.org/drawingml/2006/main">
              <a:ext uri="{FF2B5EF4-FFF2-40B4-BE49-F238E27FC236}">
                <a16:creationId xmlns:a16="http://schemas.microsoft.com/office/drawing/2014/main" id="{08F81C91-70E7-4663-B6AA-3F27A00AAE29}"/>
              </a:ext>
            </a:extLst>
          </p:cNvPr>
          <p:cNvSpPr>
            <a:spLocks xmlns:a="http://schemas.openxmlformats.org/drawingml/2006/main" noGrp="1"/>
          </p:cNvSpPr>
          <p:nvPr/>
        </p:nvSpPr>
        <p:spPr>
          <a:xfrm xmlns:a="http://schemas.openxmlformats.org/drawingml/2006/main">
            <a:off x="5600700" y="1619250"/>
            <a:ext cx="238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1">
                <a:solidFill>
                  <a:srgbClr val="C0007F"/>
                </a:solidFill>
                <a:latin typeface="Arial"/>
                <a:ea typeface="Arial"/>
                <a:cs typeface="Arial"/>
              </a:defRPr>
            </a:pPr>
            <a:r>
              <a:rPr sz="5250" b="1">
                <a:solidFill>
                  <a:srgbClr val="C0007F"/>
                </a:solidFill>
                <a:latin typeface="Arial"/>
                <a:ea typeface="Arial"/>
                <a:cs typeface="Arial"/>
              </a:rPr>
              <a:t>6</a:t>
            </a:r>
          </a:p>
        </p:txBody>
      </p:sp>
      <p:sp>
        <p:nvSpPr>
          <p:cNvPr id="10" name="requisitos no&#10;funcionales">
            <a:extLst xmlns:a="http://schemas.openxmlformats.org/drawingml/2006/main">
              <a:ext uri="{FF2B5EF4-FFF2-40B4-BE49-F238E27FC236}">
                <a16:creationId xmlns:a16="http://schemas.microsoft.com/office/drawing/2014/main" id="{47EE636E-E6FB-49DF-A0F2-60976260F2E4}"/>
              </a:ext>
            </a:extLst>
          </p:cNvPr>
          <p:cNvSpPr>
            <a:spLocks xmlns:a="http://schemas.openxmlformats.org/drawingml/2006/main" noGrp="1"/>
          </p:cNvSpPr>
          <p:nvPr/>
        </p:nvSpPr>
        <p:spPr>
          <a:xfrm xmlns:a="http://schemas.openxmlformats.org/drawingml/2006/main">
            <a:off x="5600700" y="2514600"/>
            <a:ext cx="238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requisitos no</a:t>
            </a:r>
          </a:p>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funcionales</a:t>
            </a:r>
          </a:p>
        </p:txBody>
      </p:sp>
      <p:sp>
        <p:nvSpPr>
          <p:cNvPr id="11" name="Incluido">
            <a:extLst xmlns:a="http://schemas.openxmlformats.org/drawingml/2006/main">
              <a:ext uri="{FF2B5EF4-FFF2-40B4-BE49-F238E27FC236}">
                <a16:creationId xmlns:a16="http://schemas.microsoft.com/office/drawing/2014/main" id="{5138CC96-0C68-47CF-A823-366176CFFC0E}"/>
              </a:ext>
            </a:extLst>
          </p:cNvPr>
          <p:cNvSpPr>
            <a:spLocks xmlns:a="http://schemas.openxmlformats.org/drawingml/2006/main" noGrp="1"/>
          </p:cNvSpPr>
          <p:nvPr/>
        </p:nvSpPr>
        <p:spPr>
          <a:xfrm xmlns:a="http://schemas.openxmlformats.org/drawingml/2006/main">
            <a:off x="8458200" y="16287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E7D54"/>
                </a:solidFill>
                <a:latin typeface="Arial"/>
                <a:ea typeface="Arial"/>
                <a:cs typeface="Arial"/>
              </a:defRPr>
            </a:pPr>
            <a:r>
              <a:rPr sz="1650" b="1">
                <a:solidFill>
                  <a:srgbClr val="2E7D54"/>
                </a:solidFill>
                <a:latin typeface="Arial"/>
                <a:ea typeface="Arial"/>
                <a:cs typeface="Arial"/>
              </a:rPr>
              <a:t>Incluido</a:t>
            </a:r>
          </a:p>
        </p:txBody>
      </p:sp>
      <p:sp>
        <p:nvSpPr>
          <p:cNvPr id="12" name="Catálogos y envíos&#10;Asignación y estados&#10;Eventos e incidencia">
            <a:extLst xmlns:a="http://schemas.openxmlformats.org/drawingml/2006/main">
              <a:ext uri="{FF2B5EF4-FFF2-40B4-BE49-F238E27FC236}">
                <a16:creationId xmlns:a16="http://schemas.microsoft.com/office/drawing/2014/main" id="{648DFA47-312A-492D-A54A-BB3B623C9B36}"/>
              </a:ext>
            </a:extLst>
          </p:cNvPr>
          <p:cNvSpPr>
            <a:spLocks xmlns:a="http://schemas.openxmlformats.org/drawingml/2006/main" noGrp="1"/>
          </p:cNvSpPr>
          <p:nvPr/>
        </p:nvSpPr>
        <p:spPr>
          <a:xfrm xmlns:a="http://schemas.openxmlformats.org/drawingml/2006/main">
            <a:off x="8458200" y="2105025"/>
            <a:ext cx="3143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Catálogos y envíos</a:t>
            </a:r>
          </a:p>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Asignación y estados</a:t>
            </a:r>
          </a:p>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Eventos e incidencias</a:t>
            </a:r>
          </a:p>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Usuarios e indicadores</a:t>
            </a:r>
          </a:p>
        </p:txBody>
      </p:sp>
      <p:sp>
        <p:nvSpPr>
          <p:cNvPr id="13" name="Fuera del TFG">
            <a:extLst xmlns:a="http://schemas.openxmlformats.org/drawingml/2006/main">
              <a:ext uri="{FF2B5EF4-FFF2-40B4-BE49-F238E27FC236}">
                <a16:creationId xmlns:a16="http://schemas.microsoft.com/office/drawing/2014/main" id="{936C7A32-BAB6-4E18-95A2-E354395C13A3}"/>
              </a:ext>
            </a:extLst>
          </p:cNvPr>
          <p:cNvSpPr>
            <a:spLocks xmlns:a="http://schemas.openxmlformats.org/drawingml/2006/main" noGrp="1"/>
          </p:cNvSpPr>
          <p:nvPr/>
        </p:nvSpPr>
        <p:spPr>
          <a:xfrm xmlns:a="http://schemas.openxmlformats.org/drawingml/2006/main">
            <a:off x="8458200" y="425767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B3263C"/>
                </a:solidFill>
                <a:latin typeface="Arial"/>
                <a:ea typeface="Arial"/>
                <a:cs typeface="Arial"/>
              </a:defRPr>
            </a:pPr>
            <a:r>
              <a:rPr sz="1650" b="1">
                <a:solidFill>
                  <a:srgbClr val="B3263C"/>
                </a:solidFill>
                <a:latin typeface="Arial"/>
                <a:ea typeface="Arial"/>
                <a:cs typeface="Arial"/>
              </a:rPr>
              <a:t>Fuera del TFG</a:t>
            </a:r>
          </a:p>
        </p:txBody>
      </p:sp>
      <p:sp>
        <p:nvSpPr>
          <p:cNvPr id="14" name="Optimización de rutas&#10;GPS y facturación&#10;Acceso de clientes e">
            <a:extLst xmlns:a="http://schemas.openxmlformats.org/drawingml/2006/main">
              <a:ext uri="{FF2B5EF4-FFF2-40B4-BE49-F238E27FC236}">
                <a16:creationId xmlns:a16="http://schemas.microsoft.com/office/drawing/2014/main" id="{EBD14E07-BB9D-474E-8CF0-F043E9992CB4}"/>
              </a:ext>
            </a:extLst>
          </p:cNvPr>
          <p:cNvSpPr>
            <a:spLocks xmlns:a="http://schemas.openxmlformats.org/drawingml/2006/main" noGrp="1"/>
          </p:cNvSpPr>
          <p:nvPr/>
        </p:nvSpPr>
        <p:spPr>
          <a:xfrm xmlns:a="http://schemas.openxmlformats.org/drawingml/2006/main">
            <a:off x="8458200" y="4733925"/>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Optimización de rutas</a:t>
            </a:r>
          </a:p>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GPS y facturación</a:t>
            </a:r>
          </a:p>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Acceso de clientes externos</a:t>
            </a:r>
          </a:p>
        </p:txBody>
      </p:sp>
      <p:sp>
        <p:nvSpPr>
          <p:cNvPr id="15" name="Actores del sistema">
            <a:extLst xmlns:a="http://schemas.openxmlformats.org/drawingml/2006/main">
              <a:ext uri="{FF2B5EF4-FFF2-40B4-BE49-F238E27FC236}">
                <a16:creationId xmlns:a16="http://schemas.microsoft.com/office/drawing/2014/main" id="{C128A152-2C95-40AC-9E08-40B75AAE7434}"/>
              </a:ext>
            </a:extLst>
          </p:cNvPr>
          <p:cNvSpPr>
            <a:spLocks xmlns:a="http://schemas.openxmlformats.org/drawingml/2006/main" noGrp="1"/>
          </p:cNvSpPr>
          <p:nvPr/>
        </p:nvSpPr>
        <p:spPr>
          <a:xfrm xmlns:a="http://schemas.openxmlformats.org/drawingml/2006/main">
            <a:off x="609600" y="44005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C0007F"/>
                </a:solidFill>
                <a:latin typeface="Arial"/>
                <a:ea typeface="Arial"/>
                <a:cs typeface="Arial"/>
              </a:defRPr>
            </a:pPr>
            <a:r>
              <a:rPr sz="1875" b="1">
                <a:solidFill>
                  <a:srgbClr val="C0007F"/>
                </a:solidFill>
                <a:latin typeface="Arial"/>
                <a:ea typeface="Arial"/>
                <a:cs typeface="Arial"/>
              </a:rPr>
              <a:t>Actores del sistema</a:t>
            </a:r>
          </a:p>
        </p:txBody>
      </p:sp>
      <p:sp>
        <p:nvSpPr>
          <p:cNvPr id="16" name="Operador: trabajo diario&#10;Administrador: cuentas y permisos">
            <a:extLst xmlns:a="http://schemas.openxmlformats.org/drawingml/2006/main">
              <a:ext uri="{FF2B5EF4-FFF2-40B4-BE49-F238E27FC236}">
                <a16:creationId xmlns:a16="http://schemas.microsoft.com/office/drawing/2014/main" id="{57AE949B-F2F5-496F-AF06-5F9B4219A963}"/>
              </a:ext>
            </a:extLst>
          </p:cNvPr>
          <p:cNvSpPr>
            <a:spLocks xmlns:a="http://schemas.openxmlformats.org/drawingml/2006/main" noGrp="1"/>
          </p:cNvSpPr>
          <p:nvPr/>
        </p:nvSpPr>
        <p:spPr>
          <a:xfrm xmlns:a="http://schemas.openxmlformats.org/drawingml/2006/main">
            <a:off x="609600" y="4857750"/>
            <a:ext cx="666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4263D"/>
                </a:solidFill>
                <a:latin typeface="Arial"/>
                <a:ea typeface="Arial"/>
                <a:cs typeface="Arial"/>
              </a:defRPr>
            </a:pPr>
            <a:r>
              <a:rPr sz="2100" b="0">
                <a:solidFill>
                  <a:srgbClr val="14263D"/>
                </a:solidFill>
                <a:latin typeface="Arial"/>
                <a:ea typeface="Arial"/>
                <a:cs typeface="Arial"/>
              </a:rPr>
              <a:t>Operador: trabajo diario</a:t>
            </a:r>
          </a:p>
          <a:p xmlns:a="http://schemas.openxmlformats.org/drawingml/2006/main">
            <a:pPr algn="l">
              <a:defRPr sz="2100" b="0">
                <a:solidFill>
                  <a:srgbClr val="14263D"/>
                </a:solidFill>
                <a:latin typeface="Arial"/>
                <a:ea typeface="Arial"/>
                <a:cs typeface="Arial"/>
              </a:defRPr>
            </a:pPr>
            <a:r>
              <a:rPr sz="2100" b="0">
                <a:solidFill>
                  <a:srgbClr val="14263D"/>
                </a:solidFill>
                <a:latin typeface="Arial"/>
                <a:ea typeface="Arial"/>
                <a:cs typeface="Arial"/>
              </a:rPr>
              <a:t>Administrador: cuentas y permisos</a:t>
            </a:r>
          </a:p>
        </p:txBody>
      </p:sp>
      <p:sp>
        <p:nvSpPr>
          <p:cNvPr id="17" name="Conductores y clientes son datos del dominio. Memoria, pp. 1">
            <a:extLst xmlns:a="http://schemas.openxmlformats.org/drawingml/2006/main">
              <a:ext uri="{FF2B5EF4-FFF2-40B4-BE49-F238E27FC236}">
                <a16:creationId xmlns:a16="http://schemas.microsoft.com/office/drawing/2014/main" id="{61F493CE-C079-462E-813D-DA96B0FFBF7D}"/>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Conductores y clientes son datos del dominio. Memoria, pp. 15–21.</a:t>
            </a:r>
          </a:p>
        </p:txBody>
      </p:sp>
    </p:spTree>
    <p:extLst>
      <p:ext uri="{BB962C8B-B14F-4D97-AF65-F5344CB8AC3E}">
        <p14:creationId xmlns:p14="http://schemas.microsoft.com/office/powerpoint/2010/main" val="9940131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02 · REQUISITOS Y ALCANCE">
            <a:extLst xmlns:a="http://schemas.openxmlformats.org/drawingml/2006/main">
              <a:ext uri="{FF2B5EF4-FFF2-40B4-BE49-F238E27FC236}">
                <a16:creationId xmlns:a16="http://schemas.microsoft.com/office/drawing/2014/main" id="{57EB2A22-B187-41F6-B309-81759F665577}"/>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02 · REQUISITOS Y ALCANCE</a:t>
            </a:r>
          </a:p>
        </p:txBody>
      </p:sp>
      <p:sp>
        <p:nvSpPr>
          <p:cNvPr id="2" name="Casos de uso del sistema">
            <a:extLst xmlns:a="http://schemas.openxmlformats.org/drawingml/2006/main">
              <a:ext uri="{FF2B5EF4-FFF2-40B4-BE49-F238E27FC236}">
                <a16:creationId xmlns:a16="http://schemas.microsoft.com/office/drawing/2014/main" id="{739750F0-20A1-4782-AAA0-FB6591798906}"/>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Casos de uso del sistema</a:t>
            </a:r>
          </a:p>
        </p:txBody>
      </p:sp>
      <p:sp>
        <p:nvSpPr>
          <p:cNvPr id="3" name="">
            <a:extLst xmlns:a="http://schemas.openxmlformats.org/drawingml/2006/main">
              <a:ext uri="{FF2B5EF4-FFF2-40B4-BE49-F238E27FC236}">
                <a16:creationId xmlns:a16="http://schemas.microsoft.com/office/drawing/2014/main" id="{BA14A290-7DDA-47FF-B4D0-A2E2B20BB6C0}"/>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46AE2BA6-802F-4588-B148-55756E30D49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06</a:t>
            </a:r>
          </a:p>
        </p:txBody>
      </p:sp>
      <p:graphicFrame>
        <p:nvGraphicFramePr>
          <p:cNvPr id="11" name=""/>
          <p:cNvGraphicFramePr/>
          <p:nvPr/>
        </p:nvGraphicFramePr>
        <p:xfrm>
          <a:off xmlns:a="http://schemas.openxmlformats.org/drawingml/2006/main" x="609600" y="1695450"/>
          <a:ext xmlns:a="http://schemas.openxmlformats.org/drawingml/2006/main" cx="10972800" cy="4095750"/>
        </p:xfrm>
        <a:graphic xmlns:a="http://schemas.openxmlformats.org/drawingml/2006/main">
          <a:graphicData uri="http://schemas.openxmlformats.org/drawingml/2006/table">
            <a:tbl>
              <a:tblPr firstRow="0" bandRow="0"/>
              <a:tblGrid>
                <a:gridCol w="3000375"/>
                <a:gridCol w="2952750"/>
                <a:gridCol w="5019675"/>
              </a:tblGrid>
              <a:tr h="819150">
                <a:tc>
                  <a:txBody>
                    <a:bodyPr>
                      <a:noAutofit/>
                    </a:bodyPr>
                    <a:lstStyle/>
                    <a:p>
                      <a:r>
                        <a:rPr sz="1725" b="1">
                          <a:solidFill>
                            <a:srgbClr val="FFFFFF"/>
                          </a:solidFill>
                          <a:latin typeface="Arial"/>
                          <a:ea typeface="Arial"/>
                          <a:cs typeface="Arial"/>
                        </a:rPr>
                        <a:t>Caso de uso</a:t>
                      </a:r>
                    </a:p>
                  </a:txBody>
                  <a:tcPr marL="142875" marR="142875" marT="95250" marB="85725" anchor="ctr">
                    <a:solidFill>
                      <a:srgbClr val="14263D"/>
                    </a:solidFill>
                  </a:tcPr>
                </a:tc>
                <a:tc>
                  <a:txBody>
                    <a:bodyPr>
                      <a:noAutofit/>
                    </a:bodyPr>
                    <a:lstStyle/>
                    <a:p>
                      <a:r>
                        <a:rPr sz="1725" b="1">
                          <a:solidFill>
                            <a:srgbClr val="FFFFFF"/>
                          </a:solidFill>
                          <a:latin typeface="Arial"/>
                          <a:ea typeface="Arial"/>
                          <a:cs typeface="Arial"/>
                        </a:rPr>
                        <a:t>Actor principal</a:t>
                      </a:r>
                    </a:p>
                  </a:txBody>
                  <a:tcPr marL="142875" marR="142875" marT="95250" marB="85725" anchor="ctr">
                    <a:solidFill>
                      <a:srgbClr val="14263D"/>
                    </a:solidFill>
                  </a:tcPr>
                </a:tc>
                <a:tc>
                  <a:txBody>
                    <a:bodyPr>
                      <a:noAutofit/>
                    </a:bodyPr>
                    <a:lstStyle/>
                    <a:p>
                      <a:r>
                        <a:rPr sz="1725" b="1">
                          <a:solidFill>
                            <a:srgbClr val="FFFFFF"/>
                          </a:solidFill>
                          <a:latin typeface="Arial"/>
                          <a:ea typeface="Arial"/>
                          <a:cs typeface="Arial"/>
                        </a:rPr>
                        <a:t>Resultado observable</a:t>
                      </a:r>
                    </a:p>
                  </a:txBody>
                  <a:tcPr marL="142875" marR="142875" marT="95250" marB="85725" anchor="ctr">
                    <a:solidFill>
                      <a:srgbClr val="14263D"/>
                    </a:solidFill>
                  </a:tcPr>
                </a:tc>
              </a:tr>
              <a:tr h="819150">
                <a:tc>
                  <a:txBody>
                    <a:bodyPr>
                      <a:noAutofit/>
                    </a:bodyPr>
                    <a:lstStyle/>
                    <a:p>
                      <a:r>
                        <a:rPr sz="1725" b="0">
                          <a:solidFill>
                            <a:srgbClr val="14263D"/>
                          </a:solidFill>
                          <a:latin typeface="Arial"/>
                          <a:ea typeface="Arial"/>
                          <a:cs typeface="Arial"/>
                        </a:rPr>
                        <a:t>Acceso y sesión</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Operador / administrador</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Entrada segura y permisos efectivos</a:t>
                      </a:r>
                    </a:p>
                  </a:txBody>
                  <a:tcPr marL="142875" marR="142875" marT="95250" marB="85725" anchor="ctr">
                    <a:solidFill>
                      <a:srgbClr val="FFFFFF"/>
                    </a:solidFill>
                  </a:tcPr>
                </a:tc>
              </a:tr>
              <a:tr h="819150">
                <a:tc>
                  <a:txBody>
                    <a:bodyPr>
                      <a:noAutofit/>
                    </a:bodyPr>
                    <a:lstStyle/>
                    <a:p>
                      <a:r>
                        <a:rPr sz="1725" b="0">
                          <a:solidFill>
                            <a:srgbClr val="14263D"/>
                          </a:solidFill>
                          <a:latin typeface="Arial"/>
                          <a:ea typeface="Arial"/>
                          <a:cs typeface="Arial"/>
                        </a:rPr>
                        <a:t>Catálogos</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Operador</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Vehículos, conductores y clientes vigentes</a:t>
                      </a:r>
                    </a:p>
                  </a:txBody>
                  <a:tcPr marL="142875" marR="142875" marT="95250" marB="85725" anchor="ctr">
                    <a:solidFill>
                      <a:srgbClr val="FFFFFF"/>
                    </a:solidFill>
                  </a:tcPr>
                </a:tc>
              </a:tr>
              <a:tr h="819150">
                <a:tc>
                  <a:txBody>
                    <a:bodyPr>
                      <a:noAutofit/>
                    </a:bodyPr>
                    <a:lstStyle/>
                    <a:p>
                      <a:r>
                        <a:rPr sz="1725" b="0">
                          <a:solidFill>
                            <a:srgbClr val="14263D"/>
                          </a:solidFill>
                          <a:latin typeface="Arial"/>
                          <a:ea typeface="Arial"/>
                          <a:cs typeface="Arial"/>
                        </a:rPr>
                        <a:t>Operación del envío</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Operador</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Planificación, asignación, estados y eventos</a:t>
                      </a:r>
                    </a:p>
                  </a:txBody>
                  <a:tcPr marL="142875" marR="142875" marT="95250" marB="85725" anchor="ctr">
                    <a:solidFill>
                      <a:srgbClr val="FFFFFF"/>
                    </a:solidFill>
                  </a:tcPr>
                </a:tc>
              </a:tr>
              <a:tr h="819150">
                <a:tc>
                  <a:txBody>
                    <a:bodyPr>
                      <a:noAutofit/>
                    </a:bodyPr>
                    <a:lstStyle/>
                    <a:p>
                      <a:r>
                        <a:rPr sz="1725" b="0">
                          <a:solidFill>
                            <a:srgbClr val="14263D"/>
                          </a:solidFill>
                          <a:latin typeface="Arial"/>
                          <a:ea typeface="Arial"/>
                          <a:cs typeface="Arial"/>
                        </a:rPr>
                        <a:t>Administración y resumen</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Administrador / operador</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Cuentas controladas e indicadores operativos</a:t>
                      </a:r>
                    </a:p>
                  </a:txBody>
                  <a:tcPr marL="142875" marR="142875" marT="95250" marB="85725" anchor="ctr">
                    <a:solidFill>
                      <a:srgbClr val="FFFFFF"/>
                    </a:solidFill>
                  </a:tcPr>
                </a:tc>
              </a:tr>
            </a:tbl>
          </a:graphicData>
        </a:graphic>
      </p:graphicFrame>
      <p:sp>
        <p:nvSpPr>
          <p:cNvPr id="6" name="Los cuatro recorridos definen el alcance integrado y las pru">
            <a:extLst xmlns:a="http://schemas.openxmlformats.org/drawingml/2006/main">
              <a:ext uri="{FF2B5EF4-FFF2-40B4-BE49-F238E27FC236}">
                <a16:creationId xmlns:a16="http://schemas.microsoft.com/office/drawing/2014/main" id="{F58A6BB6-4E10-42F6-86D4-4B9B4663689C}"/>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Los cuatro recorridos definen el alcance integrado y las pruebas de sistema. Memoria, pp. 17–21.</a:t>
            </a:r>
          </a:p>
        </p:txBody>
      </p:sp>
    </p:spTree>
    <p:extLst>
      <p:ext uri="{BB962C8B-B14F-4D97-AF65-F5344CB8AC3E}">
        <p14:creationId xmlns:p14="http://schemas.microsoft.com/office/powerpoint/2010/main" val="8644569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03 · METODOLOGÍA">
            <a:extLst xmlns:a="http://schemas.openxmlformats.org/drawingml/2006/main">
              <a:ext uri="{FF2B5EF4-FFF2-40B4-BE49-F238E27FC236}">
                <a16:creationId xmlns:a16="http://schemas.microsoft.com/office/drawing/2014/main" id="{FF07A48E-6D16-4CD4-8B97-1784C61FC05F}"/>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03 · METODOLOGÍA</a:t>
            </a:r>
          </a:p>
        </p:txBody>
      </p:sp>
      <p:sp>
        <p:nvSpPr>
          <p:cNvPr id="2" name="Metodología incremental">
            <a:extLst xmlns:a="http://schemas.openxmlformats.org/drawingml/2006/main">
              <a:ext uri="{FF2B5EF4-FFF2-40B4-BE49-F238E27FC236}">
                <a16:creationId xmlns:a16="http://schemas.microsoft.com/office/drawing/2014/main" id="{DD4ABDEB-8183-4423-AD14-0FC086E9D3E8}"/>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Metodología incremental</a:t>
            </a:r>
          </a:p>
        </p:txBody>
      </p:sp>
      <p:sp>
        <p:nvSpPr>
          <p:cNvPr id="3" name="">
            <a:extLst xmlns:a="http://schemas.openxmlformats.org/drawingml/2006/main">
              <a:ext uri="{FF2B5EF4-FFF2-40B4-BE49-F238E27FC236}">
                <a16:creationId xmlns:a16="http://schemas.microsoft.com/office/drawing/2014/main" id="{665BAFA1-61EB-4635-9833-1F7349490180}"/>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2B42D15A-EBC0-49BE-8D03-AD9D0D37ED02}"/>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07</a:t>
            </a:r>
          </a:p>
        </p:txBody>
      </p:sp>
      <p:graphicFrame>
        <p:nvGraphicFramePr>
          <p:cNvPr id="15" name=""/>
          <p:cNvGraphicFramePr/>
          <p:nvPr/>
        </p:nvGraphicFramePr>
        <p:xfrm>
          <a:off xmlns:a="http://schemas.openxmlformats.org/drawingml/2006/main" x="609600" y="1714500"/>
          <a:ext xmlns:a="http://schemas.openxmlformats.org/drawingml/2006/main" cx="7000875" cy="4010025"/>
        </p:xfrm>
        <a:graphic xmlns:a="http://schemas.openxmlformats.org/drawingml/2006/main">
          <a:graphicData uri="http://schemas.openxmlformats.org/drawingml/2006/table">
            <a:tbl>
              <a:tblPr firstRow="0" bandRow="0"/>
              <a:tblGrid>
                <a:gridCol w="1666875"/>
                <a:gridCol w="5334000"/>
              </a:tblGrid>
              <a:tr h="668338">
                <a:tc>
                  <a:txBody>
                    <a:bodyPr>
                      <a:noAutofit/>
                    </a:bodyPr>
                    <a:lstStyle/>
                    <a:p>
                      <a:r>
                        <a:rPr sz="1800" b="1">
                          <a:solidFill>
                            <a:srgbClr val="FFFFFF"/>
                          </a:solidFill>
                          <a:latin typeface="Arial"/>
                          <a:ea typeface="Arial"/>
                          <a:cs typeface="Arial"/>
                        </a:rPr>
                        <a:t>Incremento</a:t>
                      </a:r>
                    </a:p>
                  </a:txBody>
                  <a:tcPr marL="142875" marR="142875" marT="95250" marB="85725" anchor="ctr">
                    <a:solidFill>
                      <a:srgbClr val="14263D"/>
                    </a:solidFill>
                  </a:tcPr>
                </a:tc>
                <a:tc>
                  <a:txBody>
                    <a:bodyPr>
                      <a:noAutofit/>
                    </a:bodyPr>
                    <a:lstStyle/>
                    <a:p>
                      <a:r>
                        <a:rPr sz="1800" b="1">
                          <a:solidFill>
                            <a:srgbClr val="FFFFFF"/>
                          </a:solidFill>
                          <a:latin typeface="Arial"/>
                          <a:ea typeface="Arial"/>
                          <a:cs typeface="Arial"/>
                        </a:rPr>
                        <a:t>Resultado integrado</a:t>
                      </a:r>
                    </a:p>
                  </a:txBody>
                  <a:tcPr marL="142875" marR="142875" marT="95250" marB="85725" anchor="ctr">
                    <a:solidFill>
                      <a:srgbClr val="14263D"/>
                    </a:solidFill>
                  </a:tcPr>
                </a:tc>
              </a:tr>
              <a:tr h="668338">
                <a:tc>
                  <a:txBody>
                    <a:bodyPr>
                      <a:noAutofit/>
                    </a:bodyPr>
                    <a:lstStyle/>
                    <a:p>
                      <a:r>
                        <a:rPr sz="1800" b="0">
                          <a:solidFill>
                            <a:srgbClr val="14263D"/>
                          </a:solidFill>
                          <a:latin typeface="Arial"/>
                          <a:ea typeface="Arial"/>
                          <a:cs typeface="Arial"/>
                        </a:rPr>
                        <a:t>S1</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Esqueleto autenticado</a:t>
                      </a:r>
                    </a:p>
                  </a:txBody>
                  <a:tcPr marL="142875" marR="142875" marT="95250" marB="85725" anchor="ctr">
                    <a:solidFill>
                      <a:srgbClr val="FFFFFF"/>
                    </a:solidFill>
                  </a:tcPr>
                </a:tc>
              </a:tr>
              <a:tr h="668338">
                <a:tc>
                  <a:txBody>
                    <a:bodyPr>
                      <a:noAutofit/>
                    </a:bodyPr>
                    <a:lstStyle/>
                    <a:p>
                      <a:r>
                        <a:rPr sz="1800" b="0">
                          <a:solidFill>
                            <a:srgbClr val="14263D"/>
                          </a:solidFill>
                          <a:latin typeface="Arial"/>
                          <a:ea typeface="Arial"/>
                          <a:cs typeface="Arial"/>
                        </a:rPr>
                        <a:t>S2–S3</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Catálogos, envíos y filtros</a:t>
                      </a:r>
                    </a:p>
                  </a:txBody>
                  <a:tcPr marL="142875" marR="142875" marT="95250" marB="85725" anchor="ctr">
                    <a:solidFill>
                      <a:srgbClr val="FFFFFF"/>
                    </a:solidFill>
                  </a:tcPr>
                </a:tc>
              </a:tr>
              <a:tr h="668338">
                <a:tc>
                  <a:txBody>
                    <a:bodyPr>
                      <a:noAutofit/>
                    </a:bodyPr>
                    <a:lstStyle/>
                    <a:p>
                      <a:r>
                        <a:rPr sz="1800" b="0">
                          <a:solidFill>
                            <a:srgbClr val="14263D"/>
                          </a:solidFill>
                          <a:latin typeface="Arial"/>
                          <a:ea typeface="Arial"/>
                          <a:cs typeface="Arial"/>
                        </a:rPr>
                        <a:t>S4–S5</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Asignación, estados e historial</a:t>
                      </a:r>
                    </a:p>
                  </a:txBody>
                  <a:tcPr marL="142875" marR="142875" marT="95250" marB="85725" anchor="ctr">
                    <a:solidFill>
                      <a:srgbClr val="FFFFFF"/>
                    </a:solidFill>
                  </a:tcPr>
                </a:tc>
              </a:tr>
              <a:tr h="668338">
                <a:tc>
                  <a:txBody>
                    <a:bodyPr>
                      <a:noAutofit/>
                    </a:bodyPr>
                    <a:lstStyle/>
                    <a:p>
                      <a:r>
                        <a:rPr sz="1800" b="0">
                          <a:solidFill>
                            <a:srgbClr val="14263D"/>
                          </a:solidFill>
                          <a:latin typeface="Arial"/>
                          <a:ea typeface="Arial"/>
                          <a:cs typeface="Arial"/>
                        </a:rPr>
                        <a:t>S6</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Usuarios e indicadores</a:t>
                      </a:r>
                    </a:p>
                  </a:txBody>
                  <a:tcPr marL="142875" marR="142875" marT="95250" marB="85725" anchor="ctr">
                    <a:solidFill>
                      <a:srgbClr val="FFFFFF"/>
                    </a:solidFill>
                  </a:tcPr>
                </a:tc>
              </a:tr>
              <a:tr h="668338">
                <a:tc>
                  <a:txBody>
                    <a:bodyPr>
                      <a:noAutofit/>
                    </a:bodyPr>
                    <a:lstStyle/>
                    <a:p>
                      <a:r>
                        <a:rPr sz="1800" b="0">
                          <a:solidFill>
                            <a:srgbClr val="14263D"/>
                          </a:solidFill>
                          <a:latin typeface="Arial"/>
                          <a:ea typeface="Arial"/>
                          <a:cs typeface="Arial"/>
                        </a:rPr>
                        <a:t>S7</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Endurecimiento, sistema y despliegue</a:t>
                      </a:r>
                    </a:p>
                  </a:txBody>
                  <a:tcPr marL="142875" marR="142875" marT="95250" marB="85725" anchor="ctr">
                    <a:solidFill>
                      <a:srgbClr val="FFFFFF"/>
                    </a:solidFill>
                  </a:tcPr>
                </a:tc>
              </a:tr>
            </a:tbl>
          </a:graphicData>
        </a:graphic>
      </p:graphicFrame>
      <p:sp>
        <p:nvSpPr>
          <p:cNvPr id="6" name="Definición de hecho">
            <a:extLst xmlns:a="http://schemas.openxmlformats.org/drawingml/2006/main">
              <a:ext uri="{FF2B5EF4-FFF2-40B4-BE49-F238E27FC236}">
                <a16:creationId xmlns:a16="http://schemas.microsoft.com/office/drawing/2014/main" id="{D32FCEF4-4B8B-4B16-A28D-B52D93CD9178}"/>
              </a:ext>
            </a:extLst>
          </p:cNvPr>
          <p:cNvSpPr>
            <a:spLocks xmlns:a="http://schemas.openxmlformats.org/drawingml/2006/main" noGrp="1"/>
          </p:cNvSpPr>
          <p:nvPr/>
        </p:nvSpPr>
        <p:spPr>
          <a:xfrm xmlns:a="http://schemas.openxmlformats.org/drawingml/2006/main">
            <a:off x="8153400" y="17430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Definición de hecho</a:t>
            </a:r>
          </a:p>
        </p:txBody>
      </p:sp>
      <p:sp>
        <p:nvSpPr>
          <p:cNvPr id="7" name="Flujo utilizable&#10;Pruebas y compilación&#10;Evidencia documentada">
            <a:extLst xmlns:a="http://schemas.openxmlformats.org/drawingml/2006/main">
              <a:ext uri="{FF2B5EF4-FFF2-40B4-BE49-F238E27FC236}">
                <a16:creationId xmlns:a16="http://schemas.microsoft.com/office/drawing/2014/main" id="{7EA85B2E-E66F-48BC-AE8B-DC92FE6390E7}"/>
              </a:ext>
            </a:extLst>
          </p:cNvPr>
          <p:cNvSpPr>
            <a:spLocks xmlns:a="http://schemas.openxmlformats.org/drawingml/2006/main" noGrp="1"/>
          </p:cNvSpPr>
          <p:nvPr/>
        </p:nvSpPr>
        <p:spPr>
          <a:xfrm xmlns:a="http://schemas.openxmlformats.org/drawingml/2006/main">
            <a:off x="8153400" y="2209800"/>
            <a:ext cx="333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4263D"/>
                </a:solidFill>
                <a:latin typeface="Arial"/>
                <a:ea typeface="Arial"/>
                <a:cs typeface="Arial"/>
              </a:defRPr>
            </a:pPr>
            <a:r>
              <a:rPr sz="2025" b="0">
                <a:solidFill>
                  <a:srgbClr val="14263D"/>
                </a:solidFill>
                <a:latin typeface="Arial"/>
                <a:ea typeface="Arial"/>
                <a:cs typeface="Arial"/>
              </a:rPr>
              <a:t>Flujo utilizable</a:t>
            </a:r>
          </a:p>
          <a:p xmlns:a="http://schemas.openxmlformats.org/drawingml/2006/main">
            <a:pPr algn="l">
              <a:defRPr sz="2025" b="0">
                <a:solidFill>
                  <a:srgbClr val="14263D"/>
                </a:solidFill>
                <a:latin typeface="Arial"/>
                <a:ea typeface="Arial"/>
                <a:cs typeface="Arial"/>
              </a:defRPr>
            </a:pPr>
            <a:r>
              <a:rPr sz="2025" b="0">
                <a:solidFill>
                  <a:srgbClr val="14263D"/>
                </a:solidFill>
                <a:latin typeface="Arial"/>
                <a:ea typeface="Arial"/>
                <a:cs typeface="Arial"/>
              </a:rPr>
              <a:t>Pruebas y compilación</a:t>
            </a:r>
          </a:p>
          <a:p xmlns:a="http://schemas.openxmlformats.org/drawingml/2006/main">
            <a:pPr algn="l">
              <a:defRPr sz="2025" b="0">
                <a:solidFill>
                  <a:srgbClr val="14263D"/>
                </a:solidFill>
                <a:latin typeface="Arial"/>
                <a:ea typeface="Arial"/>
                <a:cs typeface="Arial"/>
              </a:defRPr>
            </a:pPr>
            <a:r>
              <a:rPr sz="2025" b="0">
                <a:solidFill>
                  <a:srgbClr val="14263D"/>
                </a:solidFill>
                <a:latin typeface="Arial"/>
                <a:ea typeface="Arial"/>
                <a:cs typeface="Arial"/>
              </a:rPr>
              <a:t>Evidencia documentada</a:t>
            </a:r>
          </a:p>
        </p:txBody>
      </p:sp>
      <p:sp>
        <p:nvSpPr>
          <p:cNvPr id="8" name="Decisión de diseño">
            <a:extLst xmlns:a="http://schemas.openxmlformats.org/drawingml/2006/main">
              <a:ext uri="{FF2B5EF4-FFF2-40B4-BE49-F238E27FC236}">
                <a16:creationId xmlns:a16="http://schemas.microsoft.com/office/drawing/2014/main" id="{BFB6B1EB-70DA-4E93-B5DD-C40093474BD5}"/>
              </a:ext>
            </a:extLst>
          </p:cNvPr>
          <p:cNvSpPr>
            <a:spLocks xmlns:a="http://schemas.openxmlformats.org/drawingml/2006/main" noGrp="1"/>
          </p:cNvSpPr>
          <p:nvPr/>
        </p:nvSpPr>
        <p:spPr>
          <a:xfrm xmlns:a="http://schemas.openxmlformats.org/drawingml/2006/main">
            <a:off x="8153400" y="4210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156A5"/>
                </a:solidFill>
                <a:latin typeface="Arial"/>
                <a:ea typeface="Arial"/>
                <a:cs typeface="Arial"/>
              </a:defRPr>
            </a:pPr>
            <a:r>
              <a:rPr sz="1650" b="1">
                <a:solidFill>
                  <a:srgbClr val="2156A5"/>
                </a:solidFill>
                <a:latin typeface="Arial"/>
                <a:ea typeface="Arial"/>
                <a:cs typeface="Arial"/>
              </a:rPr>
              <a:t>Decisión de diseño</a:t>
            </a:r>
          </a:p>
        </p:txBody>
      </p:sp>
      <p:sp>
        <p:nvSpPr>
          <p:cNvPr id="9" name="Modelo conceptual completo&#10;y esquema físico incremental">
            <a:extLst xmlns:a="http://schemas.openxmlformats.org/drawingml/2006/main">
              <a:ext uri="{FF2B5EF4-FFF2-40B4-BE49-F238E27FC236}">
                <a16:creationId xmlns:a16="http://schemas.microsoft.com/office/drawing/2014/main" id="{432D82EB-6A87-4FD8-96DF-8F3EFBC844DF}"/>
              </a:ext>
            </a:extLst>
          </p:cNvPr>
          <p:cNvSpPr>
            <a:spLocks xmlns:a="http://schemas.openxmlformats.org/drawingml/2006/main" noGrp="1"/>
          </p:cNvSpPr>
          <p:nvPr/>
        </p:nvSpPr>
        <p:spPr>
          <a:xfrm xmlns:a="http://schemas.openxmlformats.org/drawingml/2006/main">
            <a:off x="8153400" y="46863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4263D"/>
                </a:solidFill>
                <a:latin typeface="Arial"/>
                <a:ea typeface="Arial"/>
                <a:cs typeface="Arial"/>
              </a:defRPr>
            </a:pPr>
            <a:r>
              <a:rPr sz="2025" b="0">
                <a:solidFill>
                  <a:srgbClr val="14263D"/>
                </a:solidFill>
                <a:latin typeface="Arial"/>
                <a:ea typeface="Arial"/>
                <a:cs typeface="Arial"/>
              </a:rPr>
              <a:t>Modelo conceptual completo</a:t>
            </a:r>
          </a:p>
          <a:p xmlns:a="http://schemas.openxmlformats.org/drawingml/2006/main">
            <a:pPr algn="l">
              <a:defRPr sz="2025" b="0">
                <a:solidFill>
                  <a:srgbClr val="14263D"/>
                </a:solidFill>
                <a:latin typeface="Arial"/>
                <a:ea typeface="Arial"/>
                <a:cs typeface="Arial"/>
              </a:defRPr>
            </a:pPr>
            <a:r>
              <a:rPr sz="2025" b="0">
                <a:solidFill>
                  <a:srgbClr val="14263D"/>
                </a:solidFill>
                <a:latin typeface="Arial"/>
                <a:ea typeface="Arial"/>
                <a:cs typeface="Arial"/>
              </a:rPr>
              <a:t>y esquema físico incremental</a:t>
            </a:r>
          </a:p>
        </p:txBody>
      </p:sp>
      <p:sp>
        <p:nvSpPr>
          <p:cNvPr id="10" name="Rebanadas verticales adaptadas a un proyecto individual. Mem">
            <a:extLst xmlns:a="http://schemas.openxmlformats.org/drawingml/2006/main">
              <a:ext uri="{FF2B5EF4-FFF2-40B4-BE49-F238E27FC236}">
                <a16:creationId xmlns:a16="http://schemas.microsoft.com/office/drawing/2014/main" id="{440DDFC9-AB21-4708-98CB-86B4AF2E3D23}"/>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Rebanadas verticales adaptadas a un proyecto individual. Memoria, pp. 9–14.</a:t>
            </a:r>
          </a:p>
        </p:txBody>
      </p:sp>
    </p:spTree>
    <p:extLst>
      <p:ext uri="{BB962C8B-B14F-4D97-AF65-F5344CB8AC3E}">
        <p14:creationId xmlns:p14="http://schemas.microsoft.com/office/powerpoint/2010/main" val="14015477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4 · DISEÑO Y ARQUITECTURA">
            <a:extLst xmlns:a="http://schemas.openxmlformats.org/drawingml/2006/main">
              <a:ext uri="{FF2B5EF4-FFF2-40B4-BE49-F238E27FC236}">
                <a16:creationId xmlns:a16="http://schemas.microsoft.com/office/drawing/2014/main" id="{84A508E9-79F6-4E80-B7C3-A76C866F7D7B}"/>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04 · DISEÑO Y ARQUITECTURA</a:t>
            </a:r>
          </a:p>
        </p:txBody>
      </p:sp>
      <p:sp>
        <p:nvSpPr>
          <p:cNvPr id="2" name="Arquitectura del sistema">
            <a:extLst xmlns:a="http://schemas.openxmlformats.org/drawingml/2006/main">
              <a:ext uri="{FF2B5EF4-FFF2-40B4-BE49-F238E27FC236}">
                <a16:creationId xmlns:a16="http://schemas.microsoft.com/office/drawing/2014/main" id="{2523FC9B-525C-4CD1-9942-F9F62B1F04D0}"/>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Arquitectura del sistema</a:t>
            </a:r>
          </a:p>
        </p:txBody>
      </p:sp>
      <p:sp>
        <p:nvSpPr>
          <p:cNvPr id="3" name="">
            <a:extLst xmlns:a="http://schemas.openxmlformats.org/drawingml/2006/main">
              <a:ext uri="{FF2B5EF4-FFF2-40B4-BE49-F238E27FC236}">
                <a16:creationId xmlns:a16="http://schemas.microsoft.com/office/drawing/2014/main" id="{D6A95D36-82D6-4C17-B292-B70C5215C450}"/>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2544299B-2AEE-400F-93C3-DC91259840C9}"/>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08</a:t>
            </a:r>
          </a:p>
        </p:txBody>
      </p:sp>
      <p:sp>
        <p:nvSpPr>
          <p:cNvPr id="5" name="React + TypeScript     ASP.NET Core / .NET 10     PostgreSQL">
            <a:extLst xmlns:a="http://schemas.openxmlformats.org/drawingml/2006/main">
              <a:ext uri="{FF2B5EF4-FFF2-40B4-BE49-F238E27FC236}">
                <a16:creationId xmlns:a16="http://schemas.microsoft.com/office/drawing/2014/main" id="{B3BC2E9A-4C01-4313-B237-4FA086DDB224}"/>
              </a:ext>
            </a:extLst>
          </p:cNvPr>
          <p:cNvSpPr>
            <a:spLocks xmlns:a="http://schemas.openxmlformats.org/drawingml/2006/main" noGrp="1"/>
          </p:cNvSpPr>
          <p:nvPr/>
        </p:nvSpPr>
        <p:spPr>
          <a:xfrm xmlns:a="http://schemas.openxmlformats.org/drawingml/2006/main">
            <a:off x="609600" y="15335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156A5"/>
                </a:solidFill>
                <a:latin typeface="Arial"/>
                <a:ea typeface="Arial"/>
                <a:cs typeface="Arial"/>
              </a:defRPr>
            </a:pPr>
            <a:r>
              <a:rPr sz="2025" b="0">
                <a:solidFill>
                  <a:srgbClr val="2156A5"/>
                </a:solidFill>
                <a:latin typeface="Arial"/>
                <a:ea typeface="Arial"/>
                <a:cs typeface="Arial"/>
              </a:rPr>
              <a:t>React + TypeScript     ASP.NET Core / .NET 10     PostgreSQL + EF Core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d5fd7ba0b3f448c"/>
          <a:stretch xmlns:a="http://schemas.openxmlformats.org/drawingml/2006/main"/>
        </p:blipFill>
        <p:spPr>
          <a:xfrm xmlns:a="http://schemas.openxmlformats.org/drawingml/2006/main">
            <a:off x="1873832" y="2076450"/>
            <a:ext cx="8444336" cy="3476625"/>
          </a:xfrm>
          <a:prstGeom xmlns:a="http://schemas.openxmlformats.org/drawingml/2006/main" prst="rect">
            <a:avLst/>
          </a:prstGeom>
        </p:spPr>
      </p:pic>
      <p:sp>
        <p:nvSpPr>
          <p:cNvPr id="7" name="La API concentra autorización, validación y reglas de negoci">
            <a:extLst xmlns:a="http://schemas.openxmlformats.org/drawingml/2006/main">
              <a:ext uri="{FF2B5EF4-FFF2-40B4-BE49-F238E27FC236}">
                <a16:creationId xmlns:a16="http://schemas.microsoft.com/office/drawing/2014/main" id="{915D3D59-0366-4575-BBD3-505554CEB02A}"/>
              </a:ext>
            </a:extLst>
          </p:cNvPr>
          <p:cNvSpPr>
            <a:spLocks xmlns:a="http://schemas.openxmlformats.org/drawingml/2006/main" noGrp="1"/>
          </p:cNvSpPr>
          <p:nvPr/>
        </p:nvSpPr>
        <p:spPr>
          <a:xfrm xmlns:a="http://schemas.openxmlformats.org/drawingml/2006/main">
            <a:off x="609600" y="57150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263D"/>
                </a:solidFill>
                <a:latin typeface="Arial"/>
                <a:ea typeface="Arial"/>
                <a:cs typeface="Arial"/>
              </a:defRPr>
            </a:pPr>
            <a:r>
              <a:rPr sz="2100" b="1">
                <a:solidFill>
                  <a:srgbClr val="14263D"/>
                </a:solidFill>
                <a:latin typeface="Arial"/>
                <a:ea typeface="Arial"/>
                <a:cs typeface="Arial"/>
              </a:rPr>
              <a:t>La API concentra autorización, validación y reglas de negocio</a:t>
            </a:r>
          </a:p>
        </p:txBody>
      </p:sp>
      <p:sp>
        <p:nvSpPr>
          <p:cNvPr id="8" name="Figura 5.1 de la memoria, p. 22. Nginx mantiene un único ori">
            <a:extLst xmlns:a="http://schemas.openxmlformats.org/drawingml/2006/main">
              <a:ext uri="{FF2B5EF4-FFF2-40B4-BE49-F238E27FC236}">
                <a16:creationId xmlns:a16="http://schemas.microsoft.com/office/drawing/2014/main" id="{BA273BB9-742C-4587-AC4F-736FC69B378C}"/>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Figura 5.1 de la memoria, p. 22. Nginx mantiene un único origen para la SPA y /api.</a:t>
            </a:r>
          </a:p>
        </p:txBody>
      </p:sp>
    </p:spTree>
    <p:extLst>
      <p:ext uri="{BB962C8B-B14F-4D97-AF65-F5344CB8AC3E}">
        <p14:creationId xmlns:p14="http://schemas.microsoft.com/office/powerpoint/2010/main" val="13478052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4 · DISEÑO Y ARQUITECTURA">
            <a:extLst xmlns:a="http://schemas.openxmlformats.org/drawingml/2006/main">
              <a:ext uri="{FF2B5EF4-FFF2-40B4-BE49-F238E27FC236}">
                <a16:creationId xmlns:a16="http://schemas.microsoft.com/office/drawing/2014/main" id="{D602564D-B6E5-46B7-B34D-9BFEAC532D39}"/>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04 · DISEÑO Y ARQUITECTURA</a:t>
            </a:r>
          </a:p>
        </p:txBody>
      </p:sp>
      <p:sp>
        <p:nvSpPr>
          <p:cNvPr id="2" name="Modelo y reglas del dominio">
            <a:extLst xmlns:a="http://schemas.openxmlformats.org/drawingml/2006/main">
              <a:ext uri="{FF2B5EF4-FFF2-40B4-BE49-F238E27FC236}">
                <a16:creationId xmlns:a16="http://schemas.microsoft.com/office/drawing/2014/main" id="{F22CB3A7-9B05-445A-AFC6-3D4021CC5465}"/>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Modelo y reglas del dominio</a:t>
            </a:r>
          </a:p>
        </p:txBody>
      </p:sp>
      <p:sp>
        <p:nvSpPr>
          <p:cNvPr id="3" name="">
            <a:extLst xmlns:a="http://schemas.openxmlformats.org/drawingml/2006/main">
              <a:ext uri="{FF2B5EF4-FFF2-40B4-BE49-F238E27FC236}">
                <a16:creationId xmlns:a16="http://schemas.microsoft.com/office/drawing/2014/main" id="{F927BFCA-7C3E-427C-9ABE-6D80CF3B41E6}"/>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10BAFAB9-2856-4F12-86D0-6FDCF676456A}"/>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09</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57e564962924963"/>
          <a:stretch xmlns:a="http://schemas.openxmlformats.org/drawingml/2006/main"/>
        </p:blipFill>
        <p:spPr>
          <a:xfrm xmlns:a="http://schemas.openxmlformats.org/drawingml/2006/main">
            <a:off x="609600" y="2155359"/>
            <a:ext cx="7239000" cy="2337732"/>
          </a:xfrm>
          <a:prstGeom xmlns:a="http://schemas.openxmlformats.org/drawingml/2006/main" prst="rect">
            <a:avLst/>
          </a:prstGeom>
        </p:spPr>
      </p:pic>
      <p:sp>
        <p:nvSpPr>
          <p:cNvPr id="6" name="Envío como núcleo">
            <a:extLst xmlns:a="http://schemas.openxmlformats.org/drawingml/2006/main">
              <a:ext uri="{FF2B5EF4-FFF2-40B4-BE49-F238E27FC236}">
                <a16:creationId xmlns:a16="http://schemas.microsoft.com/office/drawing/2014/main" id="{534D0814-3A68-4A7F-843D-2EB2B0CDDFF7}"/>
              </a:ext>
            </a:extLst>
          </p:cNvPr>
          <p:cNvSpPr>
            <a:spLocks xmlns:a="http://schemas.openxmlformats.org/drawingml/2006/main" noGrp="1"/>
          </p:cNvSpPr>
          <p:nvPr/>
        </p:nvSpPr>
        <p:spPr>
          <a:xfrm xmlns:a="http://schemas.openxmlformats.org/drawingml/2006/main">
            <a:off x="8267700" y="17240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Envío como núcleo</a:t>
            </a:r>
          </a:p>
        </p:txBody>
      </p:sp>
      <p:sp>
        <p:nvSpPr>
          <p:cNvPr id="7" name="Cliente opcional y pareja de vehículo y conductor.">
            <a:extLst xmlns:a="http://schemas.openxmlformats.org/drawingml/2006/main">
              <a:ext uri="{FF2B5EF4-FFF2-40B4-BE49-F238E27FC236}">
                <a16:creationId xmlns:a16="http://schemas.microsoft.com/office/drawing/2014/main" id="{E019B210-296D-47B5-B2DE-1A89C167101E}"/>
              </a:ext>
            </a:extLst>
          </p:cNvPr>
          <p:cNvSpPr>
            <a:spLocks xmlns:a="http://schemas.openxmlformats.org/drawingml/2006/main" noGrp="1"/>
          </p:cNvSpPr>
          <p:nvPr/>
        </p:nvSpPr>
        <p:spPr>
          <a:xfrm xmlns:a="http://schemas.openxmlformats.org/drawingml/2006/main">
            <a:off x="8267700" y="21717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63D"/>
                </a:solidFill>
                <a:latin typeface="Arial"/>
                <a:ea typeface="Arial"/>
                <a:cs typeface="Arial"/>
              </a:defRPr>
            </a:pPr>
            <a:r>
              <a:rPr sz="1875" b="0">
                <a:solidFill>
                  <a:srgbClr val="14263D"/>
                </a:solidFill>
                <a:latin typeface="Arial"/>
                <a:ea typeface="Arial"/>
                <a:cs typeface="Arial"/>
              </a:rPr>
              <a:t>Cliente opcional y pareja de vehículo y conductor.</a:t>
            </a:r>
          </a:p>
        </p:txBody>
      </p:sp>
      <p:sp>
        <p:nvSpPr>
          <p:cNvPr id="8" name="Historia preservada">
            <a:extLst xmlns:a="http://schemas.openxmlformats.org/drawingml/2006/main">
              <a:ext uri="{FF2B5EF4-FFF2-40B4-BE49-F238E27FC236}">
                <a16:creationId xmlns:a16="http://schemas.microsoft.com/office/drawing/2014/main" id="{A2494992-0234-4A33-BD7B-6CAE24AA562F}"/>
              </a:ext>
            </a:extLst>
          </p:cNvPr>
          <p:cNvSpPr>
            <a:spLocks xmlns:a="http://schemas.openxmlformats.org/drawingml/2006/main" noGrp="1"/>
          </p:cNvSpPr>
          <p:nvPr/>
        </p:nvSpPr>
        <p:spPr>
          <a:xfrm xmlns:a="http://schemas.openxmlformats.org/drawingml/2006/main">
            <a:off x="8267700" y="32861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Historia preservada</a:t>
            </a:r>
          </a:p>
        </p:txBody>
      </p:sp>
      <p:sp>
        <p:nvSpPr>
          <p:cNvPr id="9" name="Baja lógica en catálogos y usuarios. Eventos sin edición ni ">
            <a:extLst xmlns:a="http://schemas.openxmlformats.org/drawingml/2006/main">
              <a:ext uri="{FF2B5EF4-FFF2-40B4-BE49-F238E27FC236}">
                <a16:creationId xmlns:a16="http://schemas.microsoft.com/office/drawing/2014/main" id="{AC71B4C1-29A3-4458-A399-5F701A1C5BD0}"/>
              </a:ext>
            </a:extLst>
          </p:cNvPr>
          <p:cNvSpPr>
            <a:spLocks xmlns:a="http://schemas.openxmlformats.org/drawingml/2006/main" noGrp="1"/>
          </p:cNvSpPr>
          <p:nvPr/>
        </p:nvSpPr>
        <p:spPr>
          <a:xfrm xmlns:a="http://schemas.openxmlformats.org/drawingml/2006/main">
            <a:off x="8267700" y="3733800"/>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63D"/>
                </a:solidFill>
                <a:latin typeface="Arial"/>
                <a:ea typeface="Arial"/>
                <a:cs typeface="Arial"/>
              </a:defRPr>
            </a:pPr>
            <a:r>
              <a:rPr sz="1875" b="0">
                <a:solidFill>
                  <a:srgbClr val="14263D"/>
                </a:solidFill>
                <a:latin typeface="Arial"/>
                <a:ea typeface="Arial"/>
                <a:cs typeface="Arial"/>
              </a:rPr>
              <a:t>Baja lógica en catálogos y usuarios. Eventos sin edición ni borrado.</a:t>
            </a:r>
          </a:p>
        </p:txBody>
      </p:sp>
      <p:sp>
        <p:nvSpPr>
          <p:cNvPr id="10" name="Las invariantes críticas también se refuerzan en PostgreSQL">
            <a:extLst xmlns:a="http://schemas.openxmlformats.org/drawingml/2006/main">
              <a:ext uri="{FF2B5EF4-FFF2-40B4-BE49-F238E27FC236}">
                <a16:creationId xmlns:a16="http://schemas.microsoft.com/office/drawing/2014/main" id="{FDF533D4-F540-42EA-A034-4DBCA075E13E}"/>
              </a:ext>
            </a:extLst>
          </p:cNvPr>
          <p:cNvSpPr>
            <a:spLocks xmlns:a="http://schemas.openxmlformats.org/drawingml/2006/main" noGrp="1"/>
          </p:cNvSpPr>
          <p:nvPr/>
        </p:nvSpPr>
        <p:spPr>
          <a:xfrm xmlns:a="http://schemas.openxmlformats.org/drawingml/2006/main">
            <a:off x="609600" y="53435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156A5"/>
                </a:solidFill>
                <a:latin typeface="Arial"/>
                <a:ea typeface="Arial"/>
                <a:cs typeface="Arial"/>
              </a:defRPr>
            </a:pPr>
            <a:r>
              <a:rPr sz="2175" b="1">
                <a:solidFill>
                  <a:srgbClr val="2156A5"/>
                </a:solidFill>
                <a:latin typeface="Arial"/>
                <a:ea typeface="Arial"/>
                <a:cs typeface="Arial"/>
              </a:rPr>
              <a:t>Las invariantes críticas también se refuerzan en PostgreSQL</a:t>
            </a:r>
          </a:p>
        </p:txBody>
      </p:sp>
      <p:sp>
        <p:nvSpPr>
          <p:cNvPr id="11" name="Figura 5.2, p. 23. Esquema resumido, sin todos los campos e ">
            <a:extLst xmlns:a="http://schemas.openxmlformats.org/drawingml/2006/main">
              <a:ext uri="{FF2B5EF4-FFF2-40B4-BE49-F238E27FC236}">
                <a16:creationId xmlns:a16="http://schemas.microsoft.com/office/drawing/2014/main" id="{A135282C-789E-4F75-9638-463E02E3DC03}"/>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Figura 5.2, p. 23. Esquema resumido, sin todos los campos e índices finales.</a:t>
            </a:r>
          </a:p>
        </p:txBody>
      </p:sp>
    </p:spTree>
    <p:extLst>
      <p:ext uri="{BB962C8B-B14F-4D97-AF65-F5344CB8AC3E}">
        <p14:creationId xmlns:p14="http://schemas.microsoft.com/office/powerpoint/2010/main" val="5343951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05 · DEMOSTRACIÓN FUNCIONAL">
            <a:extLst xmlns:a="http://schemas.openxmlformats.org/drawingml/2006/main">
              <a:ext uri="{FF2B5EF4-FFF2-40B4-BE49-F238E27FC236}">
                <a16:creationId xmlns:a16="http://schemas.microsoft.com/office/drawing/2014/main" id="{F0BEE112-5F39-4892-8231-8A37CB7DE313}"/>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05 · DEMOSTRACIÓN FUNCIONAL</a:t>
            </a:r>
          </a:p>
        </p:txBody>
      </p:sp>
      <p:sp>
        <p:nvSpPr>
          <p:cNvPr id="2" name="Flujo operativo completo">
            <a:extLst xmlns:a="http://schemas.openxmlformats.org/drawingml/2006/main">
              <a:ext uri="{FF2B5EF4-FFF2-40B4-BE49-F238E27FC236}">
                <a16:creationId xmlns:a16="http://schemas.microsoft.com/office/drawing/2014/main" id="{DFF0FD2B-479C-481F-9E83-9200E4CCC068}"/>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Flujo operativo completo</a:t>
            </a:r>
          </a:p>
        </p:txBody>
      </p:sp>
      <p:sp>
        <p:nvSpPr>
          <p:cNvPr id="3" name="">
            <a:extLst xmlns:a="http://schemas.openxmlformats.org/drawingml/2006/main">
              <a:ext uri="{FF2B5EF4-FFF2-40B4-BE49-F238E27FC236}">
                <a16:creationId xmlns:a16="http://schemas.microsoft.com/office/drawing/2014/main" id="{E63F91D3-15EF-49F0-8C09-396B3C2BDE4E}"/>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CB0B182E-942D-4B48-B503-407D72F23966}"/>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10</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c571ac36a114d2b"/>
          <a:stretch xmlns:a="http://schemas.openxmlformats.org/drawingml/2006/main"/>
        </p:blipFill>
        <p:spPr>
          <a:xfrm xmlns:a="http://schemas.openxmlformats.org/drawingml/2006/main">
            <a:off x="1906233" y="1628775"/>
            <a:ext cx="8379535" cy="2943225"/>
          </a:xfrm>
          <a:prstGeom xmlns:a="http://schemas.openxmlformats.org/drawingml/2006/main" prst="rect">
            <a:avLst/>
          </a:prstGeom>
        </p:spPr>
      </p:pic>
      <p:sp>
        <p:nvSpPr>
          <p:cNvPr id="6" name="1">
            <a:extLst xmlns:a="http://schemas.openxmlformats.org/drawingml/2006/main">
              <a:ext uri="{FF2B5EF4-FFF2-40B4-BE49-F238E27FC236}">
                <a16:creationId xmlns:a16="http://schemas.microsoft.com/office/drawing/2014/main" id="{3C83DB89-39E1-4E00-9FB6-C92C50C3BD32}"/>
              </a:ext>
            </a:extLst>
          </p:cNvPr>
          <p:cNvSpPr>
            <a:spLocks xmlns:a="http://schemas.openxmlformats.org/drawingml/2006/main" noGrp="1"/>
          </p:cNvSpPr>
          <p:nvPr/>
        </p:nvSpPr>
        <p:spPr>
          <a:xfrm xmlns:a="http://schemas.openxmlformats.org/drawingml/2006/main">
            <a:off x="609600" y="5019675"/>
            <a:ext cx="40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C0007F"/>
                </a:solidFill>
                <a:latin typeface="Arial"/>
                <a:ea typeface="Arial"/>
                <a:cs typeface="Arial"/>
              </a:defRPr>
            </a:pPr>
            <a:r>
              <a:rPr sz="2025" b="1">
                <a:solidFill>
                  <a:srgbClr val="C0007F"/>
                </a:solidFill>
                <a:latin typeface="Arial"/>
                <a:ea typeface="Arial"/>
                <a:cs typeface="Arial"/>
              </a:rPr>
              <a:t>1</a:t>
            </a:r>
          </a:p>
        </p:txBody>
      </p:sp>
      <p:sp>
        <p:nvSpPr>
          <p:cNvPr id="7" name="Preparar catálogos">
            <a:extLst xmlns:a="http://schemas.openxmlformats.org/drawingml/2006/main">
              <a:ext uri="{FF2B5EF4-FFF2-40B4-BE49-F238E27FC236}">
                <a16:creationId xmlns:a16="http://schemas.microsoft.com/office/drawing/2014/main" id="{A29F85E3-503A-48E6-A999-6DAA9413885B}"/>
              </a:ext>
            </a:extLst>
          </p:cNvPr>
          <p:cNvSpPr>
            <a:spLocks xmlns:a="http://schemas.openxmlformats.org/drawingml/2006/main" noGrp="1"/>
          </p:cNvSpPr>
          <p:nvPr/>
        </p:nvSpPr>
        <p:spPr>
          <a:xfrm xmlns:a="http://schemas.openxmlformats.org/drawingml/2006/main">
            <a:off x="1028700" y="5019675"/>
            <a:ext cx="171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4263D"/>
                </a:solidFill>
                <a:latin typeface="Arial"/>
                <a:ea typeface="Arial"/>
                <a:cs typeface="Arial"/>
              </a:defRPr>
            </a:pPr>
            <a:r>
              <a:rPr sz="1725" b="1">
                <a:solidFill>
                  <a:srgbClr val="14263D"/>
                </a:solidFill>
                <a:latin typeface="Arial"/>
                <a:ea typeface="Arial"/>
                <a:cs typeface="Arial"/>
              </a:rPr>
              <a:t>Preparar catálogos</a:t>
            </a:r>
          </a:p>
        </p:txBody>
      </p:sp>
      <p:sp>
        <p:nvSpPr>
          <p:cNvPr id="8" name="2">
            <a:extLst xmlns:a="http://schemas.openxmlformats.org/drawingml/2006/main">
              <a:ext uri="{FF2B5EF4-FFF2-40B4-BE49-F238E27FC236}">
                <a16:creationId xmlns:a16="http://schemas.microsoft.com/office/drawing/2014/main" id="{2B7FFD2C-2615-4C1B-88C7-68C4B4B1581F}"/>
              </a:ext>
            </a:extLst>
          </p:cNvPr>
          <p:cNvSpPr>
            <a:spLocks xmlns:a="http://schemas.openxmlformats.org/drawingml/2006/main" noGrp="1"/>
          </p:cNvSpPr>
          <p:nvPr/>
        </p:nvSpPr>
        <p:spPr>
          <a:xfrm xmlns:a="http://schemas.openxmlformats.org/drawingml/2006/main">
            <a:off x="2800350" y="5019675"/>
            <a:ext cx="40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C0007F"/>
                </a:solidFill>
                <a:latin typeface="Arial"/>
                <a:ea typeface="Arial"/>
                <a:cs typeface="Arial"/>
              </a:defRPr>
            </a:pPr>
            <a:r>
              <a:rPr sz="2025" b="1">
                <a:solidFill>
                  <a:srgbClr val="C0007F"/>
                </a:solidFill>
                <a:latin typeface="Arial"/>
                <a:ea typeface="Arial"/>
                <a:cs typeface="Arial"/>
              </a:rPr>
              <a:t>2</a:t>
            </a:r>
          </a:p>
        </p:txBody>
      </p:sp>
      <p:sp>
        <p:nvSpPr>
          <p:cNvPr id="9" name="Crear el envío">
            <a:extLst xmlns:a="http://schemas.openxmlformats.org/drawingml/2006/main">
              <a:ext uri="{FF2B5EF4-FFF2-40B4-BE49-F238E27FC236}">
                <a16:creationId xmlns:a16="http://schemas.microsoft.com/office/drawing/2014/main" id="{86C73980-DA2E-4621-B261-C9915A5ED117}"/>
              </a:ext>
            </a:extLst>
          </p:cNvPr>
          <p:cNvSpPr>
            <a:spLocks xmlns:a="http://schemas.openxmlformats.org/drawingml/2006/main" noGrp="1"/>
          </p:cNvSpPr>
          <p:nvPr/>
        </p:nvSpPr>
        <p:spPr>
          <a:xfrm xmlns:a="http://schemas.openxmlformats.org/drawingml/2006/main">
            <a:off x="3219450" y="5019675"/>
            <a:ext cx="171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4263D"/>
                </a:solidFill>
                <a:latin typeface="Arial"/>
                <a:ea typeface="Arial"/>
                <a:cs typeface="Arial"/>
              </a:defRPr>
            </a:pPr>
            <a:r>
              <a:rPr sz="1725" b="1">
                <a:solidFill>
                  <a:srgbClr val="14263D"/>
                </a:solidFill>
                <a:latin typeface="Arial"/>
                <a:ea typeface="Arial"/>
                <a:cs typeface="Arial"/>
              </a:rPr>
              <a:t>Crear el envío</a:t>
            </a:r>
          </a:p>
        </p:txBody>
      </p:sp>
      <p:sp>
        <p:nvSpPr>
          <p:cNvPr id="10" name="3">
            <a:extLst xmlns:a="http://schemas.openxmlformats.org/drawingml/2006/main">
              <a:ext uri="{FF2B5EF4-FFF2-40B4-BE49-F238E27FC236}">
                <a16:creationId xmlns:a16="http://schemas.microsoft.com/office/drawing/2014/main" id="{E3403FDE-2E46-4FB4-BA69-ADC5669400ED}"/>
              </a:ext>
            </a:extLst>
          </p:cNvPr>
          <p:cNvSpPr>
            <a:spLocks xmlns:a="http://schemas.openxmlformats.org/drawingml/2006/main" noGrp="1"/>
          </p:cNvSpPr>
          <p:nvPr/>
        </p:nvSpPr>
        <p:spPr>
          <a:xfrm xmlns:a="http://schemas.openxmlformats.org/drawingml/2006/main">
            <a:off x="4991100" y="5019675"/>
            <a:ext cx="40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C0007F"/>
                </a:solidFill>
                <a:latin typeface="Arial"/>
                <a:ea typeface="Arial"/>
                <a:cs typeface="Arial"/>
              </a:defRPr>
            </a:pPr>
            <a:r>
              <a:rPr sz="2025" b="1">
                <a:solidFill>
                  <a:srgbClr val="C0007F"/>
                </a:solidFill>
                <a:latin typeface="Arial"/>
                <a:ea typeface="Arial"/>
                <a:cs typeface="Arial"/>
              </a:rPr>
              <a:t>3</a:t>
            </a:r>
          </a:p>
        </p:txBody>
      </p:sp>
      <p:sp>
        <p:nvSpPr>
          <p:cNvPr id="11" name="Asignar recursos">
            <a:extLst xmlns:a="http://schemas.openxmlformats.org/drawingml/2006/main">
              <a:ext uri="{FF2B5EF4-FFF2-40B4-BE49-F238E27FC236}">
                <a16:creationId xmlns:a16="http://schemas.microsoft.com/office/drawing/2014/main" id="{7123BA4E-3A98-41DC-920D-7CF9E9D3EB2D}"/>
              </a:ext>
            </a:extLst>
          </p:cNvPr>
          <p:cNvSpPr>
            <a:spLocks xmlns:a="http://schemas.openxmlformats.org/drawingml/2006/main" noGrp="1"/>
          </p:cNvSpPr>
          <p:nvPr/>
        </p:nvSpPr>
        <p:spPr>
          <a:xfrm xmlns:a="http://schemas.openxmlformats.org/drawingml/2006/main">
            <a:off x="5410200" y="5019675"/>
            <a:ext cx="171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4263D"/>
                </a:solidFill>
                <a:latin typeface="Arial"/>
                <a:ea typeface="Arial"/>
                <a:cs typeface="Arial"/>
              </a:defRPr>
            </a:pPr>
            <a:r>
              <a:rPr sz="1725" b="1">
                <a:solidFill>
                  <a:srgbClr val="14263D"/>
                </a:solidFill>
                <a:latin typeface="Arial"/>
                <a:ea typeface="Arial"/>
                <a:cs typeface="Arial"/>
              </a:rPr>
              <a:t>Asignar recursos</a:t>
            </a:r>
          </a:p>
        </p:txBody>
      </p:sp>
      <p:sp>
        <p:nvSpPr>
          <p:cNvPr id="12" name="4">
            <a:extLst xmlns:a="http://schemas.openxmlformats.org/drawingml/2006/main">
              <a:ext uri="{FF2B5EF4-FFF2-40B4-BE49-F238E27FC236}">
                <a16:creationId xmlns:a16="http://schemas.microsoft.com/office/drawing/2014/main" id="{579262CC-5C31-428E-AE3B-C892E42736F6}"/>
              </a:ext>
            </a:extLst>
          </p:cNvPr>
          <p:cNvSpPr>
            <a:spLocks xmlns:a="http://schemas.openxmlformats.org/drawingml/2006/main" noGrp="1"/>
          </p:cNvSpPr>
          <p:nvPr/>
        </p:nvSpPr>
        <p:spPr>
          <a:xfrm xmlns:a="http://schemas.openxmlformats.org/drawingml/2006/main">
            <a:off x="7181850" y="5019675"/>
            <a:ext cx="40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C0007F"/>
                </a:solidFill>
                <a:latin typeface="Arial"/>
                <a:ea typeface="Arial"/>
                <a:cs typeface="Arial"/>
              </a:defRPr>
            </a:pPr>
            <a:r>
              <a:rPr sz="2025" b="1">
                <a:solidFill>
                  <a:srgbClr val="C0007F"/>
                </a:solidFill>
                <a:latin typeface="Arial"/>
                <a:ea typeface="Arial"/>
                <a:cs typeface="Arial"/>
              </a:rPr>
              <a:t>4</a:t>
            </a:r>
          </a:p>
        </p:txBody>
      </p:sp>
      <p:sp>
        <p:nvSpPr>
          <p:cNvPr id="13" name="Registrar el trayecto">
            <a:extLst xmlns:a="http://schemas.openxmlformats.org/drawingml/2006/main">
              <a:ext uri="{FF2B5EF4-FFF2-40B4-BE49-F238E27FC236}">
                <a16:creationId xmlns:a16="http://schemas.microsoft.com/office/drawing/2014/main" id="{1FA2CDCF-D1C4-4AF1-903E-3D32B4611052}"/>
              </a:ext>
            </a:extLst>
          </p:cNvPr>
          <p:cNvSpPr>
            <a:spLocks xmlns:a="http://schemas.openxmlformats.org/drawingml/2006/main" noGrp="1"/>
          </p:cNvSpPr>
          <p:nvPr/>
        </p:nvSpPr>
        <p:spPr>
          <a:xfrm xmlns:a="http://schemas.openxmlformats.org/drawingml/2006/main">
            <a:off x="7600950" y="5019675"/>
            <a:ext cx="171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4263D"/>
                </a:solidFill>
                <a:latin typeface="Arial"/>
                <a:ea typeface="Arial"/>
                <a:cs typeface="Arial"/>
              </a:defRPr>
            </a:pPr>
            <a:r>
              <a:rPr sz="1725" b="1">
                <a:solidFill>
                  <a:srgbClr val="14263D"/>
                </a:solidFill>
                <a:latin typeface="Arial"/>
                <a:ea typeface="Arial"/>
                <a:cs typeface="Arial"/>
              </a:rPr>
              <a:t>Registrar el trayecto</a:t>
            </a:r>
          </a:p>
        </p:txBody>
      </p:sp>
      <p:sp>
        <p:nvSpPr>
          <p:cNvPr id="14" name="5">
            <a:extLst xmlns:a="http://schemas.openxmlformats.org/drawingml/2006/main">
              <a:ext uri="{FF2B5EF4-FFF2-40B4-BE49-F238E27FC236}">
                <a16:creationId xmlns:a16="http://schemas.microsoft.com/office/drawing/2014/main" id="{4D0A09F2-D2F3-4012-81A5-125265853BF7}"/>
              </a:ext>
            </a:extLst>
          </p:cNvPr>
          <p:cNvSpPr>
            <a:spLocks xmlns:a="http://schemas.openxmlformats.org/drawingml/2006/main" noGrp="1"/>
          </p:cNvSpPr>
          <p:nvPr/>
        </p:nvSpPr>
        <p:spPr>
          <a:xfrm xmlns:a="http://schemas.openxmlformats.org/drawingml/2006/main">
            <a:off x="9372600" y="5019675"/>
            <a:ext cx="40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C0007F"/>
                </a:solidFill>
                <a:latin typeface="Arial"/>
                <a:ea typeface="Arial"/>
                <a:cs typeface="Arial"/>
              </a:defRPr>
            </a:pPr>
            <a:r>
              <a:rPr sz="2025" b="1">
                <a:solidFill>
                  <a:srgbClr val="C0007F"/>
                </a:solidFill>
                <a:latin typeface="Arial"/>
                <a:ea typeface="Arial"/>
                <a:cs typeface="Arial"/>
              </a:rPr>
              <a:t>5</a:t>
            </a:r>
          </a:p>
        </p:txBody>
      </p:sp>
      <p:sp>
        <p:nvSpPr>
          <p:cNvPr id="15" name="Cerrar y resumir">
            <a:extLst xmlns:a="http://schemas.openxmlformats.org/drawingml/2006/main">
              <a:ext uri="{FF2B5EF4-FFF2-40B4-BE49-F238E27FC236}">
                <a16:creationId xmlns:a16="http://schemas.microsoft.com/office/drawing/2014/main" id="{EF15AC13-20DE-454A-B264-6EE5C49DADB5}"/>
              </a:ext>
            </a:extLst>
          </p:cNvPr>
          <p:cNvSpPr>
            <a:spLocks xmlns:a="http://schemas.openxmlformats.org/drawingml/2006/main" noGrp="1"/>
          </p:cNvSpPr>
          <p:nvPr/>
        </p:nvSpPr>
        <p:spPr>
          <a:xfrm xmlns:a="http://schemas.openxmlformats.org/drawingml/2006/main">
            <a:off x="9791700" y="5019675"/>
            <a:ext cx="171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4263D"/>
                </a:solidFill>
                <a:latin typeface="Arial"/>
                <a:ea typeface="Arial"/>
                <a:cs typeface="Arial"/>
              </a:defRPr>
            </a:pPr>
            <a:r>
              <a:rPr sz="1725" b="1">
                <a:solidFill>
                  <a:srgbClr val="14263D"/>
                </a:solidFill>
                <a:latin typeface="Arial"/>
                <a:ea typeface="Arial"/>
                <a:cs typeface="Arial"/>
              </a:rPr>
              <a:t>Cerrar y resumir</a:t>
            </a:r>
          </a:p>
        </p:txBody>
      </p:sp>
      <p:sp>
        <p:nvSpPr>
          <p:cNvPr id="16" name="El flujo reúne los casos de uso 2 y 3. Estado terminal tras ">
            <a:extLst xmlns:a="http://schemas.openxmlformats.org/drawingml/2006/main">
              <a:ext uri="{FF2B5EF4-FFF2-40B4-BE49-F238E27FC236}">
                <a16:creationId xmlns:a16="http://schemas.microsoft.com/office/drawing/2014/main" id="{E62F4B96-659A-4369-ABA0-D0FAC1C22866}"/>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El flujo reúne los casos de uso 2 y 3. Estado terminal tras entrega o cancelación. Memoria, pp. 18–20 y 29–30.</a:t>
            </a:r>
          </a:p>
        </p:txBody>
      </p:sp>
    </p:spTree>
    <p:extLst>
      <p:ext uri="{BB962C8B-B14F-4D97-AF65-F5344CB8AC3E}">
        <p14:creationId xmlns:p14="http://schemas.microsoft.com/office/powerpoint/2010/main" val="361768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5 · DEMOSTRACIÓN FUNCIONAL">
            <a:extLst xmlns:a="http://schemas.openxmlformats.org/drawingml/2006/main">
              <a:ext uri="{FF2B5EF4-FFF2-40B4-BE49-F238E27FC236}">
                <a16:creationId xmlns:a16="http://schemas.microsoft.com/office/drawing/2014/main" id="{CA391DF0-0CFE-4274-9AD3-17651C0B9F86}"/>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05 · DEMOSTRACIÓN FUNCIONAL</a:t>
            </a:r>
          </a:p>
        </p:txBody>
      </p:sp>
      <p:sp>
        <p:nvSpPr>
          <p:cNvPr id="2" name="Planificación y asignación">
            <a:extLst xmlns:a="http://schemas.openxmlformats.org/drawingml/2006/main">
              <a:ext uri="{FF2B5EF4-FFF2-40B4-BE49-F238E27FC236}">
                <a16:creationId xmlns:a16="http://schemas.microsoft.com/office/drawing/2014/main" id="{25FCD8EF-3D31-47F1-A6BE-65932D421CD8}"/>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Planificación y asignación</a:t>
            </a:r>
          </a:p>
        </p:txBody>
      </p:sp>
      <p:sp>
        <p:nvSpPr>
          <p:cNvPr id="3" name="">
            <a:extLst xmlns:a="http://schemas.openxmlformats.org/drawingml/2006/main">
              <a:ext uri="{FF2B5EF4-FFF2-40B4-BE49-F238E27FC236}">
                <a16:creationId xmlns:a16="http://schemas.microsoft.com/office/drawing/2014/main" id="{4D36F532-FE8A-4FDE-8257-E70435F70C7B}"/>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B2040240-32AE-4437-8F5B-96C30AC2C4C6}"/>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11</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014c4ca455c4538"/>
          <a:srcRect xmlns:a="http://schemas.openxmlformats.org/drawingml/2006/main" l="5534" t="23174" r="6719" b="5478"/>
          <a:stretch xmlns:a="http://schemas.openxmlformats.org/drawingml/2006/main">
            <a:fillRect l="0" t="0" r="0" b="0"/>
          </a:stretch>
        </p:blipFill>
        <p:spPr>
          <a:xfrm xmlns:a="http://schemas.openxmlformats.org/drawingml/2006/main">
            <a:off x="609600" y="1771650"/>
            <a:ext cx="7867650" cy="4124325"/>
          </a:xfrm>
          <a:prstGeom xmlns:a="http://schemas.openxmlformats.org/drawingml/2006/main" prst="rect">
            <a:avLst/>
          </a:prstGeom>
        </p:spPr>
      </p:pic>
      <p:sp>
        <p:nvSpPr>
          <p:cNvPr id="6" name="Asignación conjunta">
            <a:extLst xmlns:a="http://schemas.openxmlformats.org/drawingml/2006/main">
              <a:ext uri="{FF2B5EF4-FFF2-40B4-BE49-F238E27FC236}">
                <a16:creationId xmlns:a16="http://schemas.microsoft.com/office/drawing/2014/main" id="{D8137382-9A7D-4508-9B48-790428035559}"/>
              </a:ext>
            </a:extLst>
          </p:cNvPr>
          <p:cNvSpPr>
            <a:spLocks xmlns:a="http://schemas.openxmlformats.org/drawingml/2006/main" noGrp="1"/>
          </p:cNvSpPr>
          <p:nvPr/>
        </p:nvSpPr>
        <p:spPr>
          <a:xfrm xmlns:a="http://schemas.openxmlformats.org/drawingml/2006/main">
            <a:off x="8877300" y="17907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Asignación conjunta</a:t>
            </a:r>
          </a:p>
        </p:txBody>
      </p:sp>
      <p:sp>
        <p:nvSpPr>
          <p:cNvPr id="7" name="Vehículo y conductor solo mientras el envío está planificado">
            <a:extLst xmlns:a="http://schemas.openxmlformats.org/drawingml/2006/main">
              <a:ext uri="{FF2B5EF4-FFF2-40B4-BE49-F238E27FC236}">
                <a16:creationId xmlns:a16="http://schemas.microsoft.com/office/drawing/2014/main" id="{2B7024C3-3195-424D-8D01-6AE25C9128BA}"/>
              </a:ext>
            </a:extLst>
          </p:cNvPr>
          <p:cNvSpPr>
            <a:spLocks xmlns:a="http://schemas.openxmlformats.org/drawingml/2006/main" noGrp="1"/>
          </p:cNvSpPr>
          <p:nvPr/>
        </p:nvSpPr>
        <p:spPr>
          <a:xfrm xmlns:a="http://schemas.openxmlformats.org/drawingml/2006/main">
            <a:off x="8877300" y="2228850"/>
            <a:ext cx="27051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63D"/>
                </a:solidFill>
                <a:latin typeface="Arial"/>
                <a:ea typeface="Arial"/>
                <a:cs typeface="Arial"/>
              </a:defRPr>
            </a:pPr>
            <a:r>
              <a:rPr sz="1875" b="0">
                <a:solidFill>
                  <a:srgbClr val="14263D"/>
                </a:solidFill>
                <a:latin typeface="Arial"/>
                <a:ea typeface="Arial"/>
                <a:cs typeface="Arial"/>
              </a:rPr>
              <a:t>Vehículo y conductor solo mientras el envío está planificado.</a:t>
            </a:r>
          </a:p>
        </p:txBody>
      </p:sp>
      <p:sp>
        <p:nvSpPr>
          <p:cNvPr id="8" name="Dos respuestas">
            <a:extLst xmlns:a="http://schemas.openxmlformats.org/drawingml/2006/main">
              <a:ext uri="{FF2B5EF4-FFF2-40B4-BE49-F238E27FC236}">
                <a16:creationId xmlns:a16="http://schemas.microsoft.com/office/drawing/2014/main" id="{62322CFC-963B-4009-B55F-CFFA8C5A5EC6}"/>
              </a:ext>
            </a:extLst>
          </p:cNvPr>
          <p:cNvSpPr>
            <a:spLocks xmlns:a="http://schemas.openxmlformats.org/drawingml/2006/main" noGrp="1"/>
          </p:cNvSpPr>
          <p:nvPr/>
        </p:nvSpPr>
        <p:spPr>
          <a:xfrm xmlns:a="http://schemas.openxmlformats.org/drawingml/2006/main">
            <a:off x="8877300" y="36957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Dos respuestas</a:t>
            </a:r>
          </a:p>
        </p:txBody>
      </p:sp>
      <p:sp>
        <p:nvSpPr>
          <p:cNvPr id="9" name="Recurso ocupado: bloqueo&#10;Capacidad insuficiente: aviso">
            <a:extLst xmlns:a="http://schemas.openxmlformats.org/drawingml/2006/main">
              <a:ext uri="{FF2B5EF4-FFF2-40B4-BE49-F238E27FC236}">
                <a16:creationId xmlns:a16="http://schemas.microsoft.com/office/drawing/2014/main" id="{193AEB5D-DB57-4CD3-8D66-7622CB144C6C}"/>
              </a:ext>
            </a:extLst>
          </p:cNvPr>
          <p:cNvSpPr>
            <a:spLocks xmlns:a="http://schemas.openxmlformats.org/drawingml/2006/main" noGrp="1"/>
          </p:cNvSpPr>
          <p:nvPr/>
        </p:nvSpPr>
        <p:spPr>
          <a:xfrm xmlns:a="http://schemas.openxmlformats.org/drawingml/2006/main">
            <a:off x="8877300" y="4133850"/>
            <a:ext cx="2705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63D"/>
                </a:solidFill>
                <a:latin typeface="Arial"/>
                <a:ea typeface="Arial"/>
                <a:cs typeface="Arial"/>
              </a:defRPr>
            </a:pPr>
            <a:r>
              <a:rPr sz="1875" b="0">
                <a:solidFill>
                  <a:srgbClr val="14263D"/>
                </a:solidFill>
                <a:latin typeface="Arial"/>
                <a:ea typeface="Arial"/>
                <a:cs typeface="Arial"/>
              </a:rPr>
              <a:t>Recurso ocupado: bloqueo</a:t>
            </a:r>
          </a:p>
          <a:p xmlns:a="http://schemas.openxmlformats.org/drawingml/2006/main">
            <a:pPr algn="l">
              <a:defRPr sz="1875" b="0">
                <a:solidFill>
                  <a:srgbClr val="14263D"/>
                </a:solidFill>
                <a:latin typeface="Arial"/>
                <a:ea typeface="Arial"/>
                <a:cs typeface="Arial"/>
              </a:defRPr>
            </a:pPr>
            <a:r>
              <a:rPr sz="1875" b="0">
                <a:solidFill>
                  <a:srgbClr val="14263D"/>
                </a:solidFill>
                <a:latin typeface="Arial"/>
                <a:ea typeface="Arial"/>
                <a:cs typeface="Arial"/>
              </a:rPr>
              <a:t>Capacidad insuficiente: aviso</a:t>
            </a:r>
          </a:p>
        </p:txBody>
      </p:sp>
      <p:sp>
        <p:nvSpPr>
          <p:cNvPr id="10" name="4.500 kg sobre 3.000 kg">
            <a:extLst xmlns:a="http://schemas.openxmlformats.org/drawingml/2006/main">
              <a:ext uri="{FF2B5EF4-FFF2-40B4-BE49-F238E27FC236}">
                <a16:creationId xmlns:a16="http://schemas.microsoft.com/office/drawing/2014/main" id="{B26AD1D6-79EA-4DAA-9203-BCB0DB6526DE}"/>
              </a:ext>
            </a:extLst>
          </p:cNvPr>
          <p:cNvSpPr>
            <a:spLocks xmlns:a="http://schemas.openxmlformats.org/drawingml/2006/main" noGrp="1"/>
          </p:cNvSpPr>
          <p:nvPr/>
        </p:nvSpPr>
        <p:spPr>
          <a:xfrm xmlns:a="http://schemas.openxmlformats.org/drawingml/2006/main">
            <a:off x="8877300" y="5467350"/>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156A5"/>
                </a:solidFill>
                <a:latin typeface="Arial"/>
                <a:ea typeface="Arial"/>
                <a:cs typeface="Arial"/>
              </a:defRPr>
            </a:pPr>
            <a:r>
              <a:rPr sz="1800" b="1">
                <a:solidFill>
                  <a:srgbClr val="2156A5"/>
                </a:solidFill>
                <a:latin typeface="Arial"/>
                <a:ea typeface="Arial"/>
                <a:cs typeface="Arial"/>
              </a:rPr>
              <a:t>4.500 kg sobre 3.000 kg</a:t>
            </a:r>
          </a:p>
        </p:txBody>
      </p:sp>
      <p:sp>
        <p:nvSpPr>
          <p:cNvPr id="11" name="Captura con datos de prueba del Sprint 4. Figura 7.5 de la m">
            <a:extLst xmlns:a="http://schemas.openxmlformats.org/drawingml/2006/main">
              <a:ext uri="{FF2B5EF4-FFF2-40B4-BE49-F238E27FC236}">
                <a16:creationId xmlns:a16="http://schemas.microsoft.com/office/drawing/2014/main" id="{381EB51B-A0AC-4EB8-A018-0047F1DE7311}"/>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Captura con datos de prueba del Sprint 4. Figura 7.5 de la memoria, p. 39.</a:t>
            </a:r>
          </a:p>
        </p:txBody>
      </p:sp>
    </p:spTree>
    <p:extLst>
      <p:ext uri="{BB962C8B-B14F-4D97-AF65-F5344CB8AC3E}">
        <p14:creationId xmlns:p14="http://schemas.microsoft.com/office/powerpoint/2010/main" val="8099344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05 · DEMOSTRACIÓN FUNCIONAL">
            <a:extLst xmlns:a="http://schemas.openxmlformats.org/drawingml/2006/main">
              <a:ext uri="{FF2B5EF4-FFF2-40B4-BE49-F238E27FC236}">
                <a16:creationId xmlns:a16="http://schemas.microsoft.com/office/drawing/2014/main" id="{8D68D48B-639C-473F-8B6F-79E8D3BDC8B9}"/>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05 · DEMOSTRACIÓN FUNCIONAL</a:t>
            </a:r>
          </a:p>
        </p:txBody>
      </p:sp>
      <p:sp>
        <p:nvSpPr>
          <p:cNvPr id="2" name="Ejecución y trazabilidad">
            <a:extLst xmlns:a="http://schemas.openxmlformats.org/drawingml/2006/main">
              <a:ext uri="{FF2B5EF4-FFF2-40B4-BE49-F238E27FC236}">
                <a16:creationId xmlns:a16="http://schemas.microsoft.com/office/drawing/2014/main" id="{28866416-D219-41AE-8862-B273546AB7C9}"/>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Ejecución y trazabilidad</a:t>
            </a:r>
          </a:p>
        </p:txBody>
      </p:sp>
      <p:sp>
        <p:nvSpPr>
          <p:cNvPr id="3" name="">
            <a:extLst xmlns:a="http://schemas.openxmlformats.org/drawingml/2006/main">
              <a:ext uri="{FF2B5EF4-FFF2-40B4-BE49-F238E27FC236}">
                <a16:creationId xmlns:a16="http://schemas.microsoft.com/office/drawing/2014/main" id="{66D211AB-6C08-433B-9793-FABE5034FF11}"/>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E58FAD26-5EE1-40D1-8DD3-58F1EB530181}"/>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12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2e62ff644ce4e0d"/>
          <a:srcRect xmlns:a="http://schemas.openxmlformats.org/drawingml/2006/main" l="6719" t="21910" r="27510" b="8708"/>
          <a:stretch xmlns:a="http://schemas.openxmlformats.org/drawingml/2006/main">
            <a:fillRect l="0" t="0" r="0" b="0"/>
          </a:stretch>
        </p:blipFill>
        <p:spPr>
          <a:xfrm xmlns:a="http://schemas.openxmlformats.org/drawingml/2006/main">
            <a:off x="609600" y="1724025"/>
            <a:ext cx="7429500" cy="4276725"/>
          </a:xfrm>
          <a:prstGeom xmlns:a="http://schemas.openxmlformats.org/drawingml/2006/main" prst="rect">
            <a:avLst/>
          </a:prstGeom>
        </p:spPr>
      </p:pic>
      <p:sp>
        <p:nvSpPr>
          <p:cNvPr id="6" name="Cronología verificable">
            <a:extLst xmlns:a="http://schemas.openxmlformats.org/drawingml/2006/main">
              <a:ext uri="{FF2B5EF4-FFF2-40B4-BE49-F238E27FC236}">
                <a16:creationId xmlns:a16="http://schemas.microsoft.com/office/drawing/2014/main" id="{1F6876B0-0725-4E69-9B17-355E1203BDEC}"/>
              </a:ext>
            </a:extLst>
          </p:cNvPr>
          <p:cNvSpPr>
            <a:spLocks xmlns:a="http://schemas.openxmlformats.org/drawingml/2006/main" noGrp="1"/>
          </p:cNvSpPr>
          <p:nvPr/>
        </p:nvSpPr>
        <p:spPr>
          <a:xfrm xmlns:a="http://schemas.openxmlformats.org/drawingml/2006/main">
            <a:off x="8458200" y="1752600"/>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Cronología verificable</a:t>
            </a:r>
          </a:p>
        </p:txBody>
      </p:sp>
      <p:sp>
        <p:nvSpPr>
          <p:cNvPr id="7" name="Eventos automáticos y manuales ordenados por ocurrencia.">
            <a:extLst xmlns:a="http://schemas.openxmlformats.org/drawingml/2006/main">
              <a:ext uri="{FF2B5EF4-FFF2-40B4-BE49-F238E27FC236}">
                <a16:creationId xmlns:a16="http://schemas.microsoft.com/office/drawing/2014/main" id="{3D48C333-3682-4E21-8A8C-19519BB82DDA}"/>
              </a:ext>
            </a:extLst>
          </p:cNvPr>
          <p:cNvSpPr>
            <a:spLocks xmlns:a="http://schemas.openxmlformats.org/drawingml/2006/main" noGrp="1"/>
          </p:cNvSpPr>
          <p:nvPr/>
        </p:nvSpPr>
        <p:spPr>
          <a:xfrm xmlns:a="http://schemas.openxmlformats.org/drawingml/2006/main">
            <a:off x="8458200" y="2190750"/>
            <a:ext cx="312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63D"/>
                </a:solidFill>
                <a:latin typeface="Arial"/>
                <a:ea typeface="Arial"/>
                <a:cs typeface="Arial"/>
              </a:defRPr>
            </a:pPr>
            <a:r>
              <a:rPr sz="1875" b="0">
                <a:solidFill>
                  <a:srgbClr val="14263D"/>
                </a:solidFill>
                <a:latin typeface="Arial"/>
                <a:ea typeface="Arial"/>
                <a:cs typeface="Arial"/>
              </a:rPr>
              <a:t>Eventos automáticos y manuales ordenados por ocurrencia.</a:t>
            </a:r>
          </a:p>
        </p:txBody>
      </p:sp>
      <p:sp>
        <p:nvSpPr>
          <p:cNvPr id="8" name="Autoría">
            <a:extLst xmlns:a="http://schemas.openxmlformats.org/drawingml/2006/main">
              <a:ext uri="{FF2B5EF4-FFF2-40B4-BE49-F238E27FC236}">
                <a16:creationId xmlns:a16="http://schemas.microsoft.com/office/drawing/2014/main" id="{74598F17-48CB-4132-9F23-BE432227951B}"/>
              </a:ext>
            </a:extLst>
          </p:cNvPr>
          <p:cNvSpPr>
            <a:spLocks xmlns:a="http://schemas.openxmlformats.org/drawingml/2006/main" noGrp="1"/>
          </p:cNvSpPr>
          <p:nvPr/>
        </p:nvSpPr>
        <p:spPr>
          <a:xfrm xmlns:a="http://schemas.openxmlformats.org/drawingml/2006/main">
            <a:off x="8458200" y="3543300"/>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Autoría</a:t>
            </a:r>
          </a:p>
        </p:txBody>
      </p:sp>
      <p:sp>
        <p:nvSpPr>
          <p:cNvPr id="9" name="El usuario procede de la sesión, no de un dato libre del cli">
            <a:extLst xmlns:a="http://schemas.openxmlformats.org/drawingml/2006/main">
              <a:ext uri="{FF2B5EF4-FFF2-40B4-BE49-F238E27FC236}">
                <a16:creationId xmlns:a16="http://schemas.microsoft.com/office/drawing/2014/main" id="{07E63EE6-3FF6-4704-BADD-2B1343C830ED}"/>
              </a:ext>
            </a:extLst>
          </p:cNvPr>
          <p:cNvSpPr>
            <a:spLocks xmlns:a="http://schemas.openxmlformats.org/drawingml/2006/main" noGrp="1"/>
          </p:cNvSpPr>
          <p:nvPr/>
        </p:nvSpPr>
        <p:spPr>
          <a:xfrm xmlns:a="http://schemas.openxmlformats.org/drawingml/2006/main">
            <a:off x="8458200" y="3981450"/>
            <a:ext cx="312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63D"/>
                </a:solidFill>
                <a:latin typeface="Arial"/>
                <a:ea typeface="Arial"/>
                <a:cs typeface="Arial"/>
              </a:defRPr>
            </a:pPr>
            <a:r>
              <a:rPr sz="1875" b="0">
                <a:solidFill>
                  <a:srgbClr val="14263D"/>
                </a:solidFill>
                <a:latin typeface="Arial"/>
                <a:ea typeface="Arial"/>
                <a:cs typeface="Arial"/>
              </a:rPr>
              <a:t>El usuario procede de la sesión, no de un dato libre del cliente.</a:t>
            </a:r>
          </a:p>
        </p:txBody>
      </p:sp>
      <p:sp>
        <p:nvSpPr>
          <p:cNvPr id="10" name="Consistencia">
            <a:extLst xmlns:a="http://schemas.openxmlformats.org/drawingml/2006/main">
              <a:ext uri="{FF2B5EF4-FFF2-40B4-BE49-F238E27FC236}">
                <a16:creationId xmlns:a16="http://schemas.microsoft.com/office/drawing/2014/main" id="{BF0821DD-7DBA-4AB2-AB40-F53D1202D14F}"/>
              </a:ext>
            </a:extLst>
          </p:cNvPr>
          <p:cNvSpPr>
            <a:spLocks xmlns:a="http://schemas.openxmlformats.org/drawingml/2006/main" noGrp="1"/>
          </p:cNvSpPr>
          <p:nvPr/>
        </p:nvSpPr>
        <p:spPr>
          <a:xfrm xmlns:a="http://schemas.openxmlformats.org/drawingml/2006/main">
            <a:off x="8458200" y="5314950"/>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Consistencia</a:t>
            </a:r>
          </a:p>
        </p:txBody>
      </p:sp>
      <p:sp>
        <p:nvSpPr>
          <p:cNvPr id="11" name="Operación y evento se confirman juntos.">
            <a:extLst xmlns:a="http://schemas.openxmlformats.org/drawingml/2006/main">
              <a:ext uri="{FF2B5EF4-FFF2-40B4-BE49-F238E27FC236}">
                <a16:creationId xmlns:a16="http://schemas.microsoft.com/office/drawing/2014/main" id="{D94477DA-EBFA-45BA-8217-C978549B67DC}"/>
              </a:ext>
            </a:extLst>
          </p:cNvPr>
          <p:cNvSpPr>
            <a:spLocks xmlns:a="http://schemas.openxmlformats.org/drawingml/2006/main" noGrp="1"/>
          </p:cNvSpPr>
          <p:nvPr/>
        </p:nvSpPr>
        <p:spPr>
          <a:xfrm xmlns:a="http://schemas.openxmlformats.org/drawingml/2006/main">
            <a:off x="8458200" y="5734050"/>
            <a:ext cx="312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Operación y evento se confirman juntos.</a:t>
            </a:r>
          </a:p>
        </p:txBody>
      </p:sp>
      <p:sp>
        <p:nvSpPr>
          <p:cNvPr id="12" name="Captura con datos de prueba del Sprint 5. Figura 7.8 de la m">
            <a:extLst xmlns:a="http://schemas.openxmlformats.org/drawingml/2006/main">
              <a:ext uri="{FF2B5EF4-FFF2-40B4-BE49-F238E27FC236}">
                <a16:creationId xmlns:a16="http://schemas.microsoft.com/office/drawing/2014/main" id="{7B80FA37-3397-4B06-A2F0-96CD2C693735}"/>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Captura con datos de prueba del Sprint 5. Figura 7.8 de la memoria, p. 42.</a:t>
            </a:r>
          </a:p>
        </p:txBody>
      </p:sp>
    </p:spTree>
    <p:extLst>
      <p:ext uri="{BB962C8B-B14F-4D97-AF65-F5344CB8AC3E}">
        <p14:creationId xmlns:p14="http://schemas.microsoft.com/office/powerpoint/2010/main" val="11923573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5 · DEMOSTRACIÓN FUNCIONAL">
            <a:extLst xmlns:a="http://schemas.openxmlformats.org/drawingml/2006/main">
              <a:ext uri="{FF2B5EF4-FFF2-40B4-BE49-F238E27FC236}">
                <a16:creationId xmlns:a16="http://schemas.microsoft.com/office/drawing/2014/main" id="{533CF8FB-E745-4FB1-831A-D1DBF81A1603}"/>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05 · DEMOSTRACIÓN FUNCIONAL</a:t>
            </a:r>
          </a:p>
        </p:txBody>
      </p:sp>
      <p:sp>
        <p:nvSpPr>
          <p:cNvPr id="2" name="Administración e indicadores">
            <a:extLst xmlns:a="http://schemas.openxmlformats.org/drawingml/2006/main">
              <a:ext uri="{FF2B5EF4-FFF2-40B4-BE49-F238E27FC236}">
                <a16:creationId xmlns:a16="http://schemas.microsoft.com/office/drawing/2014/main" id="{95AC9FDF-C059-453D-8022-7CE562596CDF}"/>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Administración e indicadores</a:t>
            </a:r>
          </a:p>
        </p:txBody>
      </p:sp>
      <p:sp>
        <p:nvSpPr>
          <p:cNvPr id="3" name="">
            <a:extLst xmlns:a="http://schemas.openxmlformats.org/drawingml/2006/main">
              <a:ext uri="{FF2B5EF4-FFF2-40B4-BE49-F238E27FC236}">
                <a16:creationId xmlns:a16="http://schemas.microsoft.com/office/drawing/2014/main" id="{C2C97F26-9684-430F-A80A-32EBE55D491C}"/>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80000B0C-BB75-4630-AF46-6D8B2947B7AA}"/>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13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1e38e36b2a0430b"/>
          <a:srcRect xmlns:a="http://schemas.openxmlformats.org/drawingml/2006/main" l="5538" t="22518" r="5459" b="24667"/>
          <a:stretch xmlns:a="http://schemas.openxmlformats.org/drawingml/2006/main">
            <a:fillRect l="0" t="0" r="0" b="0"/>
          </a:stretch>
        </p:blipFill>
        <p:spPr>
          <a:xfrm xmlns:a="http://schemas.openxmlformats.org/drawingml/2006/main">
            <a:off x="609600" y="1790700"/>
            <a:ext cx="7867650" cy="4048125"/>
          </a:xfrm>
          <a:prstGeom xmlns:a="http://schemas.openxmlformats.org/drawingml/2006/main" prst="rect">
            <a:avLst/>
          </a:prstGeom>
        </p:spPr>
      </p:pic>
      <p:sp>
        <p:nvSpPr>
          <p:cNvPr id="6" name="Administración">
            <a:extLst xmlns:a="http://schemas.openxmlformats.org/drawingml/2006/main">
              <a:ext uri="{FF2B5EF4-FFF2-40B4-BE49-F238E27FC236}">
                <a16:creationId xmlns:a16="http://schemas.microsoft.com/office/drawing/2014/main" id="{D31285CD-0B70-4319-B084-A818D87538A1}"/>
              </a:ext>
            </a:extLst>
          </p:cNvPr>
          <p:cNvSpPr>
            <a:spLocks xmlns:a="http://schemas.openxmlformats.org/drawingml/2006/main" noGrp="1"/>
          </p:cNvSpPr>
          <p:nvPr/>
        </p:nvSpPr>
        <p:spPr>
          <a:xfrm xmlns:a="http://schemas.openxmlformats.org/drawingml/2006/main">
            <a:off x="8877300" y="180975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Administración</a:t>
            </a:r>
          </a:p>
        </p:txBody>
      </p:sp>
      <p:sp>
        <p:nvSpPr>
          <p:cNvPr id="7" name="Cuentas, roles, activación y recuperación de contraseña.">
            <a:extLst xmlns:a="http://schemas.openxmlformats.org/drawingml/2006/main">
              <a:ext uri="{FF2B5EF4-FFF2-40B4-BE49-F238E27FC236}">
                <a16:creationId xmlns:a16="http://schemas.microsoft.com/office/drawing/2014/main" id="{996F4999-C419-4F73-8080-ACE0EC7E5238}"/>
              </a:ext>
            </a:extLst>
          </p:cNvPr>
          <p:cNvSpPr>
            <a:spLocks xmlns:a="http://schemas.openxmlformats.org/drawingml/2006/main" noGrp="1"/>
          </p:cNvSpPr>
          <p:nvPr/>
        </p:nvSpPr>
        <p:spPr>
          <a:xfrm xmlns:a="http://schemas.openxmlformats.org/drawingml/2006/main">
            <a:off x="8877300" y="2247900"/>
            <a:ext cx="27051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63D"/>
                </a:solidFill>
                <a:latin typeface="Arial"/>
                <a:ea typeface="Arial"/>
                <a:cs typeface="Arial"/>
              </a:defRPr>
            </a:pPr>
            <a:r>
              <a:rPr sz="1875" b="0">
                <a:solidFill>
                  <a:srgbClr val="14263D"/>
                </a:solidFill>
                <a:latin typeface="Arial"/>
                <a:ea typeface="Arial"/>
                <a:cs typeface="Arial"/>
              </a:rPr>
              <a:t>Cuentas, roles, activación y recuperación de contraseña.</a:t>
            </a:r>
          </a:p>
        </p:txBody>
      </p:sp>
      <p:sp>
        <p:nvSpPr>
          <p:cNvPr id="8" name="Resumen operativo">
            <a:extLst xmlns:a="http://schemas.openxmlformats.org/drawingml/2006/main">
              <a:ext uri="{FF2B5EF4-FFF2-40B4-BE49-F238E27FC236}">
                <a16:creationId xmlns:a16="http://schemas.microsoft.com/office/drawing/2014/main" id="{90BF3E24-4641-48CE-8459-411E10A94F67}"/>
              </a:ext>
            </a:extLst>
          </p:cNvPr>
          <p:cNvSpPr>
            <a:spLocks xmlns:a="http://schemas.openxmlformats.org/drawingml/2006/main" noGrp="1"/>
          </p:cNvSpPr>
          <p:nvPr/>
        </p:nvSpPr>
        <p:spPr>
          <a:xfrm xmlns:a="http://schemas.openxmlformats.org/drawingml/2006/main">
            <a:off x="8877300" y="38100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Resumen operativo</a:t>
            </a:r>
          </a:p>
        </p:txBody>
      </p:sp>
      <p:sp>
        <p:nvSpPr>
          <p:cNvPr id="9" name="Estados globales, actividad por recurso e incidencias por pe">
            <a:extLst xmlns:a="http://schemas.openxmlformats.org/drawingml/2006/main">
              <a:ext uri="{FF2B5EF4-FFF2-40B4-BE49-F238E27FC236}">
                <a16:creationId xmlns:a16="http://schemas.microsoft.com/office/drawing/2014/main" id="{BBA783F0-FFC4-4A0A-B825-7EC32AC263F4}"/>
              </a:ext>
            </a:extLst>
          </p:cNvPr>
          <p:cNvSpPr>
            <a:spLocks xmlns:a="http://schemas.openxmlformats.org/drawingml/2006/main" noGrp="1"/>
          </p:cNvSpPr>
          <p:nvPr/>
        </p:nvSpPr>
        <p:spPr>
          <a:xfrm xmlns:a="http://schemas.openxmlformats.org/drawingml/2006/main">
            <a:off x="8877300" y="4248150"/>
            <a:ext cx="2705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4263D"/>
                </a:solidFill>
                <a:latin typeface="Arial"/>
                <a:ea typeface="Arial"/>
                <a:cs typeface="Arial"/>
              </a:defRPr>
            </a:pPr>
            <a:r>
              <a:rPr sz="1875" b="0">
                <a:solidFill>
                  <a:srgbClr val="14263D"/>
                </a:solidFill>
                <a:latin typeface="Arial"/>
                <a:ea typeface="Arial"/>
                <a:cs typeface="Arial"/>
              </a:rPr>
              <a:t>Estados globales, actividad por recurso e incidencias por periodo.</a:t>
            </a:r>
          </a:p>
        </p:txBody>
      </p:sp>
      <p:sp>
        <p:nvSpPr>
          <p:cNvPr id="10" name="RF-01 a RF-14 integrados">
            <a:extLst xmlns:a="http://schemas.openxmlformats.org/drawingml/2006/main">
              <a:ext uri="{FF2B5EF4-FFF2-40B4-BE49-F238E27FC236}">
                <a16:creationId xmlns:a16="http://schemas.microsoft.com/office/drawing/2014/main" id="{8DA98D6F-E39C-4003-A4F5-4F5A1E2B1200}"/>
              </a:ext>
            </a:extLst>
          </p:cNvPr>
          <p:cNvSpPr>
            <a:spLocks xmlns:a="http://schemas.openxmlformats.org/drawingml/2006/main" noGrp="1"/>
          </p:cNvSpPr>
          <p:nvPr/>
        </p:nvSpPr>
        <p:spPr>
          <a:xfrm xmlns:a="http://schemas.openxmlformats.org/drawingml/2006/main">
            <a:off x="8877300" y="5743575"/>
            <a:ext cx="2705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2156A5"/>
                </a:solidFill>
                <a:latin typeface="Arial"/>
                <a:ea typeface="Arial"/>
                <a:cs typeface="Arial"/>
              </a:defRPr>
            </a:pPr>
            <a:r>
              <a:rPr sz="1725" b="1">
                <a:solidFill>
                  <a:srgbClr val="2156A5"/>
                </a:solidFill>
                <a:latin typeface="Arial"/>
                <a:ea typeface="Arial"/>
                <a:cs typeface="Arial"/>
              </a:rPr>
              <a:t>RF-01 a RF-14 integrados</a:t>
            </a:r>
          </a:p>
        </p:txBody>
      </p:sp>
      <p:sp>
        <p:nvSpPr>
          <p:cNvPr id="11" name="Captura con datos de demostración del Sprint 6. Memoria, pp.">
            <a:extLst xmlns:a="http://schemas.openxmlformats.org/drawingml/2006/main">
              <a:ext uri="{FF2B5EF4-FFF2-40B4-BE49-F238E27FC236}">
                <a16:creationId xmlns:a16="http://schemas.microsoft.com/office/drawing/2014/main" id="{2C519A41-67A7-47C9-8FFF-87EE4FB71794}"/>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Captura con datos de demostración del Sprint 6. Memoria, pp. 32–33 y 45.</a:t>
            </a:r>
          </a:p>
        </p:txBody>
      </p:sp>
    </p:spTree>
    <p:extLst>
      <p:ext uri="{BB962C8B-B14F-4D97-AF65-F5344CB8AC3E}">
        <p14:creationId xmlns:p14="http://schemas.microsoft.com/office/powerpoint/2010/main" val="12979293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06 · VALIDACIÓN Y DESPLIEGUE">
            <a:extLst xmlns:a="http://schemas.openxmlformats.org/drawingml/2006/main">
              <a:ext uri="{FF2B5EF4-FFF2-40B4-BE49-F238E27FC236}">
                <a16:creationId xmlns:a16="http://schemas.microsoft.com/office/drawing/2014/main" id="{70D174C0-A6B0-46EE-B705-35F79D924B88}"/>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06 · VALIDACIÓN Y DESPLIEGUE</a:t>
            </a:r>
          </a:p>
        </p:txBody>
      </p:sp>
      <p:sp>
        <p:nvSpPr>
          <p:cNvPr id="2" name="Estrategia de validación">
            <a:extLst xmlns:a="http://schemas.openxmlformats.org/drawingml/2006/main">
              <a:ext uri="{FF2B5EF4-FFF2-40B4-BE49-F238E27FC236}">
                <a16:creationId xmlns:a16="http://schemas.microsoft.com/office/drawing/2014/main" id="{D77AC831-6218-4A5A-B064-EA53B9466BED}"/>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Estrategia de validación</a:t>
            </a:r>
          </a:p>
        </p:txBody>
      </p:sp>
      <p:sp>
        <p:nvSpPr>
          <p:cNvPr id="3" name="">
            <a:extLst xmlns:a="http://schemas.openxmlformats.org/drawingml/2006/main">
              <a:ext uri="{FF2B5EF4-FFF2-40B4-BE49-F238E27FC236}">
                <a16:creationId xmlns:a16="http://schemas.microsoft.com/office/drawing/2014/main" id="{0FF1A736-AED8-4B2B-91BE-F7AB672FBF4A}"/>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FC68CA62-5DC4-44AA-AEAD-29424A20C5E0}"/>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14</a:t>
            </a:r>
          </a:p>
        </p:txBody>
      </p:sp>
      <p:sp>
        <p:nvSpPr>
          <p:cNvPr id="5" name="139">
            <a:extLst xmlns:a="http://schemas.openxmlformats.org/drawingml/2006/main">
              <a:ext uri="{FF2B5EF4-FFF2-40B4-BE49-F238E27FC236}">
                <a16:creationId xmlns:a16="http://schemas.microsoft.com/office/drawing/2014/main" id="{DBF47D8C-BCF7-4CEE-8CBA-A5BBCF2787A9}"/>
              </a:ext>
            </a:extLst>
          </p:cNvPr>
          <p:cNvSpPr>
            <a:spLocks xmlns:a="http://schemas.openxmlformats.org/drawingml/2006/main" noGrp="1"/>
          </p:cNvSpPr>
          <p:nvPr/>
        </p:nvSpPr>
        <p:spPr>
          <a:xfrm xmlns:a="http://schemas.openxmlformats.org/drawingml/2006/main">
            <a:off x="609600" y="1533525"/>
            <a:ext cx="266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1">
                <a:solidFill>
                  <a:srgbClr val="C0007F"/>
                </a:solidFill>
                <a:latin typeface="Arial"/>
                <a:ea typeface="Arial"/>
                <a:cs typeface="Arial"/>
              </a:defRPr>
            </a:pPr>
            <a:r>
              <a:rPr sz="5250" b="1">
                <a:solidFill>
                  <a:srgbClr val="C0007F"/>
                </a:solidFill>
                <a:latin typeface="Arial"/>
                <a:ea typeface="Arial"/>
                <a:cs typeface="Arial"/>
              </a:rPr>
              <a:t>139</a:t>
            </a:r>
          </a:p>
        </p:txBody>
      </p:sp>
      <p:sp>
        <p:nvSpPr>
          <p:cNvPr id="6" name="pruebas backend&#10;xUnit">
            <a:extLst xmlns:a="http://schemas.openxmlformats.org/drawingml/2006/main">
              <a:ext uri="{FF2B5EF4-FFF2-40B4-BE49-F238E27FC236}">
                <a16:creationId xmlns:a16="http://schemas.microsoft.com/office/drawing/2014/main" id="{35E653F2-E8F8-45B9-930B-D2AE241EF45B}"/>
              </a:ext>
            </a:extLst>
          </p:cNvPr>
          <p:cNvSpPr>
            <a:spLocks xmlns:a="http://schemas.openxmlformats.org/drawingml/2006/main" noGrp="1"/>
          </p:cNvSpPr>
          <p:nvPr/>
        </p:nvSpPr>
        <p:spPr>
          <a:xfrm xmlns:a="http://schemas.openxmlformats.org/drawingml/2006/main">
            <a:off x="609600" y="2428875"/>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pruebas backend</a:t>
            </a:r>
          </a:p>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xUnit</a:t>
            </a:r>
          </a:p>
        </p:txBody>
      </p:sp>
      <p:sp>
        <p:nvSpPr>
          <p:cNvPr id="7" name="33">
            <a:extLst xmlns:a="http://schemas.openxmlformats.org/drawingml/2006/main">
              <a:ext uri="{FF2B5EF4-FFF2-40B4-BE49-F238E27FC236}">
                <a16:creationId xmlns:a16="http://schemas.microsoft.com/office/drawing/2014/main" id="{6D8876CD-E857-4CAF-B400-ACB4E6768BD1}"/>
              </a:ext>
            </a:extLst>
          </p:cNvPr>
          <p:cNvSpPr>
            <a:spLocks xmlns:a="http://schemas.openxmlformats.org/drawingml/2006/main" noGrp="1"/>
          </p:cNvSpPr>
          <p:nvPr/>
        </p:nvSpPr>
        <p:spPr>
          <a:xfrm xmlns:a="http://schemas.openxmlformats.org/drawingml/2006/main">
            <a:off x="4286250" y="1533525"/>
            <a:ext cx="266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1">
                <a:solidFill>
                  <a:srgbClr val="C0007F"/>
                </a:solidFill>
                <a:latin typeface="Arial"/>
                <a:ea typeface="Arial"/>
                <a:cs typeface="Arial"/>
              </a:defRPr>
            </a:pPr>
            <a:r>
              <a:rPr sz="5250" b="1">
                <a:solidFill>
                  <a:srgbClr val="C0007F"/>
                </a:solidFill>
                <a:latin typeface="Arial"/>
                <a:ea typeface="Arial"/>
                <a:cs typeface="Arial"/>
              </a:rPr>
              <a:t>33</a:t>
            </a:r>
          </a:p>
        </p:txBody>
      </p:sp>
      <p:sp>
        <p:nvSpPr>
          <p:cNvPr id="8" name="pruebas frontend&#10;Vitest + RTL">
            <a:extLst xmlns:a="http://schemas.openxmlformats.org/drawingml/2006/main">
              <a:ext uri="{FF2B5EF4-FFF2-40B4-BE49-F238E27FC236}">
                <a16:creationId xmlns:a16="http://schemas.microsoft.com/office/drawing/2014/main" id="{D18A388B-04EF-433C-9B86-702C4F661714}"/>
              </a:ext>
            </a:extLst>
          </p:cNvPr>
          <p:cNvSpPr>
            <a:spLocks xmlns:a="http://schemas.openxmlformats.org/drawingml/2006/main" noGrp="1"/>
          </p:cNvSpPr>
          <p:nvPr/>
        </p:nvSpPr>
        <p:spPr>
          <a:xfrm xmlns:a="http://schemas.openxmlformats.org/drawingml/2006/main">
            <a:off x="4286250" y="2428875"/>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pruebas frontend</a:t>
            </a:r>
          </a:p>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Vitest + RTL</a:t>
            </a:r>
          </a:p>
        </p:txBody>
      </p:sp>
      <p:sp>
        <p:nvSpPr>
          <p:cNvPr id="9" name="4">
            <a:extLst xmlns:a="http://schemas.openxmlformats.org/drawingml/2006/main">
              <a:ext uri="{FF2B5EF4-FFF2-40B4-BE49-F238E27FC236}">
                <a16:creationId xmlns:a16="http://schemas.microsoft.com/office/drawing/2014/main" id="{DA3A25C6-DCD0-46D1-95A4-78C41E00AFB9}"/>
              </a:ext>
            </a:extLst>
          </p:cNvPr>
          <p:cNvSpPr>
            <a:spLocks xmlns:a="http://schemas.openxmlformats.org/drawingml/2006/main" noGrp="1"/>
          </p:cNvSpPr>
          <p:nvPr/>
        </p:nvSpPr>
        <p:spPr>
          <a:xfrm xmlns:a="http://schemas.openxmlformats.org/drawingml/2006/main">
            <a:off x="7962900" y="1533525"/>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1">
                <a:solidFill>
                  <a:srgbClr val="C0007F"/>
                </a:solidFill>
                <a:latin typeface="Arial"/>
                <a:ea typeface="Arial"/>
                <a:cs typeface="Arial"/>
              </a:defRPr>
            </a:pPr>
            <a:r>
              <a:rPr sz="5250" b="1">
                <a:solidFill>
                  <a:srgbClr val="C0007F"/>
                </a:solidFill>
                <a:latin typeface="Arial"/>
                <a:ea typeface="Arial"/>
                <a:cs typeface="Arial"/>
              </a:rPr>
              <a:t>4</a:t>
            </a:r>
          </a:p>
        </p:txBody>
      </p:sp>
      <p:sp>
        <p:nvSpPr>
          <p:cNvPr id="10" name="flujos de sistema&#10;Playwright">
            <a:extLst xmlns:a="http://schemas.openxmlformats.org/drawingml/2006/main">
              <a:ext uri="{FF2B5EF4-FFF2-40B4-BE49-F238E27FC236}">
                <a16:creationId xmlns:a16="http://schemas.microsoft.com/office/drawing/2014/main" id="{42FEA350-DD71-4FFD-9EEF-A604EEECAD54}"/>
              </a:ext>
            </a:extLst>
          </p:cNvPr>
          <p:cNvSpPr>
            <a:spLocks xmlns:a="http://schemas.openxmlformats.org/drawingml/2006/main" noGrp="1"/>
          </p:cNvSpPr>
          <p:nvPr/>
        </p:nvSpPr>
        <p:spPr>
          <a:xfrm xmlns:a="http://schemas.openxmlformats.org/drawingml/2006/main">
            <a:off x="7962900" y="2428875"/>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flujos de sistema</a:t>
            </a:r>
          </a:p>
          <a:p xmlns:a="http://schemas.openxmlformats.org/drawingml/2006/main">
            <a:pPr algn="l">
              <a:defRPr sz="1800" b="0">
                <a:solidFill>
                  <a:srgbClr val="14263D"/>
                </a:solidFill>
                <a:latin typeface="Arial"/>
                <a:ea typeface="Arial"/>
                <a:cs typeface="Arial"/>
              </a:defRPr>
            </a:pPr>
            <a:r>
              <a:rPr sz="1800" b="0">
                <a:solidFill>
                  <a:srgbClr val="14263D"/>
                </a:solidFill>
                <a:latin typeface="Arial"/>
                <a:ea typeface="Arial"/>
                <a:cs typeface="Arial"/>
              </a:rPr>
              <a:t>Playwright</a:t>
            </a:r>
          </a:p>
        </p:txBody>
      </p:sp>
      <p:graphicFrame>
        <p:nvGraphicFramePr>
          <p:cNvPr id="23" name=""/>
          <p:cNvGraphicFramePr/>
          <p:nvPr/>
        </p:nvGraphicFramePr>
        <p:xfrm>
          <a:off xmlns:a="http://schemas.openxmlformats.org/drawingml/2006/main" x="609600" y="3752850"/>
          <a:ext xmlns:a="http://schemas.openxmlformats.org/drawingml/2006/main" cx="10972800" cy="2257425"/>
        </p:xfrm>
        <a:graphic xmlns:a="http://schemas.openxmlformats.org/drawingml/2006/main">
          <a:graphicData uri="http://schemas.openxmlformats.org/drawingml/2006/table">
            <a:tbl>
              <a:tblPr firstRow="0" bandRow="0"/>
              <a:tblGrid>
                <a:gridCol w="3333750"/>
                <a:gridCol w="7639050"/>
              </a:tblGrid>
              <a:tr h="451485">
                <a:tc>
                  <a:txBody>
                    <a:bodyPr>
                      <a:noAutofit/>
                    </a:bodyPr>
                    <a:lstStyle/>
                    <a:p>
                      <a:r>
                        <a:rPr sz="1650" b="1">
                          <a:solidFill>
                            <a:srgbClr val="FFFFFF"/>
                          </a:solidFill>
                          <a:latin typeface="Arial"/>
                          <a:ea typeface="Arial"/>
                          <a:cs typeface="Arial"/>
                        </a:rPr>
                        <a:t>Nivel</a:t>
                      </a:r>
                    </a:p>
                  </a:txBody>
                  <a:tcPr marL="142875" marR="142875" marT="95250" marB="85725" anchor="ctr">
                    <a:solidFill>
                      <a:srgbClr val="14263D"/>
                    </a:solidFill>
                  </a:tcPr>
                </a:tc>
                <a:tc>
                  <a:txBody>
                    <a:bodyPr>
                      <a:noAutofit/>
                    </a:bodyPr>
                    <a:lstStyle/>
                    <a:p>
                      <a:r>
                        <a:rPr sz="1650" b="1">
                          <a:solidFill>
                            <a:srgbClr val="FFFFFF"/>
                          </a:solidFill>
                          <a:latin typeface="Arial"/>
                          <a:ea typeface="Arial"/>
                          <a:cs typeface="Arial"/>
                        </a:rPr>
                        <a:t>Riesgo comprobado</a:t>
                      </a:r>
                    </a:p>
                  </a:txBody>
                  <a:tcPr marL="142875" marR="142875" marT="95250" marB="85725" anchor="ctr">
                    <a:solidFill>
                      <a:srgbClr val="14263D"/>
                    </a:solidFill>
                  </a:tcPr>
                </a:tc>
              </a:tr>
              <a:tr h="451485">
                <a:tc>
                  <a:txBody>
                    <a:bodyPr>
                      <a:noAutofit/>
                    </a:bodyPr>
                    <a:lstStyle/>
                    <a:p>
                      <a:r>
                        <a:rPr sz="1650" b="0">
                          <a:solidFill>
                            <a:srgbClr val="14263D"/>
                          </a:solidFill>
                          <a:latin typeface="Arial"/>
                          <a:ea typeface="Arial"/>
                          <a:cs typeface="Arial"/>
                        </a:rPr>
                        <a:t>Servicios y API</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Reglas, contratos y autorización</a:t>
                      </a:r>
                    </a:p>
                  </a:txBody>
                  <a:tcPr marL="142875" marR="142875" marT="95250" marB="85725" anchor="ctr">
                    <a:solidFill>
                      <a:srgbClr val="FFFFFF"/>
                    </a:solidFill>
                  </a:tcPr>
                </a:tc>
              </a:tr>
              <a:tr h="451485">
                <a:tc>
                  <a:txBody>
                    <a:bodyPr>
                      <a:noAutofit/>
                    </a:bodyPr>
                    <a:lstStyle/>
                    <a:p>
                      <a:r>
                        <a:rPr sz="1650" b="0">
                          <a:solidFill>
                            <a:srgbClr val="14263D"/>
                          </a:solidFill>
                          <a:latin typeface="Arial"/>
                          <a:ea typeface="Arial"/>
                          <a:cs typeface="Arial"/>
                        </a:rPr>
                        <a:t>PostgreSQL real</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Restricciones y carreras de concurrencia</a:t>
                      </a:r>
                    </a:p>
                  </a:txBody>
                  <a:tcPr marL="142875" marR="142875" marT="95250" marB="85725" anchor="ctr">
                    <a:solidFill>
                      <a:srgbClr val="FFFFFF"/>
                    </a:solidFill>
                  </a:tcPr>
                </a:tc>
              </a:tr>
              <a:tr h="451485">
                <a:tc>
                  <a:txBody>
                    <a:bodyPr>
                      <a:noAutofit/>
                    </a:bodyPr>
                    <a:lstStyle/>
                    <a:p>
                      <a:r>
                        <a:rPr sz="1650" b="0">
                          <a:solidFill>
                            <a:srgbClr val="14263D"/>
                          </a:solidFill>
                          <a:latin typeface="Arial"/>
                          <a:ea typeface="Arial"/>
                          <a:cs typeface="Arial"/>
                        </a:rPr>
                        <a:t>Sistema integrado</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Casos de uso sobre Compose</a:t>
                      </a:r>
                    </a:p>
                  </a:txBody>
                  <a:tcPr marL="142875" marR="142875" marT="95250" marB="85725" anchor="ctr">
                    <a:solidFill>
                      <a:srgbClr val="FFFFFF"/>
                    </a:solidFill>
                  </a:tcPr>
                </a:tc>
              </a:tr>
              <a:tr h="451485">
                <a:tc>
                  <a:txBody>
                    <a:bodyPr>
                      <a:noAutofit/>
                    </a:bodyPr>
                    <a:lstStyle/>
                    <a:p>
                      <a:r>
                        <a:rPr sz="1650" b="0">
                          <a:solidFill>
                            <a:srgbClr val="14263D"/>
                          </a:solidFill>
                          <a:latin typeface="Arial"/>
                          <a:ea typeface="Arial"/>
                          <a:cs typeface="Arial"/>
                        </a:rPr>
                        <a:t>Entorno desplegado</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HTTPS, cookie y configuración efectiva</a:t>
                      </a:r>
                    </a:p>
                  </a:txBody>
                  <a:tcPr marL="142875" marR="142875" marT="95250" marB="85725" anchor="ctr">
                    <a:solidFill>
                      <a:srgbClr val="FFFFFF"/>
                    </a:solidFill>
                  </a:tcPr>
                </a:tc>
              </a:tr>
            </a:tbl>
          </a:graphicData>
        </a:graphic>
      </p:graphicFrame>
      <p:sp>
        <p:nvSpPr>
          <p:cNvPr id="12" name="Recuentos al cierre del Sprint 7. Son casos ejecutados, no p">
            <a:extLst xmlns:a="http://schemas.openxmlformats.org/drawingml/2006/main">
              <a:ext uri="{FF2B5EF4-FFF2-40B4-BE49-F238E27FC236}">
                <a16:creationId xmlns:a16="http://schemas.microsoft.com/office/drawing/2014/main" id="{916D9E87-3339-4C14-B999-F2EC31450CA4}"/>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Recuentos al cierre del Sprint 7. Son casos ejecutados, no porcentaje de cobertura. Memoria, pp. 48–55.</a:t>
            </a:r>
          </a:p>
        </p:txBody>
      </p:sp>
    </p:spTree>
    <p:extLst>
      <p:ext uri="{BB962C8B-B14F-4D97-AF65-F5344CB8AC3E}">
        <p14:creationId xmlns:p14="http://schemas.microsoft.com/office/powerpoint/2010/main" val="127048845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06 · VALIDACIÓN Y DESPLIEGUE">
            <a:extLst xmlns:a="http://schemas.openxmlformats.org/drawingml/2006/main">
              <a:ext uri="{FF2B5EF4-FFF2-40B4-BE49-F238E27FC236}">
                <a16:creationId xmlns:a16="http://schemas.microsoft.com/office/drawing/2014/main" id="{E0005BF4-544B-41FA-9644-D1E39A5AAEFF}"/>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06 · VALIDACIÓN Y DESPLIEGUE</a:t>
            </a:r>
          </a:p>
        </p:txBody>
      </p:sp>
      <p:sp>
        <p:nvSpPr>
          <p:cNvPr id="2" name="Despliegue reproducible">
            <a:extLst xmlns:a="http://schemas.openxmlformats.org/drawingml/2006/main">
              <a:ext uri="{FF2B5EF4-FFF2-40B4-BE49-F238E27FC236}">
                <a16:creationId xmlns:a16="http://schemas.microsoft.com/office/drawing/2014/main" id="{95780D87-B052-4869-8FC4-17127FA00BF0}"/>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Despliegue reproducible</a:t>
            </a:r>
          </a:p>
        </p:txBody>
      </p:sp>
      <p:sp>
        <p:nvSpPr>
          <p:cNvPr id="3" name="">
            <a:extLst xmlns:a="http://schemas.openxmlformats.org/drawingml/2006/main">
              <a:ext uri="{FF2B5EF4-FFF2-40B4-BE49-F238E27FC236}">
                <a16:creationId xmlns:a16="http://schemas.microsoft.com/office/drawing/2014/main" id="{3CC9AE92-3987-45F2-BBF8-3C207AC58C95}"/>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C28EA067-9CB1-417C-9ED0-CC08921DB7F3}"/>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15</a:t>
            </a:r>
          </a:p>
        </p:txBody>
      </p:sp>
      <p:graphicFrame>
        <p:nvGraphicFramePr>
          <p:cNvPr id="14" name=""/>
          <p:cNvGraphicFramePr/>
          <p:nvPr/>
        </p:nvGraphicFramePr>
        <p:xfrm>
          <a:off xmlns:a="http://schemas.openxmlformats.org/drawingml/2006/main" x="609600" y="1752600"/>
          <a:ext xmlns:a="http://schemas.openxmlformats.org/drawingml/2006/main" cx="6715125" cy="2781300"/>
        </p:xfrm>
        <a:graphic xmlns:a="http://schemas.openxmlformats.org/drawingml/2006/main">
          <a:graphicData uri="http://schemas.openxmlformats.org/drawingml/2006/table">
            <a:tbl>
              <a:tblPr firstRow="0" bandRow="0"/>
              <a:tblGrid>
                <a:gridCol w="2143125"/>
                <a:gridCol w="4572000"/>
              </a:tblGrid>
              <a:tr h="695325">
                <a:tc>
                  <a:txBody>
                    <a:bodyPr>
                      <a:noAutofit/>
                    </a:bodyPr>
                    <a:lstStyle/>
                    <a:p>
                      <a:r>
                        <a:rPr sz="1725" b="1">
                          <a:solidFill>
                            <a:srgbClr val="FFFFFF"/>
                          </a:solidFill>
                          <a:latin typeface="Arial"/>
                          <a:ea typeface="Arial"/>
                          <a:cs typeface="Arial"/>
                        </a:rPr>
                        <a:t>Etapa</a:t>
                      </a:r>
                    </a:p>
                  </a:txBody>
                  <a:tcPr marL="142875" marR="142875" marT="95250" marB="85725" anchor="ctr">
                    <a:solidFill>
                      <a:srgbClr val="14263D"/>
                    </a:solidFill>
                  </a:tcPr>
                </a:tc>
                <a:tc>
                  <a:txBody>
                    <a:bodyPr>
                      <a:noAutofit/>
                    </a:bodyPr>
                    <a:lstStyle/>
                    <a:p>
                      <a:r>
                        <a:rPr sz="1725" b="1">
                          <a:solidFill>
                            <a:srgbClr val="FFFFFF"/>
                          </a:solidFill>
                          <a:latin typeface="Arial"/>
                          <a:ea typeface="Arial"/>
                          <a:cs typeface="Arial"/>
                        </a:rPr>
                        <a:t>Responsabilidad</a:t>
                      </a:r>
                    </a:p>
                  </a:txBody>
                  <a:tcPr marL="142875" marR="142875" marT="95250" marB="85725" anchor="ctr">
                    <a:solidFill>
                      <a:srgbClr val="14263D"/>
                    </a:solidFill>
                  </a:tcPr>
                </a:tc>
              </a:tr>
              <a:tr h="695325">
                <a:tc>
                  <a:txBody>
                    <a:bodyPr>
                      <a:noAutofit/>
                    </a:bodyPr>
                    <a:lstStyle/>
                    <a:p>
                      <a:r>
                        <a:rPr sz="1725" b="0">
                          <a:solidFill>
                            <a:srgbClr val="14263D"/>
                          </a:solidFill>
                          <a:latin typeface="Arial"/>
                          <a:ea typeface="Arial"/>
                          <a:cs typeface="Arial"/>
                        </a:rPr>
                        <a:t>GitHub Actions</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Valida y publica API y web en GHCR</a:t>
                      </a:r>
                    </a:p>
                  </a:txBody>
                  <a:tcPr marL="142875" marR="142875" marT="95250" marB="85725" anchor="ctr">
                    <a:solidFill>
                      <a:srgbClr val="FFFFFF"/>
                    </a:solidFill>
                  </a:tcPr>
                </a:tc>
              </a:tr>
              <a:tr h="695325">
                <a:tc>
                  <a:txBody>
                    <a:bodyPr>
                      <a:noAutofit/>
                    </a:bodyPr>
                    <a:lstStyle/>
                    <a:p>
                      <a:r>
                        <a:rPr sz="1725" b="0">
                          <a:solidFill>
                            <a:srgbClr val="14263D"/>
                          </a:solidFill>
                          <a:latin typeface="Arial"/>
                          <a:ea typeface="Arial"/>
                          <a:cs typeface="Arial"/>
                        </a:rPr>
                        <a:t>VM Ubuntu</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Descarga imágenes y aplica Compose</a:t>
                      </a:r>
                    </a:p>
                  </a:txBody>
                  <a:tcPr marL="142875" marR="142875" marT="95250" marB="85725" anchor="ctr">
                    <a:solidFill>
                      <a:srgbClr val="FFFFFF"/>
                    </a:solidFill>
                  </a:tcPr>
                </a:tc>
              </a:tr>
              <a:tr h="695325">
                <a:tc>
                  <a:txBody>
                    <a:bodyPr>
                      <a:noAutofit/>
                    </a:bodyPr>
                    <a:lstStyle/>
                    <a:p>
                      <a:r>
                        <a:rPr sz="1725" b="0">
                          <a:solidFill>
                            <a:srgbClr val="14263D"/>
                          </a:solidFill>
                          <a:latin typeface="Arial"/>
                          <a:ea typeface="Arial"/>
                          <a:cs typeface="Arial"/>
                        </a:rPr>
                        <a:t>Script + systemd</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Comprueba salud, revisión y digests</a:t>
                      </a:r>
                    </a:p>
                  </a:txBody>
                  <a:tcPr marL="142875" marR="142875" marT="95250" marB="85725" anchor="ctr">
                    <a:solidFill>
                      <a:srgbClr val="FFFFFF"/>
                    </a:solidFill>
                  </a:tcPr>
                </a:tc>
              </a:tr>
            </a:tbl>
          </a:graphicData>
        </a:graphic>
      </p:graphicFrame>
      <p:sp>
        <p:nvSpPr>
          <p:cNvPr id="6" name="Acceso HTTPS temporal">
            <a:extLst xmlns:a="http://schemas.openxmlformats.org/drawingml/2006/main">
              <a:ext uri="{FF2B5EF4-FFF2-40B4-BE49-F238E27FC236}">
                <a16:creationId xmlns:a16="http://schemas.microsoft.com/office/drawing/2014/main" id="{D03F6FD5-47E1-4882-8FE8-02F0C305E8A3}"/>
              </a:ext>
            </a:extLst>
          </p:cNvPr>
          <p:cNvSpPr>
            <a:spLocks xmlns:a="http://schemas.openxmlformats.org/drawingml/2006/main" noGrp="1"/>
          </p:cNvSpPr>
          <p:nvPr/>
        </p:nvSpPr>
        <p:spPr>
          <a:xfrm xmlns:a="http://schemas.openxmlformats.org/drawingml/2006/main">
            <a:off x="609600" y="4943475"/>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Acceso HTTPS temporal</a:t>
            </a:r>
          </a:p>
        </p:txBody>
      </p:sp>
      <p:sp>
        <p:nvSpPr>
          <p:cNvPr id="7" name="Cuatro servicios, sin puertos de contenedores publicados en ">
            <a:extLst xmlns:a="http://schemas.openxmlformats.org/drawingml/2006/main">
              <a:ext uri="{FF2B5EF4-FFF2-40B4-BE49-F238E27FC236}">
                <a16:creationId xmlns:a16="http://schemas.microsoft.com/office/drawing/2014/main" id="{BEAFBBEE-3E1F-4E9F-9145-6F77A8B39A2A}"/>
              </a:ext>
            </a:extLst>
          </p:cNvPr>
          <p:cNvSpPr>
            <a:spLocks xmlns:a="http://schemas.openxmlformats.org/drawingml/2006/main" noGrp="1"/>
          </p:cNvSpPr>
          <p:nvPr/>
        </p:nvSpPr>
        <p:spPr>
          <a:xfrm xmlns:a="http://schemas.openxmlformats.org/drawingml/2006/main">
            <a:off x="609600" y="5381625"/>
            <a:ext cx="671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4263D"/>
                </a:solidFill>
                <a:latin typeface="Arial"/>
                <a:ea typeface="Arial"/>
                <a:cs typeface="Arial"/>
              </a:defRPr>
            </a:pPr>
            <a:r>
              <a:rPr sz="1950" b="0">
                <a:solidFill>
                  <a:srgbClr val="14263D"/>
                </a:solidFill>
                <a:latin typeface="Arial"/>
                <a:ea typeface="Arial"/>
                <a:cs typeface="Arial"/>
              </a:rPr>
              <a:t>Cuatro servicios, sin puertos de contenedores publicados en el host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b289996308a49a9"/>
          <a:stretch xmlns:a="http://schemas.openxmlformats.org/drawingml/2006/main"/>
        </p:blipFill>
        <p:spPr>
          <a:xfrm xmlns:a="http://schemas.openxmlformats.org/drawingml/2006/main">
            <a:off x="7991475" y="2649791"/>
            <a:ext cx="3524250" cy="2310893"/>
          </a:xfrm>
          <a:prstGeom xmlns:a="http://schemas.openxmlformats.org/drawingml/2006/main" prst="rect">
            <a:avLst/>
          </a:prstGeom>
        </p:spPr>
      </p:pic>
      <p:sp>
        <p:nvSpPr>
          <p:cNvPr id="9" name="Entorno de demostración reproducible. El túnel saliente evit">
            <a:extLst xmlns:a="http://schemas.openxmlformats.org/drawingml/2006/main">
              <a:ext uri="{FF2B5EF4-FFF2-40B4-BE49-F238E27FC236}">
                <a16:creationId xmlns:a16="http://schemas.microsoft.com/office/drawing/2014/main" id="{F735F983-CF0D-43D5-9302-7D3CBAFD62B7}"/>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Entorno de demostración reproducible. El túnel saliente evita abrir puertos de entrada. Memoria, cap. 9.</a:t>
            </a:r>
          </a:p>
        </p:txBody>
      </p:sp>
    </p:spTree>
    <p:extLst>
      <p:ext uri="{BB962C8B-B14F-4D97-AF65-F5344CB8AC3E}">
        <p14:creationId xmlns:p14="http://schemas.microsoft.com/office/powerpoint/2010/main" val="17380520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07 · CONCLUSIONES Y TRABAJO FUTURO">
            <a:extLst xmlns:a="http://schemas.openxmlformats.org/drawingml/2006/main">
              <a:ext uri="{FF2B5EF4-FFF2-40B4-BE49-F238E27FC236}">
                <a16:creationId xmlns:a16="http://schemas.microsoft.com/office/drawing/2014/main" id="{7FDA5B3C-B023-498D-AE57-D3F783AACA6A}"/>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07 · CONCLUSIONES Y TRABAJO FUTURO</a:t>
            </a:r>
          </a:p>
        </p:txBody>
      </p:sp>
      <p:sp>
        <p:nvSpPr>
          <p:cNvPr id="2" name="Evaluación del resultado">
            <a:extLst xmlns:a="http://schemas.openxmlformats.org/drawingml/2006/main">
              <a:ext uri="{FF2B5EF4-FFF2-40B4-BE49-F238E27FC236}">
                <a16:creationId xmlns:a16="http://schemas.microsoft.com/office/drawing/2014/main" id="{59C447E0-7F10-4924-971D-F7780E410A66}"/>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Evaluación del resultado</a:t>
            </a:r>
          </a:p>
        </p:txBody>
      </p:sp>
      <p:sp>
        <p:nvSpPr>
          <p:cNvPr id="3" name="">
            <a:extLst xmlns:a="http://schemas.openxmlformats.org/drawingml/2006/main">
              <a:ext uri="{FF2B5EF4-FFF2-40B4-BE49-F238E27FC236}">
                <a16:creationId xmlns:a16="http://schemas.microsoft.com/office/drawing/2014/main" id="{186DA839-C8CE-4DBF-8116-920D595F0BBE}"/>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C9A39E15-179B-4A47-A9ED-C127D93F288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16</a:t>
            </a:r>
          </a:p>
        </p:txBody>
      </p:sp>
      <p:graphicFrame>
        <p:nvGraphicFramePr>
          <p:cNvPr id="12" name=""/>
          <p:cNvGraphicFramePr/>
          <p:nvPr/>
        </p:nvGraphicFramePr>
        <p:xfrm>
          <a:off xmlns:a="http://schemas.openxmlformats.org/drawingml/2006/main" x="609600" y="1714500"/>
          <a:ext xmlns:a="http://schemas.openxmlformats.org/drawingml/2006/main" cx="10972800" cy="3800475"/>
        </p:xfrm>
        <a:graphic xmlns:a="http://schemas.openxmlformats.org/drawingml/2006/main">
          <a:graphicData uri="http://schemas.openxmlformats.org/drawingml/2006/table">
            <a:tbl>
              <a:tblPr firstRow="0" bandRow="0"/>
              <a:tblGrid>
                <a:gridCol w="3143250"/>
                <a:gridCol w="5562600"/>
                <a:gridCol w="2266950"/>
              </a:tblGrid>
              <a:tr h="760095">
                <a:tc>
                  <a:txBody>
                    <a:bodyPr>
                      <a:noAutofit/>
                    </a:bodyPr>
                    <a:lstStyle/>
                    <a:p>
                      <a:r>
                        <a:rPr sz="1725" b="1">
                          <a:solidFill>
                            <a:srgbClr val="FFFFFF"/>
                          </a:solidFill>
                          <a:latin typeface="Arial"/>
                          <a:ea typeface="Arial"/>
                          <a:cs typeface="Arial"/>
                        </a:rPr>
                        <a:t>Criterio inicial</a:t>
                      </a:r>
                    </a:p>
                  </a:txBody>
                  <a:tcPr marL="142875" marR="142875" marT="95250" marB="85725" anchor="ctr">
                    <a:solidFill>
                      <a:srgbClr val="14263D"/>
                    </a:solidFill>
                  </a:tcPr>
                </a:tc>
                <a:tc>
                  <a:txBody>
                    <a:bodyPr>
                      <a:noAutofit/>
                    </a:bodyPr>
                    <a:lstStyle/>
                    <a:p>
                      <a:r>
                        <a:rPr sz="1725" b="1">
                          <a:solidFill>
                            <a:srgbClr val="FFFFFF"/>
                          </a:solidFill>
                          <a:latin typeface="Arial"/>
                          <a:ea typeface="Arial"/>
                          <a:cs typeface="Arial"/>
                        </a:rPr>
                        <a:t>Evidencia final</a:t>
                      </a:r>
                    </a:p>
                  </a:txBody>
                  <a:tcPr marL="142875" marR="142875" marT="95250" marB="85725" anchor="ctr">
                    <a:solidFill>
                      <a:srgbClr val="14263D"/>
                    </a:solidFill>
                  </a:tcPr>
                </a:tc>
                <a:tc>
                  <a:txBody>
                    <a:bodyPr>
                      <a:noAutofit/>
                    </a:bodyPr>
                    <a:lstStyle/>
                    <a:p>
                      <a:r>
                        <a:rPr sz="1725" b="1">
                          <a:solidFill>
                            <a:srgbClr val="FFFFFF"/>
                          </a:solidFill>
                          <a:latin typeface="Arial"/>
                          <a:ea typeface="Arial"/>
                          <a:cs typeface="Arial"/>
                        </a:rPr>
                        <a:t>Evaluación</a:t>
                      </a:r>
                    </a:p>
                  </a:txBody>
                  <a:tcPr marL="142875" marR="142875" marT="95250" marB="85725" anchor="ctr">
                    <a:solidFill>
                      <a:srgbClr val="14263D"/>
                    </a:solidFill>
                  </a:tcPr>
                </a:tc>
              </a:tr>
              <a:tr h="760095">
                <a:tc>
                  <a:txBody>
                    <a:bodyPr>
                      <a:noAutofit/>
                    </a:bodyPr>
                    <a:lstStyle/>
                    <a:p>
                      <a:r>
                        <a:rPr sz="1725" b="0">
                          <a:solidFill>
                            <a:srgbClr val="14263D"/>
                          </a:solidFill>
                          <a:latin typeface="Arial"/>
                          <a:ea typeface="Arial"/>
                          <a:cs typeface="Arial"/>
                        </a:rPr>
                        <a:t>Funcionalidad</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RF-01 a RF-14 y cuatro casos de uso</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Cumplido</a:t>
                      </a:r>
                    </a:p>
                  </a:txBody>
                  <a:tcPr marL="142875" marR="142875" marT="95250" marB="85725" anchor="ctr">
                    <a:solidFill>
                      <a:srgbClr val="FFFFFF"/>
                    </a:solidFill>
                  </a:tcPr>
                </a:tc>
              </a:tr>
              <a:tr h="760095">
                <a:tc>
                  <a:txBody>
                    <a:bodyPr>
                      <a:noAutofit/>
                    </a:bodyPr>
                    <a:lstStyle/>
                    <a:p>
                      <a:r>
                        <a:rPr sz="1725" b="0">
                          <a:solidFill>
                            <a:srgbClr val="14263D"/>
                          </a:solidFill>
                          <a:latin typeface="Arial"/>
                          <a:ea typeface="Arial"/>
                          <a:cs typeface="Arial"/>
                        </a:rPr>
                        <a:t>Calidad</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Pruebas por capas y reglas de concurrencia</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Cumplido</a:t>
                      </a:r>
                    </a:p>
                  </a:txBody>
                  <a:tcPr marL="142875" marR="142875" marT="95250" marB="85725" anchor="ctr">
                    <a:solidFill>
                      <a:srgbClr val="FFFFFF"/>
                    </a:solidFill>
                  </a:tcPr>
                </a:tc>
              </a:tr>
              <a:tr h="760095">
                <a:tc>
                  <a:txBody>
                    <a:bodyPr>
                      <a:noAutofit/>
                    </a:bodyPr>
                    <a:lstStyle/>
                    <a:p>
                      <a:r>
                        <a:rPr sz="1725" b="0">
                          <a:solidFill>
                            <a:srgbClr val="14263D"/>
                          </a:solidFill>
                          <a:latin typeface="Arial"/>
                          <a:ea typeface="Arial"/>
                          <a:cs typeface="Arial"/>
                        </a:rPr>
                        <a:t>Reproducibilidad</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Compose, CI y despliegue documentado</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Cumplido</a:t>
                      </a:r>
                    </a:p>
                  </a:txBody>
                  <a:tcPr marL="142875" marR="142875" marT="95250" marB="85725" anchor="ctr">
                    <a:solidFill>
                      <a:srgbClr val="FFFFFF"/>
                    </a:solidFill>
                  </a:tcPr>
                </a:tc>
              </a:tr>
              <a:tr h="760095">
                <a:tc>
                  <a:txBody>
                    <a:bodyPr>
                      <a:noAutofit/>
                    </a:bodyPr>
                    <a:lstStyle/>
                    <a:p>
                      <a:r>
                        <a:rPr sz="1725" b="0">
                          <a:solidFill>
                            <a:srgbClr val="14263D"/>
                          </a:solidFill>
                          <a:latin typeface="Arial"/>
                          <a:ea typeface="Arial"/>
                          <a:cs typeface="Arial"/>
                        </a:rPr>
                        <a:t>Impacto empresarial</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Sin evaluación con usuarios reales</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No evaluado</a:t>
                      </a:r>
                    </a:p>
                  </a:txBody>
                  <a:tcPr marL="142875" marR="142875" marT="95250" marB="85725" anchor="ctr">
                    <a:solidFill>
                      <a:srgbClr val="FFFFFF"/>
                    </a:solidFill>
                  </a:tcPr>
                </a:tc>
              </a:tr>
            </a:tbl>
          </a:graphicData>
        </a:graphic>
      </p:graphicFrame>
      <p:sp>
        <p:nvSpPr>
          <p:cNvPr id="6" name="El resultado cumple los criterios técnicos definidos al inic">
            <a:extLst xmlns:a="http://schemas.openxmlformats.org/drawingml/2006/main">
              <a:ext uri="{FF2B5EF4-FFF2-40B4-BE49-F238E27FC236}">
                <a16:creationId xmlns:a16="http://schemas.microsoft.com/office/drawing/2014/main" id="{A9E6118C-5C95-40AF-9527-0B5B828D8675}"/>
              </a:ext>
            </a:extLst>
          </p:cNvPr>
          <p:cNvSpPr>
            <a:spLocks xmlns:a="http://schemas.openxmlformats.org/drawingml/2006/main" noGrp="1"/>
          </p:cNvSpPr>
          <p:nvPr/>
        </p:nvSpPr>
        <p:spPr>
          <a:xfrm xmlns:a="http://schemas.openxmlformats.org/drawingml/2006/main">
            <a:off x="609600" y="5800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156A5"/>
                </a:solidFill>
                <a:latin typeface="Arial"/>
                <a:ea typeface="Arial"/>
                <a:cs typeface="Arial"/>
              </a:defRPr>
            </a:pPr>
            <a:r>
              <a:rPr sz="2025" b="1">
                <a:solidFill>
                  <a:srgbClr val="2156A5"/>
                </a:solidFill>
                <a:latin typeface="Arial"/>
                <a:ea typeface="Arial"/>
                <a:cs typeface="Arial"/>
              </a:rPr>
              <a:t>El resultado cumple los criterios técnicos definidos al inicio sin atribuir beneficios no medidos</a:t>
            </a:r>
          </a:p>
        </p:txBody>
      </p:sp>
      <p:sp>
        <p:nvSpPr>
          <p:cNvPr id="7" name="Evaluación basada en la trazabilidad, los resultados y las c">
            <a:extLst xmlns:a="http://schemas.openxmlformats.org/drawingml/2006/main">
              <a:ext uri="{FF2B5EF4-FFF2-40B4-BE49-F238E27FC236}">
                <a16:creationId xmlns:a16="http://schemas.microsoft.com/office/drawing/2014/main" id="{71C9C2F3-07AA-4C55-A298-D19E41992957}"/>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Evaluación basada en la trazabilidad, los resultados y las conclusiones de la memoria, pp. 61–69.</a:t>
            </a:r>
          </a:p>
        </p:txBody>
      </p:sp>
    </p:spTree>
    <p:extLst>
      <p:ext uri="{BB962C8B-B14F-4D97-AF65-F5344CB8AC3E}">
        <p14:creationId xmlns:p14="http://schemas.microsoft.com/office/powerpoint/2010/main" val="127903292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7 · CONCLUSIONES Y TRABAJO FUTURO">
            <a:extLst xmlns:a="http://schemas.openxmlformats.org/drawingml/2006/main">
              <a:ext uri="{FF2B5EF4-FFF2-40B4-BE49-F238E27FC236}">
                <a16:creationId xmlns:a16="http://schemas.microsoft.com/office/drawing/2014/main" id="{CC2E445E-CECE-4C92-9EC2-B7C0F85DFFE9}"/>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07 · CONCLUSIONES Y TRABAJO FUTURO</a:t>
            </a:r>
          </a:p>
        </p:txBody>
      </p:sp>
      <p:sp>
        <p:nvSpPr>
          <p:cNvPr id="2" name="Límites y trabajo futuro">
            <a:extLst xmlns:a="http://schemas.openxmlformats.org/drawingml/2006/main">
              <a:ext uri="{FF2B5EF4-FFF2-40B4-BE49-F238E27FC236}">
                <a16:creationId xmlns:a16="http://schemas.microsoft.com/office/drawing/2014/main" id="{B2980BF1-45D1-4F9E-A5BD-F1E0C442A5C5}"/>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Límites y trabajo futuro</a:t>
            </a:r>
          </a:p>
        </p:txBody>
      </p:sp>
      <p:sp>
        <p:nvSpPr>
          <p:cNvPr id="3" name="">
            <a:extLst xmlns:a="http://schemas.openxmlformats.org/drawingml/2006/main">
              <a:ext uri="{FF2B5EF4-FFF2-40B4-BE49-F238E27FC236}">
                <a16:creationId xmlns:a16="http://schemas.microsoft.com/office/drawing/2014/main" id="{19A0F5F1-7E39-4D84-9419-4C4B7AD54E32}"/>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43FD8BFD-5D22-4F79-A8FE-C9628ABC7AD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17</a:t>
            </a:r>
          </a:p>
        </p:txBody>
      </p:sp>
      <p:sp>
        <p:nvSpPr>
          <p:cNvPr id="5" name="Límites del resultado">
            <a:extLst xmlns:a="http://schemas.openxmlformats.org/drawingml/2006/main">
              <a:ext uri="{FF2B5EF4-FFF2-40B4-BE49-F238E27FC236}">
                <a16:creationId xmlns:a16="http://schemas.microsoft.com/office/drawing/2014/main" id="{22510A9E-6D42-4604-B1BE-B9C2D15F8D7A}"/>
              </a:ext>
            </a:extLst>
          </p:cNvPr>
          <p:cNvSpPr>
            <a:spLocks xmlns:a="http://schemas.openxmlformats.org/drawingml/2006/main" noGrp="1"/>
          </p:cNvSpPr>
          <p:nvPr/>
        </p:nvSpPr>
        <p:spPr>
          <a:xfrm xmlns:a="http://schemas.openxmlformats.org/drawingml/2006/main">
            <a:off x="609600" y="170497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C0007F"/>
                </a:solidFill>
                <a:latin typeface="Arial"/>
                <a:ea typeface="Arial"/>
                <a:cs typeface="Arial"/>
              </a:defRPr>
            </a:pPr>
            <a:r>
              <a:rPr sz="1650" b="1">
                <a:solidFill>
                  <a:srgbClr val="C0007F"/>
                </a:solidFill>
                <a:latin typeface="Arial"/>
                <a:ea typeface="Arial"/>
                <a:cs typeface="Arial"/>
              </a:rPr>
              <a:t>Límites del resultado</a:t>
            </a:r>
          </a:p>
        </p:txBody>
      </p:sp>
      <p:sp>
        <p:nvSpPr>
          <p:cNvPr id="6" name="Caso de negocio simulado&#10;Sin evaluación con usuarios reales&#10;">
            <a:extLst xmlns:a="http://schemas.openxmlformats.org/drawingml/2006/main">
              <a:ext uri="{FF2B5EF4-FFF2-40B4-BE49-F238E27FC236}">
                <a16:creationId xmlns:a16="http://schemas.microsoft.com/office/drawing/2014/main" id="{BFDD140E-B589-43EC-8EA6-15A0883F9925}"/>
              </a:ext>
            </a:extLst>
          </p:cNvPr>
          <p:cNvSpPr>
            <a:spLocks xmlns:a="http://schemas.openxmlformats.org/drawingml/2006/main" noGrp="1"/>
          </p:cNvSpPr>
          <p:nvPr/>
        </p:nvSpPr>
        <p:spPr>
          <a:xfrm xmlns:a="http://schemas.openxmlformats.org/drawingml/2006/main">
            <a:off x="609600" y="2209800"/>
            <a:ext cx="519112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4263D"/>
                </a:solidFill>
                <a:latin typeface="Arial"/>
                <a:ea typeface="Arial"/>
                <a:cs typeface="Arial"/>
              </a:defRPr>
            </a:pPr>
            <a:r>
              <a:rPr sz="2100" b="0">
                <a:solidFill>
                  <a:srgbClr val="14263D"/>
                </a:solidFill>
                <a:latin typeface="Arial"/>
                <a:ea typeface="Arial"/>
                <a:cs typeface="Arial"/>
              </a:rPr>
              <a:t>Caso de negocio simulado</a:t>
            </a:r>
          </a:p>
          <a:p xmlns:a="http://schemas.openxmlformats.org/drawingml/2006/main">
            <a:pPr algn="l">
              <a:defRPr sz="2100" b="0">
                <a:solidFill>
                  <a:srgbClr val="14263D"/>
                </a:solidFill>
                <a:latin typeface="Arial"/>
                <a:ea typeface="Arial"/>
                <a:cs typeface="Arial"/>
              </a:defRPr>
            </a:pPr>
            <a:r>
              <a:rPr sz="2100" b="0">
                <a:solidFill>
                  <a:srgbClr val="14263D"/>
                </a:solidFill>
                <a:latin typeface="Arial"/>
                <a:ea typeface="Arial"/>
                <a:cs typeface="Arial"/>
              </a:rPr>
              <a:t>Sin evaluación con usuarios reales</a:t>
            </a:r>
          </a:p>
          <a:p xmlns:a="http://schemas.openxmlformats.org/drawingml/2006/main">
            <a:pPr algn="l">
              <a:defRPr sz="2100" b="0">
                <a:solidFill>
                  <a:srgbClr val="14263D"/>
                </a:solidFill>
                <a:latin typeface="Arial"/>
                <a:ea typeface="Arial"/>
                <a:cs typeface="Arial"/>
              </a:defRPr>
            </a:pPr>
            <a:r>
              <a:rPr sz="2100" b="0">
                <a:solidFill>
                  <a:srgbClr val="14263D"/>
                </a:solidFill>
                <a:latin typeface="Arial"/>
                <a:ea typeface="Arial"/>
                <a:cs typeface="Arial"/>
              </a:rPr>
              <a:t>Sin pruebas de carga</a:t>
            </a:r>
          </a:p>
          <a:p xmlns:a="http://schemas.openxmlformats.org/drawingml/2006/main">
            <a:pPr algn="l">
              <a:defRPr sz="2100" b="0">
                <a:solidFill>
                  <a:srgbClr val="14263D"/>
                </a:solidFill>
                <a:latin typeface="Arial"/>
                <a:ea typeface="Arial"/>
                <a:cs typeface="Arial"/>
              </a:defRPr>
            </a:pPr>
            <a:r>
              <a:rPr sz="2100" b="0">
                <a:solidFill>
                  <a:srgbClr val="14263D"/>
                </a:solidFill>
                <a:latin typeface="Arial"/>
                <a:ea typeface="Arial"/>
                <a:cs typeface="Arial"/>
              </a:rPr>
              <a:t>Túnel temporal, sin copias ni métricas</a:t>
            </a:r>
          </a:p>
        </p:txBody>
      </p:sp>
      <p:sp>
        <p:nvSpPr>
          <p:cNvPr id="7" name="Prioridades de continuación">
            <a:extLst xmlns:a="http://schemas.openxmlformats.org/drawingml/2006/main">
              <a:ext uri="{FF2B5EF4-FFF2-40B4-BE49-F238E27FC236}">
                <a16:creationId xmlns:a16="http://schemas.microsoft.com/office/drawing/2014/main" id="{A99719FD-C85C-46B6-AE30-9CDF4FE33337}"/>
              </a:ext>
            </a:extLst>
          </p:cNvPr>
          <p:cNvSpPr>
            <a:spLocks xmlns:a="http://schemas.openxmlformats.org/drawingml/2006/main" noGrp="1"/>
          </p:cNvSpPr>
          <p:nvPr/>
        </p:nvSpPr>
        <p:spPr>
          <a:xfrm xmlns:a="http://schemas.openxmlformats.org/drawingml/2006/main">
            <a:off x="6553200" y="170497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156A5"/>
                </a:solidFill>
                <a:latin typeface="Arial"/>
                <a:ea typeface="Arial"/>
                <a:cs typeface="Arial"/>
              </a:defRPr>
            </a:pPr>
            <a:r>
              <a:rPr sz="1650" b="1">
                <a:solidFill>
                  <a:srgbClr val="2156A5"/>
                </a:solidFill>
                <a:latin typeface="Arial"/>
                <a:ea typeface="Arial"/>
                <a:cs typeface="Arial"/>
              </a:rPr>
              <a:t>Prioridades de continuación</a:t>
            </a:r>
          </a:p>
        </p:txBody>
      </p:sp>
      <p:sp>
        <p:nvSpPr>
          <p:cNvPr id="8" name="Validar el núcleo con usuarios&#10;Estabilizar alojamiento y rec">
            <a:extLst xmlns:a="http://schemas.openxmlformats.org/drawingml/2006/main">
              <a:ext uri="{FF2B5EF4-FFF2-40B4-BE49-F238E27FC236}">
                <a16:creationId xmlns:a16="http://schemas.microsoft.com/office/drawing/2014/main" id="{1279E4F7-84CC-4668-A872-80F22A87B129}"/>
              </a:ext>
            </a:extLst>
          </p:cNvPr>
          <p:cNvSpPr>
            <a:spLocks xmlns:a="http://schemas.openxmlformats.org/drawingml/2006/main" noGrp="1"/>
          </p:cNvSpPr>
          <p:nvPr/>
        </p:nvSpPr>
        <p:spPr>
          <a:xfrm xmlns:a="http://schemas.openxmlformats.org/drawingml/2006/main">
            <a:off x="6553200" y="2209800"/>
            <a:ext cx="5029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4263D"/>
                </a:solidFill>
                <a:latin typeface="Arial"/>
                <a:ea typeface="Arial"/>
                <a:cs typeface="Arial"/>
              </a:defRPr>
            </a:pPr>
            <a:r>
              <a:rPr sz="2100" b="0">
                <a:solidFill>
                  <a:srgbClr val="14263D"/>
                </a:solidFill>
                <a:latin typeface="Arial"/>
                <a:ea typeface="Arial"/>
                <a:cs typeface="Arial"/>
              </a:rPr>
              <a:t>Validar el núcleo con usuarios</a:t>
            </a:r>
          </a:p>
          <a:p xmlns:a="http://schemas.openxmlformats.org/drawingml/2006/main">
            <a:pPr algn="l">
              <a:defRPr sz="2100" b="0">
                <a:solidFill>
                  <a:srgbClr val="14263D"/>
                </a:solidFill>
                <a:latin typeface="Arial"/>
                <a:ea typeface="Arial"/>
                <a:cs typeface="Arial"/>
              </a:defRPr>
            </a:pPr>
            <a:r>
              <a:rPr sz="2100" b="0">
                <a:solidFill>
                  <a:srgbClr val="14263D"/>
                </a:solidFill>
                <a:latin typeface="Arial"/>
                <a:ea typeface="Arial"/>
                <a:cs typeface="Arial"/>
              </a:rPr>
              <a:t>Estabilizar alojamiento y recuperación</a:t>
            </a:r>
          </a:p>
          <a:p xmlns:a="http://schemas.openxmlformats.org/drawingml/2006/main">
            <a:pPr algn="l">
              <a:defRPr sz="2100" b="0">
                <a:solidFill>
                  <a:srgbClr val="14263D"/>
                </a:solidFill>
                <a:latin typeface="Arial"/>
                <a:ea typeface="Arial"/>
                <a:cs typeface="Arial"/>
              </a:defRPr>
            </a:pPr>
            <a:r>
              <a:rPr sz="2100" b="0">
                <a:solidFill>
                  <a:srgbClr val="14263D"/>
                </a:solidFill>
                <a:latin typeface="Arial"/>
                <a:ea typeface="Arial"/>
                <a:cs typeface="Arial"/>
              </a:rPr>
              <a:t>Publicar el mismo artefacto probado</a:t>
            </a:r>
          </a:p>
        </p:txBody>
      </p:sp>
      <p:sp>
        <p:nvSpPr>
          <p:cNvPr id="9" name="">
            <a:extLst xmlns:a="http://schemas.openxmlformats.org/drawingml/2006/main">
              <a:ext uri="{FF2B5EF4-FFF2-40B4-BE49-F238E27FC236}">
                <a16:creationId xmlns:a16="http://schemas.microsoft.com/office/drawing/2014/main" id="{EDF9C451-6C67-40D4-8EE6-19540B642FB8}"/>
              </a:ext>
            </a:extLst>
          </p:cNvPr>
          <p:cNvSpPr>
            <a:spLocks xmlns:a="http://schemas.openxmlformats.org/drawingml/2006/main" noGrp="1"/>
          </p:cNvSpPr>
          <p:nvPr/>
        </p:nvSpPr>
        <p:spPr>
          <a:xfrm xmlns:a="http://schemas.openxmlformats.org/drawingml/2006/main">
            <a:off x="609600" y="476250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10" name="Rutas, GPS, facturación y acceso externo se valorarían despu">
            <a:extLst xmlns:a="http://schemas.openxmlformats.org/drawingml/2006/main">
              <a:ext uri="{FF2B5EF4-FFF2-40B4-BE49-F238E27FC236}">
                <a16:creationId xmlns:a16="http://schemas.microsoft.com/office/drawing/2014/main" id="{FD9A9C72-9212-45B6-9EAF-7C186F360A32}"/>
              </a:ext>
            </a:extLst>
          </p:cNvPr>
          <p:cNvSpPr>
            <a:spLocks xmlns:a="http://schemas.openxmlformats.org/drawingml/2006/main" noGrp="1"/>
          </p:cNvSpPr>
          <p:nvPr/>
        </p:nvSpPr>
        <p:spPr>
          <a:xfrm xmlns:a="http://schemas.openxmlformats.org/drawingml/2006/main">
            <a:off x="609600" y="51339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4263D"/>
                </a:solidFill>
                <a:latin typeface="Arial"/>
                <a:ea typeface="Arial"/>
                <a:cs typeface="Arial"/>
              </a:defRPr>
            </a:pPr>
            <a:r>
              <a:rPr sz="2250" b="1">
                <a:solidFill>
                  <a:srgbClr val="14263D"/>
                </a:solidFill>
                <a:latin typeface="Arial"/>
                <a:ea typeface="Arial"/>
                <a:cs typeface="Arial"/>
              </a:rPr>
              <a:t>Rutas, GPS, facturación y acceso externo se valorarían después de validar el uso real</a:t>
            </a:r>
          </a:p>
        </p:txBody>
      </p:sp>
      <p:sp>
        <p:nvSpPr>
          <p:cNvPr id="11" name="Límites y líneas futuras de la memoria, pp. 60 y 66–69.">
            <a:extLst xmlns:a="http://schemas.openxmlformats.org/drawingml/2006/main">
              <a:ext uri="{FF2B5EF4-FFF2-40B4-BE49-F238E27FC236}">
                <a16:creationId xmlns:a16="http://schemas.microsoft.com/office/drawing/2014/main" id="{1F064674-49FB-45C2-9E41-235950FFE43A}"/>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Límites y líneas futuras de la memoria, pp. 60 y 66–69.</a:t>
            </a:r>
          </a:p>
        </p:txBody>
      </p:sp>
    </p:spTree>
    <p:extLst>
      <p:ext uri="{BB962C8B-B14F-4D97-AF65-F5344CB8AC3E}">
        <p14:creationId xmlns:p14="http://schemas.microsoft.com/office/powerpoint/2010/main" val="1780725326"/>
      </p:ext>
    </p:extLst>
  </p:cSld>
</p:sld>
</file>

<file path=ppt/slides/slide18.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0" name="07 · CONCLUSIONES Y TRABAJO FUTURO">
            <a:extLst xmlns:a="http://schemas.openxmlformats.org/drawingml/2006/main">
              <a:ext uri="{FF2B5EF4-FFF2-40B4-BE49-F238E27FC236}">
                <a16:creationId xmlns:a16="http://schemas.microsoft.com/office/drawing/2014/main" id="{03CCAF61-9EA4-4E9C-8320-4E9E9418B228}"/>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F2A7D4"/>
                </a:solidFill>
                <a:latin typeface="Arial"/>
                <a:ea typeface="Arial"/>
                <a:cs typeface="Arial"/>
              </a:defRPr>
            </a:pPr>
            <a:r>
              <a:rPr sz="1275" b="1">
                <a:solidFill>
                  <a:srgbClr val="F2A7D4"/>
                </a:solidFill>
                <a:latin typeface="Arial"/>
                <a:ea typeface="Arial"/>
                <a:cs typeface="Arial"/>
              </a:rPr>
              <a:t>07 · CONCLUSIONES Y TRABAJO FUTURO</a:t>
            </a:r>
          </a:p>
        </p:txBody>
      </p:sp>
      <p:sp>
        <p:nvSpPr>
          <p:cNvPr id="2" name="Conclusiones">
            <a:extLst xmlns:a="http://schemas.openxmlformats.org/drawingml/2006/main">
              <a:ext uri="{FF2B5EF4-FFF2-40B4-BE49-F238E27FC236}">
                <a16:creationId xmlns:a16="http://schemas.microsoft.com/office/drawing/2014/main" id="{83763D10-6CFE-4708-A577-E9F2E2D57207}"/>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Conclusiones</a:t>
            </a:r>
          </a:p>
        </p:txBody>
      </p:sp>
      <p:sp>
        <p:nvSpPr>
          <p:cNvPr id="3" name="">
            <a:extLst xmlns:a="http://schemas.openxmlformats.org/drawingml/2006/main">
              <a:ext uri="{FF2B5EF4-FFF2-40B4-BE49-F238E27FC236}">
                <a16:creationId xmlns:a16="http://schemas.microsoft.com/office/drawing/2014/main" id="{7AD2331D-07A6-4A3D-B401-FF52887518A1}"/>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42536A"/>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6DB212DD-77F6-4C6A-B22B-C8A82F31A578}"/>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D3DCE7"/>
                </a:solidFill>
                <a:latin typeface="Arial"/>
                <a:ea typeface="Arial"/>
                <a:cs typeface="Arial"/>
              </a:defRPr>
            </a:pPr>
            <a:r>
              <a:rPr sz="1200" b="0">
                <a:solidFill>
                  <a:srgbClr val="D3DCE7"/>
                </a:solidFill>
                <a:latin typeface="Arial"/>
                <a:ea typeface="Arial"/>
                <a:cs typeface="Arial"/>
              </a:rPr>
              <a:t>18</a:t>
            </a:r>
          </a:p>
        </p:txBody>
      </p:sp>
      <p:sp>
        <p:nvSpPr>
          <p:cNvPr id="5" name="Un núcleo operativo completo&#10;con un ciclo de ingeniería veri">
            <a:extLst xmlns:a="http://schemas.openxmlformats.org/drawingml/2006/main">
              <a:ext uri="{FF2B5EF4-FFF2-40B4-BE49-F238E27FC236}">
                <a16:creationId xmlns:a16="http://schemas.microsoft.com/office/drawing/2014/main" id="{8A2A5A76-3982-427E-912E-65C961E8E68C}"/>
              </a:ext>
            </a:extLst>
          </p:cNvPr>
          <p:cNvSpPr>
            <a:spLocks xmlns:a="http://schemas.openxmlformats.org/drawingml/2006/main" noGrp="1"/>
          </p:cNvSpPr>
          <p:nvPr/>
        </p:nvSpPr>
        <p:spPr>
          <a:xfrm xmlns:a="http://schemas.openxmlformats.org/drawingml/2006/main">
            <a:off x="609600" y="175260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Un núcleo operativo completo</a:t>
            </a:r>
          </a:p>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con un ciclo de ingeniería verificable</a:t>
            </a:r>
          </a:p>
        </p:txBody>
      </p:sp>
      <p:sp>
        <p:nvSpPr>
          <p:cNvPr id="6" name="Las necesidades se relacionan con el diseño y las pruebas.&#10;C">
            <a:extLst xmlns:a="http://schemas.openxmlformats.org/drawingml/2006/main">
              <a:ext uri="{FF2B5EF4-FFF2-40B4-BE49-F238E27FC236}">
                <a16:creationId xmlns:a16="http://schemas.microsoft.com/office/drawing/2014/main" id="{F7FD1666-3EC9-4687-B5DC-B1618AA3DC6B}"/>
              </a:ext>
            </a:extLst>
          </p:cNvPr>
          <p:cNvSpPr>
            <a:spLocks xmlns:a="http://schemas.openxmlformats.org/drawingml/2006/main" noGrp="1"/>
          </p:cNvSpPr>
          <p:nvPr/>
        </p:nvSpPr>
        <p:spPr>
          <a:xfrm xmlns:a="http://schemas.openxmlformats.org/drawingml/2006/main">
            <a:off x="609600" y="3562350"/>
            <a:ext cx="10668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DFE7EF"/>
                </a:solidFill>
                <a:latin typeface="Arial"/>
                <a:ea typeface="Arial"/>
                <a:cs typeface="Arial"/>
              </a:defRPr>
            </a:pPr>
            <a:r>
              <a:rPr sz="2175" b="0">
                <a:solidFill>
                  <a:srgbClr val="DFE7EF"/>
                </a:solidFill>
                <a:latin typeface="Arial"/>
                <a:ea typeface="Arial"/>
                <a:cs typeface="Arial"/>
              </a:rPr>
              <a:t>Las necesidades se relacionan con el diseño y las pruebas.</a:t>
            </a:r>
          </a:p>
          <a:p xmlns:a="http://schemas.openxmlformats.org/drawingml/2006/main">
            <a:pPr algn="l">
              <a:defRPr sz="2175" b="0">
                <a:solidFill>
                  <a:srgbClr val="DFE7EF"/>
                </a:solidFill>
                <a:latin typeface="Arial"/>
                <a:ea typeface="Arial"/>
                <a:cs typeface="Arial"/>
              </a:defRPr>
            </a:pPr>
            <a:r>
              <a:rPr sz="2175" b="0">
                <a:solidFill>
                  <a:srgbClr val="DFE7EF"/>
                </a:solidFill>
                <a:latin typeface="Arial"/>
                <a:ea typeface="Arial"/>
                <a:cs typeface="Arial"/>
              </a:rPr>
              <a:t>Cada incremento entrega una capacidad utilizable.</a:t>
            </a:r>
          </a:p>
          <a:p xmlns:a="http://schemas.openxmlformats.org/drawingml/2006/main">
            <a:pPr algn="l">
              <a:defRPr sz="2175" b="0">
                <a:solidFill>
                  <a:srgbClr val="DFE7EF"/>
                </a:solidFill>
                <a:latin typeface="Arial"/>
                <a:ea typeface="Arial"/>
                <a:cs typeface="Arial"/>
              </a:defRPr>
            </a:pPr>
            <a:r>
              <a:rPr sz="2175" b="0">
                <a:solidFill>
                  <a:srgbClr val="DFE7EF"/>
                </a:solidFill>
                <a:latin typeface="Arial"/>
                <a:ea typeface="Arial"/>
                <a:cs typeface="Arial"/>
              </a:rPr>
              <a:t>El sistema puede reproducirse y desplegarse siguiendo la documentación.</a:t>
            </a:r>
          </a:p>
        </p:txBody>
      </p:sp>
      <p:sp>
        <p:nvSpPr>
          <p:cNvPr id="7" name="Gracias">
            <a:extLst xmlns:a="http://schemas.openxmlformats.org/drawingml/2006/main">
              <a:ext uri="{FF2B5EF4-FFF2-40B4-BE49-F238E27FC236}">
                <a16:creationId xmlns:a16="http://schemas.microsoft.com/office/drawing/2014/main" id="{31B7B264-C00C-41CB-8562-27F97F8A855C}"/>
              </a:ext>
            </a:extLst>
          </p:cNvPr>
          <p:cNvSpPr>
            <a:spLocks xmlns:a="http://schemas.openxmlformats.org/drawingml/2006/main" noGrp="1"/>
          </p:cNvSpPr>
          <p:nvPr/>
        </p:nvSpPr>
        <p:spPr>
          <a:xfrm xmlns:a="http://schemas.openxmlformats.org/drawingml/2006/main">
            <a:off x="609600" y="5829300"/>
            <a:ext cx="571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Gracias</a:t>
            </a:r>
          </a:p>
        </p:txBody>
      </p:sp>
      <p:sp>
        <p:nvSpPr>
          <p:cNvPr id="8" name="Preguntas">
            <a:extLst xmlns:a="http://schemas.openxmlformats.org/drawingml/2006/main">
              <a:ext uri="{FF2B5EF4-FFF2-40B4-BE49-F238E27FC236}">
                <a16:creationId xmlns:a16="http://schemas.microsoft.com/office/drawing/2014/main" id="{15A568F7-7D51-42EA-AFC5-78993F18BD43}"/>
              </a:ext>
            </a:extLst>
          </p:cNvPr>
          <p:cNvSpPr>
            <a:spLocks xmlns:a="http://schemas.openxmlformats.org/drawingml/2006/main" noGrp="1"/>
          </p:cNvSpPr>
          <p:nvPr/>
        </p:nvSpPr>
        <p:spPr>
          <a:xfrm xmlns:a="http://schemas.openxmlformats.org/drawingml/2006/main">
            <a:off x="8858250" y="5829300"/>
            <a:ext cx="2724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100" b="0">
                <a:solidFill>
                  <a:srgbClr val="DFE7EF"/>
                </a:solidFill>
                <a:latin typeface="Arial"/>
                <a:ea typeface="Arial"/>
                <a:cs typeface="Arial"/>
              </a:defRPr>
            </a:pPr>
            <a:r>
              <a:rPr sz="2100" b="0">
                <a:solidFill>
                  <a:srgbClr val="DFE7EF"/>
                </a:solidFill>
                <a:latin typeface="Arial"/>
                <a:ea typeface="Arial"/>
                <a:cs typeface="Arial"/>
              </a:rPr>
              <a:t>Preguntas</a:t>
            </a:r>
          </a:p>
        </p:txBody>
      </p:sp>
      <p:sp>
        <p:nvSpPr>
          <p:cNvPr id="9" name="Pablo Manzanares López · TransitOps">
            <a:extLst xmlns:a="http://schemas.openxmlformats.org/drawingml/2006/main">
              <a:ext uri="{FF2B5EF4-FFF2-40B4-BE49-F238E27FC236}">
                <a16:creationId xmlns:a16="http://schemas.microsoft.com/office/drawing/2014/main" id="{165A96BC-0EE7-4BD9-81A7-23D87BB5880A}"/>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3DCE7"/>
                </a:solidFill>
                <a:latin typeface="Arial"/>
                <a:ea typeface="Arial"/>
                <a:cs typeface="Arial"/>
              </a:defRPr>
            </a:pPr>
            <a:r>
              <a:rPr sz="1050" b="0">
                <a:solidFill>
                  <a:srgbClr val="D3DCE7"/>
                </a:solidFill>
                <a:latin typeface="Arial"/>
                <a:ea typeface="Arial"/>
                <a:cs typeface="Arial"/>
              </a:rPr>
              <a:t>Pablo Manzanares López · TransitOps</a:t>
            </a:r>
          </a:p>
        </p:txBody>
      </p:sp>
    </p:spTree>
    <p:extLst>
      <p:ext uri="{BB962C8B-B14F-4D97-AF65-F5344CB8AC3E}">
        <p14:creationId xmlns:p14="http://schemas.microsoft.com/office/powerpoint/2010/main" val="292818030"/>
      </p:ext>
    </p:extLst>
  </p:cSld>
</p:sld>
</file>

<file path=ppt/slides/slide1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EXO">
            <a:extLst xmlns:a="http://schemas.openxmlformats.org/drawingml/2006/main">
              <a:ext uri="{FF2B5EF4-FFF2-40B4-BE49-F238E27FC236}">
                <a16:creationId xmlns:a16="http://schemas.microsoft.com/office/drawing/2014/main" id="{938EDDFB-134F-4826-8169-4F1980A4B5F2}"/>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ANEXO</a:t>
            </a:r>
          </a:p>
        </p:txBody>
      </p:sp>
      <p:sp>
        <p:nvSpPr>
          <p:cNvPr id="2" name="Trazabilidad de requisitos">
            <a:extLst xmlns:a="http://schemas.openxmlformats.org/drawingml/2006/main">
              <a:ext uri="{FF2B5EF4-FFF2-40B4-BE49-F238E27FC236}">
                <a16:creationId xmlns:a16="http://schemas.microsoft.com/office/drawing/2014/main" id="{6A7C2DA7-7821-468C-A3C3-301EADDACBF1}"/>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Trazabilidad de requisitos</a:t>
            </a:r>
          </a:p>
        </p:txBody>
      </p:sp>
      <p:sp>
        <p:nvSpPr>
          <p:cNvPr id="3" name="">
            <a:extLst xmlns:a="http://schemas.openxmlformats.org/drawingml/2006/main">
              <a:ext uri="{FF2B5EF4-FFF2-40B4-BE49-F238E27FC236}">
                <a16:creationId xmlns:a16="http://schemas.microsoft.com/office/drawing/2014/main" id="{3D784995-CA98-44D8-A50B-B0B38B039225}"/>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A">
            <a:extLst xmlns:a="http://schemas.openxmlformats.org/drawingml/2006/main">
              <a:ext uri="{FF2B5EF4-FFF2-40B4-BE49-F238E27FC236}">
                <a16:creationId xmlns:a16="http://schemas.microsoft.com/office/drawing/2014/main" id="{4CEB0C87-81C0-4DC8-AE62-64D6F68857CD}"/>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A</a:t>
            </a:r>
          </a:p>
        </p:txBody>
      </p:sp>
      <p:graphicFrame>
        <p:nvGraphicFramePr>
          <p:cNvPr id="11" name=""/>
          <p:cNvGraphicFramePr/>
          <p:nvPr/>
        </p:nvGraphicFramePr>
        <p:xfrm>
          <a:off xmlns:a="http://schemas.openxmlformats.org/drawingml/2006/main" x="609600" y="1657350"/>
          <a:ext xmlns:a="http://schemas.openxmlformats.org/drawingml/2006/main" cx="10972800" cy="4305300"/>
        </p:xfrm>
        <a:graphic xmlns:a="http://schemas.openxmlformats.org/drawingml/2006/main">
          <a:graphicData uri="http://schemas.openxmlformats.org/drawingml/2006/table">
            <a:tbl>
              <a:tblPr firstRow="0" bandRow="0"/>
              <a:tblGrid>
                <a:gridCol w="3209925"/>
                <a:gridCol w="1943100"/>
                <a:gridCol w="5819775"/>
              </a:tblGrid>
              <a:tr h="615043">
                <a:tc>
                  <a:txBody>
                    <a:bodyPr>
                      <a:noAutofit/>
                    </a:bodyPr>
                    <a:lstStyle/>
                    <a:p>
                      <a:r>
                        <a:rPr sz="1725" b="1">
                          <a:solidFill>
                            <a:srgbClr val="FFFFFF"/>
                          </a:solidFill>
                          <a:latin typeface="Arial"/>
                          <a:ea typeface="Arial"/>
                          <a:cs typeface="Arial"/>
                        </a:rPr>
                        <a:t>Requisitos</a:t>
                      </a:r>
                    </a:p>
                  </a:txBody>
                  <a:tcPr marL="142875" marR="142875" marT="95250" marB="85725" anchor="ctr">
                    <a:solidFill>
                      <a:srgbClr val="14263D"/>
                    </a:solidFill>
                  </a:tcPr>
                </a:tc>
                <a:tc>
                  <a:txBody>
                    <a:bodyPr>
                      <a:noAutofit/>
                    </a:bodyPr>
                    <a:lstStyle/>
                    <a:p>
                      <a:r>
                        <a:rPr sz="1725" b="1">
                          <a:solidFill>
                            <a:srgbClr val="FFFFFF"/>
                          </a:solidFill>
                          <a:latin typeface="Arial"/>
                          <a:ea typeface="Arial"/>
                          <a:cs typeface="Arial"/>
                        </a:rPr>
                        <a:t>Incremento</a:t>
                      </a:r>
                    </a:p>
                  </a:txBody>
                  <a:tcPr marL="142875" marR="142875" marT="95250" marB="85725" anchor="ctr">
                    <a:solidFill>
                      <a:srgbClr val="14263D"/>
                    </a:solidFill>
                  </a:tcPr>
                </a:tc>
                <a:tc>
                  <a:txBody>
                    <a:bodyPr>
                      <a:noAutofit/>
                    </a:bodyPr>
                    <a:lstStyle/>
                    <a:p>
                      <a:r>
                        <a:rPr sz="1725" b="1">
                          <a:solidFill>
                            <a:srgbClr val="FFFFFF"/>
                          </a:solidFill>
                          <a:latin typeface="Arial"/>
                          <a:ea typeface="Arial"/>
                          <a:cs typeface="Arial"/>
                        </a:rPr>
                        <a:t>Evidencia principal</a:t>
                      </a:r>
                    </a:p>
                  </a:txBody>
                  <a:tcPr marL="142875" marR="142875" marT="95250" marB="85725" anchor="ctr">
                    <a:solidFill>
                      <a:srgbClr val="14263D"/>
                    </a:solidFill>
                  </a:tcPr>
                </a:tc>
              </a:tr>
              <a:tr h="615043">
                <a:tc>
                  <a:txBody>
                    <a:bodyPr>
                      <a:noAutofit/>
                    </a:bodyPr>
                    <a:lstStyle/>
                    <a:p>
                      <a:r>
                        <a:rPr sz="1725" b="0">
                          <a:solidFill>
                            <a:srgbClr val="14263D"/>
                          </a:solidFill>
                          <a:latin typeface="Arial"/>
                          <a:ea typeface="Arial"/>
                          <a:cs typeface="Arial"/>
                        </a:rPr>
                        <a:t>RF-01, RF-02, RF-13</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S1</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Acceso, bootstrap y contrato de error</a:t>
                      </a:r>
                    </a:p>
                  </a:txBody>
                  <a:tcPr marL="142875" marR="142875" marT="95250" marB="85725" anchor="ctr">
                    <a:solidFill>
                      <a:srgbClr val="FFFFFF"/>
                    </a:solidFill>
                  </a:tcPr>
                </a:tc>
              </a:tr>
              <a:tr h="615043">
                <a:tc>
                  <a:txBody>
                    <a:bodyPr>
                      <a:noAutofit/>
                    </a:bodyPr>
                    <a:lstStyle/>
                    <a:p>
                      <a:r>
                        <a:rPr sz="1725" b="0">
                          <a:solidFill>
                            <a:srgbClr val="14263D"/>
                          </a:solidFill>
                          <a:latin typeface="Arial"/>
                          <a:ea typeface="Arial"/>
                          <a:cs typeface="Arial"/>
                        </a:rPr>
                        <a:t>RF-05–RF-07</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S2</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Catálogos y conservación histórica</a:t>
                      </a:r>
                    </a:p>
                  </a:txBody>
                  <a:tcPr marL="142875" marR="142875" marT="95250" marB="85725" anchor="ctr">
                    <a:solidFill>
                      <a:srgbClr val="FFFFFF"/>
                    </a:solidFill>
                  </a:tcPr>
                </a:tc>
              </a:tr>
              <a:tr h="615043">
                <a:tc>
                  <a:txBody>
                    <a:bodyPr>
                      <a:noAutofit/>
                    </a:bodyPr>
                    <a:lstStyle/>
                    <a:p>
                      <a:r>
                        <a:rPr sz="1725" b="0">
                          <a:solidFill>
                            <a:srgbClr val="14263D"/>
                          </a:solidFill>
                          <a:latin typeface="Arial"/>
                          <a:ea typeface="Arial"/>
                          <a:cs typeface="Arial"/>
                        </a:rPr>
                        <a:t>RF-08, RF-12</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S3</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Envíos, filtros y fechas</a:t>
                      </a:r>
                    </a:p>
                  </a:txBody>
                  <a:tcPr marL="142875" marR="142875" marT="95250" marB="85725" anchor="ctr">
                    <a:solidFill>
                      <a:srgbClr val="FFFFFF"/>
                    </a:solidFill>
                  </a:tcPr>
                </a:tc>
              </a:tr>
              <a:tr h="615043">
                <a:tc>
                  <a:txBody>
                    <a:bodyPr>
                      <a:noAutofit/>
                    </a:bodyPr>
                    <a:lstStyle/>
                    <a:p>
                      <a:r>
                        <a:rPr sz="1725" b="0">
                          <a:solidFill>
                            <a:srgbClr val="14263D"/>
                          </a:solidFill>
                          <a:latin typeface="Arial"/>
                          <a:ea typeface="Arial"/>
                          <a:cs typeface="Arial"/>
                        </a:rPr>
                        <a:t>RF-09, RF-10</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S4 + S7</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Operación y concurrencia real</a:t>
                      </a:r>
                    </a:p>
                  </a:txBody>
                  <a:tcPr marL="142875" marR="142875" marT="95250" marB="85725" anchor="ctr">
                    <a:solidFill>
                      <a:srgbClr val="FFFFFF"/>
                    </a:solidFill>
                  </a:tcPr>
                </a:tc>
              </a:tr>
              <a:tr h="615043">
                <a:tc>
                  <a:txBody>
                    <a:bodyPr>
                      <a:noAutofit/>
                    </a:bodyPr>
                    <a:lstStyle/>
                    <a:p>
                      <a:r>
                        <a:rPr sz="1725" b="0">
                          <a:solidFill>
                            <a:srgbClr val="14263D"/>
                          </a:solidFill>
                          <a:latin typeface="Arial"/>
                          <a:ea typeface="Arial"/>
                          <a:cs typeface="Arial"/>
                        </a:rPr>
                        <a:t>RF-11</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S5</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Historial, autoría y atomicidad</a:t>
                      </a:r>
                    </a:p>
                  </a:txBody>
                  <a:tcPr marL="142875" marR="142875" marT="95250" marB="85725" anchor="ctr">
                    <a:solidFill>
                      <a:srgbClr val="FFFFFF"/>
                    </a:solidFill>
                  </a:tcPr>
                </a:tc>
              </a:tr>
              <a:tr h="615043">
                <a:tc>
                  <a:txBody>
                    <a:bodyPr>
                      <a:noAutofit/>
                    </a:bodyPr>
                    <a:lstStyle/>
                    <a:p>
                      <a:r>
                        <a:rPr sz="1725" b="0">
                          <a:solidFill>
                            <a:srgbClr val="14263D"/>
                          </a:solidFill>
                          <a:latin typeface="Arial"/>
                          <a:ea typeface="Arial"/>
                          <a:cs typeface="Arial"/>
                        </a:rPr>
                        <a:t>RF-03, RF-04, RF-14</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S6 + S7</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Usuarios, contraseña e indicadores</a:t>
                      </a:r>
                    </a:p>
                  </a:txBody>
                  <a:tcPr marL="142875" marR="142875" marT="95250" marB="85725" anchor="ctr">
                    <a:solidFill>
                      <a:srgbClr val="FFFFFF"/>
                    </a:solidFill>
                  </a:tcPr>
                </a:tc>
              </a:tr>
            </a:tbl>
          </a:graphicData>
        </a:graphic>
      </p:graphicFrame>
      <p:sp>
        <p:nvSpPr>
          <p:cNvPr id="6" name="RF-04 incorpora la recuperación de contraseña administrativa">
            <a:extLst xmlns:a="http://schemas.openxmlformats.org/drawingml/2006/main">
              <a:ext uri="{FF2B5EF4-FFF2-40B4-BE49-F238E27FC236}">
                <a16:creationId xmlns:a16="http://schemas.microsoft.com/office/drawing/2014/main" id="{CBD7738B-45D5-46CF-8B35-38450769672D}"/>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RF-04 incorpora la recuperación de contraseña administrativa en S7. Memoria, pp. 61–62.</a:t>
            </a:r>
          </a:p>
        </p:txBody>
      </p:sp>
    </p:spTree>
    <p:extLst>
      <p:ext uri="{BB962C8B-B14F-4D97-AF65-F5344CB8AC3E}">
        <p14:creationId xmlns:p14="http://schemas.microsoft.com/office/powerpoint/2010/main" val="1414118237"/>
      </p:ext>
    </p:extLst>
  </p:cSld>
</p:sld>
</file>

<file path=ppt/slides/slide2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EXO">
            <a:extLst xmlns:a="http://schemas.openxmlformats.org/drawingml/2006/main">
              <a:ext uri="{FF2B5EF4-FFF2-40B4-BE49-F238E27FC236}">
                <a16:creationId xmlns:a16="http://schemas.microsoft.com/office/drawing/2014/main" id="{AE171973-F119-44F3-86F4-3F28AA6276D4}"/>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ANEXO</a:t>
            </a:r>
          </a:p>
        </p:txBody>
      </p:sp>
      <p:sp>
        <p:nvSpPr>
          <p:cNvPr id="2" name="Concurrencia y seguridad">
            <a:extLst xmlns:a="http://schemas.openxmlformats.org/drawingml/2006/main">
              <a:ext uri="{FF2B5EF4-FFF2-40B4-BE49-F238E27FC236}">
                <a16:creationId xmlns:a16="http://schemas.microsoft.com/office/drawing/2014/main" id="{D8287BD8-14A4-474D-805A-A1E43A15492B}"/>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Concurrencia y seguridad</a:t>
            </a:r>
          </a:p>
        </p:txBody>
      </p:sp>
      <p:sp>
        <p:nvSpPr>
          <p:cNvPr id="3" name="">
            <a:extLst xmlns:a="http://schemas.openxmlformats.org/drawingml/2006/main">
              <a:ext uri="{FF2B5EF4-FFF2-40B4-BE49-F238E27FC236}">
                <a16:creationId xmlns:a16="http://schemas.microsoft.com/office/drawing/2014/main" id="{B4145CE2-1CA0-418B-8A84-731ADC68E478}"/>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B">
            <a:extLst xmlns:a="http://schemas.openxmlformats.org/drawingml/2006/main">
              <a:ext uri="{FF2B5EF4-FFF2-40B4-BE49-F238E27FC236}">
                <a16:creationId xmlns:a16="http://schemas.microsoft.com/office/drawing/2014/main" id="{087F08D0-9A7B-4075-903C-3957A21E3AA0}"/>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B</a:t>
            </a:r>
          </a:p>
        </p:txBody>
      </p:sp>
      <p:graphicFrame>
        <p:nvGraphicFramePr>
          <p:cNvPr id="11" name=""/>
          <p:cNvGraphicFramePr/>
          <p:nvPr/>
        </p:nvGraphicFramePr>
        <p:xfrm>
          <a:off xmlns:a="http://schemas.openxmlformats.org/drawingml/2006/main" x="609600" y="1695450"/>
          <a:ext xmlns:a="http://schemas.openxmlformats.org/drawingml/2006/main" cx="10972800" cy="3819525"/>
        </p:xfrm>
        <a:graphic xmlns:a="http://schemas.openxmlformats.org/drawingml/2006/main">
          <a:graphicData uri="http://schemas.openxmlformats.org/drawingml/2006/table">
            <a:tbl>
              <a:tblPr firstRow="0" bandRow="0"/>
              <a:tblGrid>
                <a:gridCol w="2952750"/>
                <a:gridCol w="4800600"/>
                <a:gridCol w="3219450"/>
              </a:tblGrid>
              <a:tr h="763905">
                <a:tc>
                  <a:txBody>
                    <a:bodyPr>
                      <a:noAutofit/>
                    </a:bodyPr>
                    <a:lstStyle/>
                    <a:p>
                      <a:r>
                        <a:rPr sz="1650" b="1">
                          <a:solidFill>
                            <a:srgbClr val="FFFFFF"/>
                          </a:solidFill>
                          <a:latin typeface="Arial"/>
                          <a:ea typeface="Arial"/>
                          <a:cs typeface="Arial"/>
                        </a:rPr>
                        <a:t>Riesgo</a:t>
                      </a:r>
                    </a:p>
                  </a:txBody>
                  <a:tcPr marL="142875" marR="142875" marT="95250" marB="85725" anchor="ctr">
                    <a:solidFill>
                      <a:srgbClr val="14263D"/>
                    </a:solidFill>
                  </a:tcPr>
                </a:tc>
                <a:tc>
                  <a:txBody>
                    <a:bodyPr>
                      <a:noAutofit/>
                    </a:bodyPr>
                    <a:lstStyle/>
                    <a:p>
                      <a:r>
                        <a:rPr sz="1650" b="1">
                          <a:solidFill>
                            <a:srgbClr val="FFFFFF"/>
                          </a:solidFill>
                          <a:latin typeface="Arial"/>
                          <a:ea typeface="Arial"/>
                          <a:cs typeface="Arial"/>
                        </a:rPr>
                        <a:t>Garantía aplicada</a:t>
                      </a:r>
                    </a:p>
                  </a:txBody>
                  <a:tcPr marL="142875" marR="142875" marT="95250" marB="85725" anchor="ctr">
                    <a:solidFill>
                      <a:srgbClr val="14263D"/>
                    </a:solidFill>
                  </a:tcPr>
                </a:tc>
                <a:tc>
                  <a:txBody>
                    <a:bodyPr>
                      <a:noAutofit/>
                    </a:bodyPr>
                    <a:lstStyle/>
                    <a:p>
                      <a:r>
                        <a:rPr sz="1650" b="1">
                          <a:solidFill>
                            <a:srgbClr val="FFFFFF"/>
                          </a:solidFill>
                          <a:latin typeface="Arial"/>
                          <a:ea typeface="Arial"/>
                          <a:cs typeface="Arial"/>
                        </a:rPr>
                        <a:t>Resultado</a:t>
                      </a:r>
                    </a:p>
                  </a:txBody>
                  <a:tcPr marL="142875" marR="142875" marT="95250" marB="85725" anchor="ctr">
                    <a:solidFill>
                      <a:srgbClr val="14263D"/>
                    </a:solidFill>
                  </a:tcPr>
                </a:tc>
              </a:tr>
              <a:tr h="763905">
                <a:tc>
                  <a:txBody>
                    <a:bodyPr>
                      <a:noAutofit/>
                    </a:bodyPr>
                    <a:lstStyle/>
                    <a:p>
                      <a:r>
                        <a:rPr sz="1650" b="0">
                          <a:solidFill>
                            <a:srgbClr val="14263D"/>
                          </a:solidFill>
                          <a:latin typeface="Arial"/>
                          <a:ea typeface="Arial"/>
                          <a:cs typeface="Arial"/>
                        </a:rPr>
                        <a:t>Doble reserva</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Índices únicos parciales en PostgreSQL</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La segunda operación recibe 409</a:t>
                      </a:r>
                    </a:p>
                  </a:txBody>
                  <a:tcPr marL="142875" marR="142875" marT="95250" marB="85725" anchor="ctr">
                    <a:solidFill>
                      <a:srgbClr val="FFFFFF"/>
                    </a:solidFill>
                  </a:tcPr>
                </a:tc>
              </a:tr>
              <a:tr h="763905">
                <a:tc>
                  <a:txBody>
                    <a:bodyPr>
                      <a:noAutofit/>
                    </a:bodyPr>
                    <a:lstStyle/>
                    <a:p>
                      <a:r>
                        <a:rPr sz="1650" b="0">
                          <a:solidFill>
                            <a:srgbClr val="14263D"/>
                          </a:solidFill>
                          <a:latin typeface="Arial"/>
                          <a:ea typeface="Arial"/>
                          <a:cs typeface="Arial"/>
                        </a:rPr>
                        <a:t>Último administrador</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Bloqueo transaccional y reevaluación</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La baja incompatible recibe 409</a:t>
                      </a:r>
                    </a:p>
                  </a:txBody>
                  <a:tcPr marL="142875" marR="142875" marT="95250" marB="85725" anchor="ctr">
                    <a:solidFill>
                      <a:srgbClr val="FFFFFF"/>
                    </a:solidFill>
                  </a:tcPr>
                </a:tc>
              </a:tr>
              <a:tr h="763905">
                <a:tc>
                  <a:txBody>
                    <a:bodyPr>
                      <a:noAutofit/>
                    </a:bodyPr>
                    <a:lstStyle/>
                    <a:p>
                      <a:r>
                        <a:rPr sz="1650" b="0">
                          <a:solidFill>
                            <a:srgbClr val="14263D"/>
                          </a:solidFill>
                          <a:latin typeface="Arial"/>
                          <a:ea typeface="Arial"/>
                          <a:cs typeface="Arial"/>
                        </a:rPr>
                        <a:t>Token accesible a JavaScript</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Cookie HttpOnly, Secure y SameSite=Strict</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Menor exposición del token</a:t>
                      </a:r>
                    </a:p>
                  </a:txBody>
                  <a:tcPr marL="142875" marR="142875" marT="95250" marB="85725" anchor="ctr">
                    <a:solidFill>
                      <a:srgbClr val="FFFFFF"/>
                    </a:solidFill>
                  </a:tcPr>
                </a:tc>
              </a:tr>
              <a:tr h="763905">
                <a:tc>
                  <a:txBody>
                    <a:bodyPr>
                      <a:noAutofit/>
                    </a:bodyPr>
                    <a:lstStyle/>
                    <a:p>
                      <a:r>
                        <a:rPr sz="1650" b="0">
                          <a:solidFill>
                            <a:srgbClr val="14263D"/>
                          </a:solidFill>
                          <a:latin typeface="Arial"/>
                          <a:ea typeface="Arial"/>
                          <a:cs typeface="Arial"/>
                        </a:rPr>
                        <a:t>Permisos obsoletos</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TokenVersion comprobado por petición</a:t>
                      </a:r>
                    </a:p>
                  </a:txBody>
                  <a:tcPr marL="142875" marR="142875" marT="95250" marB="85725" anchor="ctr">
                    <a:solidFill>
                      <a:srgbClr val="FFFFFF"/>
                    </a:solidFill>
                  </a:tcPr>
                </a:tc>
                <a:tc>
                  <a:txBody>
                    <a:bodyPr>
                      <a:noAutofit/>
                    </a:bodyPr>
                    <a:lstStyle/>
                    <a:p>
                      <a:r>
                        <a:rPr sz="1650" b="0">
                          <a:solidFill>
                            <a:srgbClr val="14263D"/>
                          </a:solidFill>
                          <a:latin typeface="Arial"/>
                          <a:ea typeface="Arial"/>
                          <a:cs typeface="Arial"/>
                        </a:rPr>
                        <a:t>Revocación tras cambio sensible</a:t>
                      </a:r>
                    </a:p>
                  </a:txBody>
                  <a:tcPr marL="142875" marR="142875" marT="95250" marB="85725" anchor="ctr">
                    <a:solidFill>
                      <a:srgbClr val="FFFFFF"/>
                    </a:solidFill>
                  </a:tcPr>
                </a:tc>
              </a:tr>
            </a:tbl>
          </a:graphicData>
        </a:graphic>
      </p:graphicFrame>
      <p:sp>
        <p:nvSpPr>
          <p:cNvPr id="6" name="Memoria, pp. 25–33 y 52–54.">
            <a:extLst xmlns:a="http://schemas.openxmlformats.org/drawingml/2006/main">
              <a:ext uri="{FF2B5EF4-FFF2-40B4-BE49-F238E27FC236}">
                <a16:creationId xmlns:a16="http://schemas.microsoft.com/office/drawing/2014/main" id="{1CE94422-E77F-4C69-961C-BF98FB6E66AA}"/>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Memoria, pp. 25–33 y 52–54.</a:t>
            </a:r>
          </a:p>
        </p:txBody>
      </p:sp>
    </p:spTree>
    <p:extLst>
      <p:ext uri="{BB962C8B-B14F-4D97-AF65-F5344CB8AC3E}">
        <p14:creationId xmlns:p14="http://schemas.microsoft.com/office/powerpoint/2010/main" val="160769945"/>
      </p:ext>
    </p:extLst>
  </p:cSld>
</p:sld>
</file>

<file path=ppt/slides/slide2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EXO">
            <a:extLst xmlns:a="http://schemas.openxmlformats.org/drawingml/2006/main">
              <a:ext uri="{FF2B5EF4-FFF2-40B4-BE49-F238E27FC236}">
                <a16:creationId xmlns:a16="http://schemas.microsoft.com/office/drawing/2014/main" id="{B821A085-AAB9-4462-9CB8-FF0A45565DA1}"/>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ANEXO</a:t>
            </a:r>
          </a:p>
        </p:txBody>
      </p:sp>
      <p:sp>
        <p:nvSpPr>
          <p:cNvPr id="2" name="Planificación y coste">
            <a:extLst xmlns:a="http://schemas.openxmlformats.org/drawingml/2006/main">
              <a:ext uri="{FF2B5EF4-FFF2-40B4-BE49-F238E27FC236}">
                <a16:creationId xmlns:a16="http://schemas.microsoft.com/office/drawing/2014/main" id="{A98F96AE-F64A-4CE6-BE59-E6D8D015F10D}"/>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Planificación y coste</a:t>
            </a:r>
          </a:p>
        </p:txBody>
      </p:sp>
      <p:sp>
        <p:nvSpPr>
          <p:cNvPr id="3" name="">
            <a:extLst xmlns:a="http://schemas.openxmlformats.org/drawingml/2006/main">
              <a:ext uri="{FF2B5EF4-FFF2-40B4-BE49-F238E27FC236}">
                <a16:creationId xmlns:a16="http://schemas.microsoft.com/office/drawing/2014/main" id="{8C26D72E-7AFE-4CE8-B332-DB488831E53B}"/>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C">
            <a:extLst xmlns:a="http://schemas.openxmlformats.org/drawingml/2006/main">
              <a:ext uri="{FF2B5EF4-FFF2-40B4-BE49-F238E27FC236}">
                <a16:creationId xmlns:a16="http://schemas.microsoft.com/office/drawing/2014/main" id="{3F5626C2-585F-443C-99BE-82B3EF974DE4}"/>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C</a:t>
            </a:r>
          </a:p>
        </p:txBody>
      </p:sp>
      <p:graphicFrame>
        <p:nvGraphicFramePr>
          <p:cNvPr id="11" name=""/>
          <p:cNvGraphicFramePr/>
          <p:nvPr/>
        </p:nvGraphicFramePr>
        <p:xfrm>
          <a:off xmlns:a="http://schemas.openxmlformats.org/drawingml/2006/main" x="609600" y="1647825"/>
          <a:ext xmlns:a="http://schemas.openxmlformats.org/drawingml/2006/main" cx="10972800" cy="4295775"/>
        </p:xfrm>
        <a:graphic xmlns:a="http://schemas.openxmlformats.org/drawingml/2006/main">
          <a:graphicData uri="http://schemas.openxmlformats.org/drawingml/2006/table">
            <a:tbl>
              <a:tblPr firstRow="0" bandRow="0"/>
              <a:tblGrid>
                <a:gridCol w="3248025"/>
                <a:gridCol w="5057775"/>
                <a:gridCol w="2667000"/>
              </a:tblGrid>
              <a:tr h="613682">
                <a:tc>
                  <a:txBody>
                    <a:bodyPr>
                      <a:noAutofit/>
                    </a:bodyPr>
                    <a:lstStyle/>
                    <a:p>
                      <a:r>
                        <a:rPr sz="1725" b="1">
                          <a:solidFill>
                            <a:srgbClr val="FFFFFF"/>
                          </a:solidFill>
                          <a:latin typeface="Arial"/>
                          <a:ea typeface="Arial"/>
                          <a:cs typeface="Arial"/>
                        </a:rPr>
                        <a:t>Concepto</a:t>
                      </a:r>
                    </a:p>
                  </a:txBody>
                  <a:tcPr marL="142875" marR="142875" marT="95250" marB="85725" anchor="ctr">
                    <a:solidFill>
                      <a:srgbClr val="14263D"/>
                    </a:solidFill>
                  </a:tcPr>
                </a:tc>
                <a:tc>
                  <a:txBody>
                    <a:bodyPr>
                      <a:noAutofit/>
                    </a:bodyPr>
                    <a:lstStyle/>
                    <a:p>
                      <a:r>
                        <a:rPr sz="1725" b="1">
                          <a:solidFill>
                            <a:srgbClr val="FFFFFF"/>
                          </a:solidFill>
                          <a:latin typeface="Arial"/>
                          <a:ea typeface="Arial"/>
                          <a:cs typeface="Arial"/>
                        </a:rPr>
                        <a:t>Hipótesis de cálculo</a:t>
                      </a:r>
                    </a:p>
                  </a:txBody>
                  <a:tcPr marL="142875" marR="142875" marT="95250" marB="85725" anchor="ctr">
                    <a:solidFill>
                      <a:srgbClr val="14263D"/>
                    </a:solidFill>
                  </a:tcPr>
                </a:tc>
                <a:tc>
                  <a:txBody>
                    <a:bodyPr>
                      <a:noAutofit/>
                    </a:bodyPr>
                    <a:lstStyle/>
                    <a:p>
                      <a:r>
                        <a:rPr sz="1725" b="1">
                          <a:solidFill>
                            <a:srgbClr val="FFFFFF"/>
                          </a:solidFill>
                          <a:latin typeface="Arial"/>
                          <a:ea typeface="Arial"/>
                          <a:cs typeface="Arial"/>
                        </a:rPr>
                        <a:t>Importe</a:t>
                      </a:r>
                    </a:p>
                  </a:txBody>
                  <a:tcPr marL="142875" marR="142875" marT="95250" marB="85725" anchor="ctr">
                    <a:solidFill>
                      <a:srgbClr val="14263D"/>
                    </a:solidFill>
                  </a:tcPr>
                </a:tc>
              </a:tr>
              <a:tr h="613682">
                <a:tc>
                  <a:txBody>
                    <a:bodyPr>
                      <a:noAutofit/>
                    </a:bodyPr>
                    <a:lstStyle/>
                    <a:p>
                      <a:r>
                        <a:rPr sz="1725" b="0">
                          <a:solidFill>
                            <a:srgbClr val="14263D"/>
                          </a:solidFill>
                          <a:latin typeface="Arial"/>
                          <a:ea typeface="Arial"/>
                          <a:cs typeface="Arial"/>
                        </a:rPr>
                        <a:t>Personal</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300 h × 20 €/h</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6.000,00 €</a:t>
                      </a:r>
                    </a:p>
                  </a:txBody>
                  <a:tcPr marL="142875" marR="142875" marT="95250" marB="85725" anchor="ctr">
                    <a:solidFill>
                      <a:srgbClr val="FFFFFF"/>
                    </a:solidFill>
                  </a:tcPr>
                </a:tc>
              </a:tr>
              <a:tr h="613682">
                <a:tc>
                  <a:txBody>
                    <a:bodyPr>
                      <a:noAutofit/>
                    </a:bodyPr>
                    <a:lstStyle/>
                    <a:p>
                      <a:r>
                        <a:rPr sz="1725" b="0">
                          <a:solidFill>
                            <a:srgbClr val="14263D"/>
                          </a:solidFill>
                          <a:latin typeface="Arial"/>
                          <a:ea typeface="Arial"/>
                          <a:cs typeface="Arial"/>
                        </a:rPr>
                        <a:t>Amortización del equipo</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1.200 € × 2,5 / 48 meses</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62,50 €</a:t>
                      </a:r>
                    </a:p>
                  </a:txBody>
                  <a:tcPr marL="142875" marR="142875" marT="95250" marB="85725" anchor="ctr">
                    <a:solidFill>
                      <a:srgbClr val="FFFFFF"/>
                    </a:solidFill>
                  </a:tcPr>
                </a:tc>
              </a:tr>
              <a:tr h="613682">
                <a:tc>
                  <a:txBody>
                    <a:bodyPr>
                      <a:noAutofit/>
                    </a:bodyPr>
                    <a:lstStyle/>
                    <a:p>
                      <a:r>
                        <a:rPr sz="1725" b="0">
                          <a:solidFill>
                            <a:srgbClr val="14263D"/>
                          </a:solidFill>
                          <a:latin typeface="Arial"/>
                          <a:ea typeface="Arial"/>
                          <a:cs typeface="Arial"/>
                        </a:rPr>
                        <a:t>Licencias</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Uso libre o gratuito en el proyecto</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0,00 €</a:t>
                      </a:r>
                    </a:p>
                  </a:txBody>
                  <a:tcPr marL="142875" marR="142875" marT="95250" marB="85725" anchor="ctr">
                    <a:solidFill>
                      <a:srgbClr val="FFFFFF"/>
                    </a:solidFill>
                  </a:tcPr>
                </a:tc>
              </a:tr>
              <a:tr h="613682">
                <a:tc>
                  <a:txBody>
                    <a:bodyPr>
                      <a:noAutofit/>
                    </a:bodyPr>
                    <a:lstStyle/>
                    <a:p>
                      <a:r>
                        <a:rPr sz="1725" b="0">
                          <a:solidFill>
                            <a:srgbClr val="14263D"/>
                          </a:solidFill>
                          <a:latin typeface="Arial"/>
                          <a:ea typeface="Arial"/>
                          <a:cs typeface="Arial"/>
                        </a:rPr>
                        <a:t>Infraestructura y servicios</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Máquina local y cuotas gratuitas</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0,00 €</a:t>
                      </a:r>
                    </a:p>
                  </a:txBody>
                  <a:tcPr marL="142875" marR="142875" marT="95250" marB="85725" anchor="ctr">
                    <a:solidFill>
                      <a:srgbClr val="FFFFFF"/>
                    </a:solidFill>
                  </a:tcPr>
                </a:tc>
              </a:tr>
              <a:tr h="613682">
                <a:tc>
                  <a:txBody>
                    <a:bodyPr>
                      <a:noAutofit/>
                    </a:bodyPr>
                    <a:lstStyle/>
                    <a:p>
                      <a:r>
                        <a:rPr sz="1725" b="0">
                          <a:solidFill>
                            <a:srgbClr val="14263D"/>
                          </a:solidFill>
                          <a:latin typeface="Arial"/>
                          <a:ea typeface="Arial"/>
                          <a:cs typeface="Arial"/>
                        </a:rPr>
                        <a:t>Costes indirectos</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Energía y conectividad estimadas</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75,00 €</a:t>
                      </a:r>
                    </a:p>
                  </a:txBody>
                  <a:tcPr marL="142875" marR="142875" marT="95250" marB="85725" anchor="ctr">
                    <a:solidFill>
                      <a:srgbClr val="FFFFFF"/>
                    </a:solidFill>
                  </a:tcPr>
                </a:tc>
              </a:tr>
              <a:tr h="613682">
                <a:tc>
                  <a:txBody>
                    <a:bodyPr>
                      <a:noAutofit/>
                    </a:bodyPr>
                    <a:lstStyle/>
                    <a:p>
                      <a:r>
                        <a:rPr sz="1725" b="0">
                          <a:solidFill>
                            <a:srgbClr val="14263D"/>
                          </a:solidFill>
                          <a:latin typeface="Arial"/>
                          <a:ea typeface="Arial"/>
                          <a:cs typeface="Arial"/>
                        </a:rPr>
                        <a:t>Total</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Valoración profesional hipotética</a:t>
                      </a:r>
                    </a:p>
                  </a:txBody>
                  <a:tcPr marL="142875" marR="142875" marT="95250" marB="85725" anchor="ctr">
                    <a:solidFill>
                      <a:srgbClr val="FFFFFF"/>
                    </a:solidFill>
                  </a:tcPr>
                </a:tc>
                <a:tc>
                  <a:txBody>
                    <a:bodyPr>
                      <a:noAutofit/>
                    </a:bodyPr>
                    <a:lstStyle/>
                    <a:p>
                      <a:r>
                        <a:rPr sz="1725" b="0">
                          <a:solidFill>
                            <a:srgbClr val="14263D"/>
                          </a:solidFill>
                          <a:latin typeface="Arial"/>
                          <a:ea typeface="Arial"/>
                          <a:cs typeface="Arial"/>
                        </a:rPr>
                        <a:t>6.137,50 €</a:t>
                      </a:r>
                    </a:p>
                  </a:txBody>
                  <a:tcPr marL="142875" marR="142875" marT="95250" marB="85725" anchor="ctr">
                    <a:solidFill>
                      <a:srgbClr val="FFFFFF"/>
                    </a:solidFill>
                  </a:tcPr>
                </a:tc>
              </a:tr>
            </a:tbl>
          </a:graphicData>
        </a:graphic>
      </p:graphicFrame>
      <p:sp>
        <p:nvSpPr>
          <p:cNvPr id="6" name="Estimación académica de la memoria, tabla 3.3, p. 13. No rep">
            <a:extLst xmlns:a="http://schemas.openxmlformats.org/drawingml/2006/main">
              <a:ext uri="{FF2B5EF4-FFF2-40B4-BE49-F238E27FC236}">
                <a16:creationId xmlns:a16="http://schemas.microsoft.com/office/drawing/2014/main" id="{82C962E0-3255-4335-AD80-D78633D9D2D0}"/>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Estimación académica de la memoria, tabla 3.3, p. 13. No representa dedicación ni gasto reales.</a:t>
            </a:r>
          </a:p>
        </p:txBody>
      </p:sp>
    </p:spTree>
    <p:extLst>
      <p:ext uri="{BB962C8B-B14F-4D97-AF65-F5344CB8AC3E}">
        <p14:creationId xmlns:p14="http://schemas.microsoft.com/office/powerpoint/2010/main" val="583545597"/>
      </p:ext>
    </p:extLst>
  </p:cSld>
</p:sld>
</file>

<file path=ppt/slides/slide2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EXO">
            <a:extLst xmlns:a="http://schemas.openxmlformats.org/drawingml/2006/main">
              <a:ext uri="{FF2B5EF4-FFF2-40B4-BE49-F238E27FC236}">
                <a16:creationId xmlns:a16="http://schemas.microsoft.com/office/drawing/2014/main" id="{2CCB1B55-60B0-41A6-89DB-AA355F0375ED}"/>
              </a:ext>
            </a:extLst>
          </p:cNvPr>
          <p:cNvSpPr>
            <a:spLocks xmlns:a="http://schemas.openxmlformats.org/drawingml/2006/main" noGrp="1"/>
          </p:cNvSpPr>
          <p:nvPr/>
        </p:nvSpPr>
        <p:spPr>
          <a:xfrm xmlns:a="http://schemas.openxmlformats.org/drawingml/2006/main">
            <a:off x="609600" y="2857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C0007F"/>
                </a:solidFill>
                <a:latin typeface="Arial"/>
                <a:ea typeface="Arial"/>
                <a:cs typeface="Arial"/>
              </a:defRPr>
            </a:pPr>
            <a:r>
              <a:rPr sz="1275" b="1">
                <a:solidFill>
                  <a:srgbClr val="C0007F"/>
                </a:solidFill>
                <a:latin typeface="Arial"/>
                <a:ea typeface="Arial"/>
                <a:cs typeface="Arial"/>
              </a:rPr>
              <a:t>ANEXO</a:t>
            </a:r>
          </a:p>
        </p:txBody>
      </p:sp>
      <p:sp>
        <p:nvSpPr>
          <p:cNvPr id="2" name="Evolución de las pruebas">
            <a:extLst xmlns:a="http://schemas.openxmlformats.org/drawingml/2006/main">
              <a:ext uri="{FF2B5EF4-FFF2-40B4-BE49-F238E27FC236}">
                <a16:creationId xmlns:a16="http://schemas.microsoft.com/office/drawing/2014/main" id="{48DB4C6F-99AC-4A6E-A3E0-AF5AA02B392F}"/>
              </a:ext>
            </a:extLst>
          </p:cNvPr>
          <p:cNvSpPr>
            <a:spLocks xmlns:a="http://schemas.openxmlformats.org/drawingml/2006/main" noGrp="1"/>
          </p:cNvSpPr>
          <p:nvPr/>
        </p:nvSpPr>
        <p:spPr>
          <a:xfrm xmlns:a="http://schemas.openxmlformats.org/drawingml/2006/main">
            <a:off x="609600" y="6572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Evolución de las pruebas</a:t>
            </a:r>
          </a:p>
        </p:txBody>
      </p:sp>
      <p:sp>
        <p:nvSpPr>
          <p:cNvPr id="3" name="">
            <a:extLst xmlns:a="http://schemas.openxmlformats.org/drawingml/2006/main">
              <a:ext uri="{FF2B5EF4-FFF2-40B4-BE49-F238E27FC236}">
                <a16:creationId xmlns:a16="http://schemas.microsoft.com/office/drawing/2014/main" id="{B7475A83-0DAB-413A-97D6-4143F1E99C91}"/>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9DFE7"/>
          </a:solidFill>
          <a:ln xmlns:a="http://schemas.openxmlformats.org/drawingml/2006/main" w="0">
            <a:noFill/>
          </a:ln>
        </p:spPr>
      </p:sp>
      <p:sp>
        <p:nvSpPr>
          <p:cNvPr id="4" name="D">
            <a:extLst xmlns:a="http://schemas.openxmlformats.org/drawingml/2006/main">
              <a:ext uri="{FF2B5EF4-FFF2-40B4-BE49-F238E27FC236}">
                <a16:creationId xmlns:a16="http://schemas.microsoft.com/office/drawing/2014/main" id="{2EE6942C-5C63-4AB0-BC88-4CBAD79DF53A}"/>
              </a:ext>
            </a:extLst>
          </p:cNvPr>
          <p:cNvSpPr>
            <a:spLocks xmlns:a="http://schemas.openxmlformats.org/drawingml/2006/main" noGrp="1"/>
          </p:cNvSpPr>
          <p:nvPr/>
        </p:nvSpPr>
        <p:spPr>
          <a:xfrm xmlns:a="http://schemas.openxmlformats.org/drawingml/2006/main">
            <a:off x="11049000" y="64198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D</a:t>
            </a:r>
          </a:p>
        </p:txBody>
      </p:sp>
      <p:graphicFrame>
        <p:nvGraphicFramePr>
          <p:cNvPr id="11" name=""/>
          <p:cNvGraphicFramePr/>
          <p:nvPr/>
        </p:nvGraphicFramePr>
        <p:xfrm>
          <a:off xmlns:a="http://schemas.openxmlformats.org/drawingml/2006/main" x="1619250" y="1619250"/>
          <a:ext xmlns:a="http://schemas.openxmlformats.org/drawingml/2006/main" cx="8953500" cy="4343400"/>
        </p:xfrm>
        <a:graphic xmlns:a="http://schemas.openxmlformats.org/drawingml/2006/main">
          <a:graphicData uri="http://schemas.openxmlformats.org/drawingml/2006/table">
            <a:tbl>
              <a:tblPr firstRow="0" bandRow="0"/>
              <a:tblGrid>
                <a:gridCol w="2190750"/>
                <a:gridCol w="2095500"/>
                <a:gridCol w="2095500"/>
                <a:gridCol w="2571750"/>
              </a:tblGrid>
              <a:tr h="542925">
                <a:tc>
                  <a:txBody>
                    <a:bodyPr>
                      <a:noAutofit/>
                    </a:bodyPr>
                    <a:lstStyle/>
                    <a:p>
                      <a:r>
                        <a:rPr sz="1800" b="1">
                          <a:solidFill>
                            <a:srgbClr val="FFFFFF"/>
                          </a:solidFill>
                          <a:latin typeface="Arial"/>
                          <a:ea typeface="Arial"/>
                          <a:cs typeface="Arial"/>
                        </a:rPr>
                        <a:t>Sprint</a:t>
                      </a:r>
                    </a:p>
                  </a:txBody>
                  <a:tcPr marL="142875" marR="142875" marT="95250" marB="85725" anchor="ctr">
                    <a:solidFill>
                      <a:srgbClr val="14263D"/>
                    </a:solidFill>
                  </a:tcPr>
                </a:tc>
                <a:tc>
                  <a:txBody>
                    <a:bodyPr>
                      <a:noAutofit/>
                    </a:bodyPr>
                    <a:lstStyle/>
                    <a:p>
                      <a:r>
                        <a:rPr sz="1800" b="1">
                          <a:solidFill>
                            <a:srgbClr val="FFFFFF"/>
                          </a:solidFill>
                          <a:latin typeface="Arial"/>
                          <a:ea typeface="Arial"/>
                          <a:cs typeface="Arial"/>
                        </a:rPr>
                        <a:t>Backend</a:t>
                      </a:r>
                    </a:p>
                  </a:txBody>
                  <a:tcPr marL="142875" marR="142875" marT="95250" marB="85725" anchor="ctr">
                    <a:solidFill>
                      <a:srgbClr val="14263D"/>
                    </a:solidFill>
                  </a:tcPr>
                </a:tc>
                <a:tc>
                  <a:txBody>
                    <a:bodyPr>
                      <a:noAutofit/>
                    </a:bodyPr>
                    <a:lstStyle/>
                    <a:p>
                      <a:r>
                        <a:rPr sz="1800" b="1">
                          <a:solidFill>
                            <a:srgbClr val="FFFFFF"/>
                          </a:solidFill>
                          <a:latin typeface="Arial"/>
                          <a:ea typeface="Arial"/>
                          <a:cs typeface="Arial"/>
                        </a:rPr>
                        <a:t>Frontend</a:t>
                      </a:r>
                    </a:p>
                  </a:txBody>
                  <a:tcPr marL="142875" marR="142875" marT="95250" marB="85725" anchor="ctr">
                    <a:solidFill>
                      <a:srgbClr val="14263D"/>
                    </a:solidFill>
                  </a:tcPr>
                </a:tc>
                <a:tc>
                  <a:txBody>
                    <a:bodyPr>
                      <a:noAutofit/>
                    </a:bodyPr>
                    <a:lstStyle/>
                    <a:p>
                      <a:r>
                        <a:rPr sz="1800" b="1">
                          <a:solidFill>
                            <a:srgbClr val="FFFFFF"/>
                          </a:solidFill>
                          <a:latin typeface="Arial"/>
                          <a:ea typeface="Arial"/>
                          <a:cs typeface="Arial"/>
                        </a:rPr>
                        <a:t>Sistema</a:t>
                      </a:r>
                    </a:p>
                  </a:txBody>
                  <a:tcPr marL="142875" marR="142875" marT="95250" marB="85725" anchor="ctr">
                    <a:solidFill>
                      <a:srgbClr val="14263D"/>
                    </a:solidFill>
                  </a:tcPr>
                </a:tc>
              </a:tr>
              <a:tr h="542925">
                <a:tc>
                  <a:txBody>
                    <a:bodyPr>
                      <a:noAutofit/>
                    </a:bodyPr>
                    <a:lstStyle/>
                    <a:p>
                      <a:r>
                        <a:rPr sz="1800" b="0">
                          <a:solidFill>
                            <a:srgbClr val="14263D"/>
                          </a:solidFill>
                          <a:latin typeface="Arial"/>
                          <a:ea typeface="Arial"/>
                          <a:cs typeface="Arial"/>
                        </a:rPr>
                        <a:t>S1</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16</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4</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a:t>
                      </a:r>
                    </a:p>
                  </a:txBody>
                  <a:tcPr marL="142875" marR="142875" marT="95250" marB="85725" anchor="ctr">
                    <a:solidFill>
                      <a:srgbClr val="FFFFFF"/>
                    </a:solidFill>
                  </a:tcPr>
                </a:tc>
              </a:tr>
              <a:tr h="542925">
                <a:tc>
                  <a:txBody>
                    <a:bodyPr>
                      <a:noAutofit/>
                    </a:bodyPr>
                    <a:lstStyle/>
                    <a:p>
                      <a:r>
                        <a:rPr sz="1800" b="0">
                          <a:solidFill>
                            <a:srgbClr val="14263D"/>
                          </a:solidFill>
                          <a:latin typeface="Arial"/>
                          <a:ea typeface="Arial"/>
                          <a:cs typeface="Arial"/>
                        </a:rPr>
                        <a:t>S2</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29</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7</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a:t>
                      </a:r>
                    </a:p>
                  </a:txBody>
                  <a:tcPr marL="142875" marR="142875" marT="95250" marB="85725" anchor="ctr">
                    <a:solidFill>
                      <a:srgbClr val="FFFFFF"/>
                    </a:solidFill>
                  </a:tcPr>
                </a:tc>
              </a:tr>
              <a:tr h="542925">
                <a:tc>
                  <a:txBody>
                    <a:bodyPr>
                      <a:noAutofit/>
                    </a:bodyPr>
                    <a:lstStyle/>
                    <a:p>
                      <a:r>
                        <a:rPr sz="1800" b="0">
                          <a:solidFill>
                            <a:srgbClr val="14263D"/>
                          </a:solidFill>
                          <a:latin typeface="Arial"/>
                          <a:ea typeface="Arial"/>
                          <a:cs typeface="Arial"/>
                        </a:rPr>
                        <a:t>S3</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45</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13</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a:t>
                      </a:r>
                    </a:p>
                  </a:txBody>
                  <a:tcPr marL="142875" marR="142875" marT="95250" marB="85725" anchor="ctr">
                    <a:solidFill>
                      <a:srgbClr val="FFFFFF"/>
                    </a:solidFill>
                  </a:tcPr>
                </a:tc>
              </a:tr>
              <a:tr h="542925">
                <a:tc>
                  <a:txBody>
                    <a:bodyPr>
                      <a:noAutofit/>
                    </a:bodyPr>
                    <a:lstStyle/>
                    <a:p>
                      <a:r>
                        <a:rPr sz="1800" b="0">
                          <a:solidFill>
                            <a:srgbClr val="14263D"/>
                          </a:solidFill>
                          <a:latin typeface="Arial"/>
                          <a:ea typeface="Arial"/>
                          <a:cs typeface="Arial"/>
                        </a:rPr>
                        <a:t>S4</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74</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19</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a:t>
                      </a:r>
                    </a:p>
                  </a:txBody>
                  <a:tcPr marL="142875" marR="142875" marT="95250" marB="85725" anchor="ctr">
                    <a:solidFill>
                      <a:srgbClr val="FFFFFF"/>
                    </a:solidFill>
                  </a:tcPr>
                </a:tc>
              </a:tr>
              <a:tr h="542925">
                <a:tc>
                  <a:txBody>
                    <a:bodyPr>
                      <a:noAutofit/>
                    </a:bodyPr>
                    <a:lstStyle/>
                    <a:p>
                      <a:r>
                        <a:rPr sz="1800" b="0">
                          <a:solidFill>
                            <a:srgbClr val="14263D"/>
                          </a:solidFill>
                          <a:latin typeface="Arial"/>
                          <a:ea typeface="Arial"/>
                          <a:cs typeface="Arial"/>
                        </a:rPr>
                        <a:t>S5</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96</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24</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a:t>
                      </a:r>
                    </a:p>
                  </a:txBody>
                  <a:tcPr marL="142875" marR="142875" marT="95250" marB="85725" anchor="ctr">
                    <a:solidFill>
                      <a:srgbClr val="FFFFFF"/>
                    </a:solidFill>
                  </a:tcPr>
                </a:tc>
              </a:tr>
              <a:tr h="542925">
                <a:tc>
                  <a:txBody>
                    <a:bodyPr>
                      <a:noAutofit/>
                    </a:bodyPr>
                    <a:lstStyle/>
                    <a:p>
                      <a:r>
                        <a:rPr sz="1800" b="0">
                          <a:solidFill>
                            <a:srgbClr val="14263D"/>
                          </a:solidFill>
                          <a:latin typeface="Arial"/>
                          <a:ea typeface="Arial"/>
                          <a:cs typeface="Arial"/>
                        </a:rPr>
                        <a:t>S6</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127</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30</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a:t>
                      </a:r>
                    </a:p>
                  </a:txBody>
                  <a:tcPr marL="142875" marR="142875" marT="95250" marB="85725" anchor="ctr">
                    <a:solidFill>
                      <a:srgbClr val="FFFFFF"/>
                    </a:solidFill>
                  </a:tcPr>
                </a:tc>
              </a:tr>
              <a:tr h="542925">
                <a:tc>
                  <a:txBody>
                    <a:bodyPr>
                      <a:noAutofit/>
                    </a:bodyPr>
                    <a:lstStyle/>
                    <a:p>
                      <a:r>
                        <a:rPr sz="1800" b="0">
                          <a:solidFill>
                            <a:srgbClr val="14263D"/>
                          </a:solidFill>
                          <a:latin typeface="Arial"/>
                          <a:ea typeface="Arial"/>
                          <a:cs typeface="Arial"/>
                        </a:rPr>
                        <a:t>S7</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139</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33</a:t>
                      </a:r>
                    </a:p>
                  </a:txBody>
                  <a:tcPr marL="142875" marR="142875" marT="95250" marB="85725" anchor="ctr">
                    <a:solidFill>
                      <a:srgbClr val="FFFFFF"/>
                    </a:solidFill>
                  </a:tcPr>
                </a:tc>
                <a:tc>
                  <a:txBody>
                    <a:bodyPr>
                      <a:noAutofit/>
                    </a:bodyPr>
                    <a:lstStyle/>
                    <a:p>
                      <a:r>
                        <a:rPr sz="1800" b="0">
                          <a:solidFill>
                            <a:srgbClr val="14263D"/>
                          </a:solidFill>
                          <a:latin typeface="Arial"/>
                          <a:ea typeface="Arial"/>
                          <a:cs typeface="Arial"/>
                        </a:rPr>
                        <a:t>4 flujos E2E</a:t>
                      </a:r>
                    </a:p>
                  </a:txBody>
                  <a:tcPr marL="142875" marR="142875" marT="95250" marB="85725" anchor="ctr">
                    <a:solidFill>
                      <a:srgbClr val="FFFFFF"/>
                    </a:solidFill>
                  </a:tcPr>
                </a:tc>
              </a:tr>
            </a:tbl>
          </a:graphicData>
        </a:graphic>
      </p:graphicFrame>
      <p:sp>
        <p:nvSpPr>
          <p:cNvPr id="6" name="Recuentos acumulados documentados al cierre de cada sprint. ">
            <a:extLst xmlns:a="http://schemas.openxmlformats.org/drawingml/2006/main">
              <a:ext uri="{FF2B5EF4-FFF2-40B4-BE49-F238E27FC236}">
                <a16:creationId xmlns:a16="http://schemas.microsoft.com/office/drawing/2014/main" id="{526E76AE-F92C-4950-BDF4-E02C7F4BE960}"/>
              </a:ext>
            </a:extLst>
          </p:cNvPr>
          <p:cNvSpPr>
            <a:spLocks xmlns:a="http://schemas.openxmlformats.org/drawingml/2006/main" noGrp="1"/>
          </p:cNvSpPr>
          <p:nvPr/>
        </p:nvSpPr>
        <p:spPr>
          <a:xfrm xmlns:a="http://schemas.openxmlformats.org/drawingml/2006/main">
            <a:off x="609600" y="6419850"/>
            <a:ext cx="1017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Recuentos acumulados documentados al cierre de cada sprint. No representan porcentaje de cobertura. Memoria, pp. 49–52.</a:t>
            </a:r>
          </a:p>
        </p:txBody>
      </p:sp>
    </p:spTree>
    <p:extLst>
      <p:ext uri="{BB962C8B-B14F-4D97-AF65-F5344CB8AC3E}">
        <p14:creationId xmlns:p14="http://schemas.microsoft.com/office/powerpoint/2010/main" val="9200282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2026-09-17T14:32:28.7150000Z</dcterms:created>
  <dcterms:modified xsi:type="dcterms:W3CDTF">2026-09-17T14:32:28.7150000Z</dcterms:modified>
</coreProperties>
</file>