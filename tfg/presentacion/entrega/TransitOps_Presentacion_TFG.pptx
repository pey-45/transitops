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f1ab612326499e" /><Relationship Type="http://schemas.openxmlformats.org/officeDocument/2006/relationships/extended-properties" Target="/docProps/app.xml" Id="R0a03d7b8d3ba4447" /><Relationship Type="http://schemas.openxmlformats.org/officeDocument/2006/relationships/officeDocument" Target="/ppt/presentation.xml" Id="R693f4619b06b4a97" /></Relationships>
</file>

<file path=ppt/presentation.xml><?xml version="1.0" encoding="utf-8"?>
<p:presentation xmlns:p="http://schemas.openxmlformats.org/presentationml/2006/main">
  <p:sldMasterIdLst>
    <p:sldMasterId xmlns:r="http://schemas.openxmlformats.org/officeDocument/2006/relationships" id="2147483648" r:id="Ra9a025eddc834039"/>
  </p:sldMasterIdLst>
  <p:notesMasterIdLst>
    <p:notesMasterId xmlns:r="http://schemas.openxmlformats.org/officeDocument/2006/relationships" r:id="Rc079b39bbacc470a"/>
  </p:notesMasterIdLst>
  <p:sldIdLst>
    <p:sldId xmlns:r="http://schemas.openxmlformats.org/officeDocument/2006/relationships" id="256" r:id="Re21f53103adb45fd"/>
    <p:sldId xmlns:r="http://schemas.openxmlformats.org/officeDocument/2006/relationships" id="257" r:id="R03ca98c736184369"/>
    <p:sldId xmlns:r="http://schemas.openxmlformats.org/officeDocument/2006/relationships" id="258" r:id="R07550b02b20d4cfb"/>
    <p:sldId xmlns:r="http://schemas.openxmlformats.org/officeDocument/2006/relationships" id="259" r:id="R0d5a332756fc4c54"/>
    <p:sldId xmlns:r="http://schemas.openxmlformats.org/officeDocument/2006/relationships" id="260" r:id="R4cc7b07764aa450f"/>
    <p:sldId xmlns:r="http://schemas.openxmlformats.org/officeDocument/2006/relationships" id="261" r:id="Ra5dea10c7eca48ca"/>
    <p:sldId xmlns:r="http://schemas.openxmlformats.org/officeDocument/2006/relationships" id="262" r:id="Rb12c7108956f4804"/>
    <p:sldId xmlns:r="http://schemas.openxmlformats.org/officeDocument/2006/relationships" id="263" r:id="R90ff4c56ea2446ee"/>
    <p:sldId xmlns:r="http://schemas.openxmlformats.org/officeDocument/2006/relationships" id="264" r:id="Rd27e08b7d59c487e"/>
    <p:sldId xmlns:r="http://schemas.openxmlformats.org/officeDocument/2006/relationships" id="265" r:id="R2b8b2c01937e42d1"/>
    <p:sldId xmlns:r="http://schemas.openxmlformats.org/officeDocument/2006/relationships" id="266" r:id="Rc10f361e1f34448d"/>
    <p:sldId xmlns:r="http://schemas.openxmlformats.org/officeDocument/2006/relationships" id="267" r:id="Rf1ddf9260df84d65"/>
    <p:sldId xmlns:r="http://schemas.openxmlformats.org/officeDocument/2006/relationships" id="268" r:id="R42a1fe5643824e91"/>
    <p:sldId xmlns:r="http://schemas.openxmlformats.org/officeDocument/2006/relationships" id="269" r:id="R541fb28dc72d4f32"/>
    <p:sldId xmlns:r="http://schemas.openxmlformats.org/officeDocument/2006/relationships" id="270" r:id="Rcdcb16d2e8394fd8"/>
    <p:sldId xmlns:r="http://schemas.openxmlformats.org/officeDocument/2006/relationships" id="271" r:id="Ra5358c857ba54280"/>
    <p:sldId xmlns:r="http://schemas.openxmlformats.org/officeDocument/2006/relationships" id="273" r:id="R51020b3419de4d49"/>
    <p:sldId xmlns:r="http://schemas.openxmlformats.org/officeDocument/2006/relationships" id="274" r:id="R11f4f49ed200462e"/>
    <p:sldId xmlns:r="http://schemas.openxmlformats.org/officeDocument/2006/relationships" id="275" r:id="Raef7890dee0f4501"/>
    <p:sldId xmlns:r="http://schemas.openxmlformats.org/officeDocument/2006/relationships" id="276" r:id="R78106a3ca3f04c83"/>
    <p:sldId xmlns:r="http://schemas.openxmlformats.org/officeDocument/2006/relationships" id="277" r:id="R87d85d50a72d4b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692b5421dd4fed" /><Relationship Type="http://schemas.openxmlformats.org/officeDocument/2006/relationships/slideMaster" Target="/ppt/slideMasters/slideMaster1.xml" Id="Ra9a025eddc834039" /><Relationship Type="http://schemas.openxmlformats.org/officeDocument/2006/relationships/notesMaster" Target="/ppt/notesMasters/notesMaster1.xml" Id="Rc079b39bbacc470a" /><Relationship Type="http://schemas.openxmlformats.org/officeDocument/2006/relationships/presProps" Target="/ppt/presProps.xml" Id="Rff60be775ab94be1" /><Relationship Type="http://schemas.openxmlformats.org/officeDocument/2006/relationships/tableStyles" Target="/ppt/tableStyles.xml" Id="R6539b5b7fd6243fd" /><Relationship Type="http://schemas.openxmlformats.org/officeDocument/2006/relationships/slide" Target="/ppt/slides/slide1.xml" Id="Re21f53103adb45fd" /><Relationship Type="http://schemas.openxmlformats.org/officeDocument/2006/relationships/slide" Target="/ppt/slides/slide2.xml" Id="R03ca98c736184369" /><Relationship Type="http://schemas.openxmlformats.org/officeDocument/2006/relationships/slide" Target="/ppt/slides/slide3.xml" Id="R07550b02b20d4cfb" /><Relationship Type="http://schemas.openxmlformats.org/officeDocument/2006/relationships/slide" Target="/ppt/slides/slide4.xml" Id="R0d5a332756fc4c54" /><Relationship Type="http://schemas.openxmlformats.org/officeDocument/2006/relationships/slide" Target="/ppt/slides/slide5.xml" Id="R4cc7b07764aa450f" /><Relationship Type="http://schemas.openxmlformats.org/officeDocument/2006/relationships/slide" Target="/ppt/slides/slide6.xml" Id="Ra5dea10c7eca48ca" /><Relationship Type="http://schemas.openxmlformats.org/officeDocument/2006/relationships/slide" Target="/ppt/slides/slide7.xml" Id="Rb12c7108956f4804" /><Relationship Type="http://schemas.openxmlformats.org/officeDocument/2006/relationships/slide" Target="/ppt/slides/slide8.xml" Id="R90ff4c56ea2446ee" /><Relationship Type="http://schemas.openxmlformats.org/officeDocument/2006/relationships/slide" Target="/ppt/slides/slide9.xml" Id="Rd27e08b7d59c487e" /><Relationship Type="http://schemas.openxmlformats.org/officeDocument/2006/relationships/slide" Target="/ppt/slides/slide10.xml" Id="R2b8b2c01937e42d1" /><Relationship Type="http://schemas.openxmlformats.org/officeDocument/2006/relationships/slide" Target="/ppt/slides/slide11.xml" Id="Rc10f361e1f34448d" /><Relationship Type="http://schemas.openxmlformats.org/officeDocument/2006/relationships/slide" Target="/ppt/slides/slide12.xml" Id="Rf1ddf9260df84d65" /><Relationship Type="http://schemas.openxmlformats.org/officeDocument/2006/relationships/slide" Target="/ppt/slides/slide13.xml" Id="R42a1fe5643824e91" /><Relationship Type="http://schemas.openxmlformats.org/officeDocument/2006/relationships/slide" Target="/ppt/slides/slide14.xml" Id="R541fb28dc72d4f32" /><Relationship Type="http://schemas.openxmlformats.org/officeDocument/2006/relationships/slide" Target="/ppt/slides/slide15.xml" Id="Rcdcb16d2e8394fd8" /><Relationship Type="http://schemas.openxmlformats.org/officeDocument/2006/relationships/slide" Target="/ppt/slides/slide16.xml" Id="Ra5358c857ba54280" /><Relationship Type="http://schemas.openxmlformats.org/officeDocument/2006/relationships/slide" Target="/ppt/slides/slide18.xml" Id="R51020b3419de4d49" /><Relationship Type="http://schemas.openxmlformats.org/officeDocument/2006/relationships/slide" Target="/ppt/slides/slide19.xml" Id="R11f4f49ed200462e" /><Relationship Type="http://schemas.openxmlformats.org/officeDocument/2006/relationships/slide" Target="/ppt/slides/slide20.xml" Id="Raef7890dee0f4501" /><Relationship Type="http://schemas.openxmlformats.org/officeDocument/2006/relationships/slide" Target="/ppt/slides/slide21.xml" Id="R78106a3ca3f04c83" /><Relationship Type="http://schemas.openxmlformats.org/officeDocument/2006/relationships/slide" Target="/ppt/slides/slide22.xml" Id="R87d85d50a72d4b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ae4d19a5c044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67ac20fa4041ea" /><Relationship Type="http://schemas.openxmlformats.org/officeDocument/2006/relationships/notesMaster" Target="/ppt/notesMasters/notesMaster1.xml" Id="R3e200c01a5e145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ef144126524f90" /><Relationship Type="http://schemas.openxmlformats.org/officeDocument/2006/relationships/notesMaster" Target="/ppt/notesMasters/notesMaster1.xml" Id="R5f1318f7c7964f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64d6247bde4793" /><Relationship Type="http://schemas.openxmlformats.org/officeDocument/2006/relationships/notesMaster" Target="/ppt/notesMasters/notesMaster1.xml" Id="Rf479a0a2fcec49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da2bd4ccfe49c9" /><Relationship Type="http://schemas.openxmlformats.org/officeDocument/2006/relationships/notesMaster" Target="/ppt/notesMasters/notesMaster1.xml" Id="R95b4b2021b7b45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949f2134ff4ecd" /><Relationship Type="http://schemas.openxmlformats.org/officeDocument/2006/relationships/notesMaster" Target="/ppt/notesMasters/notesMaster1.xml" Id="R7fcad65b474e4b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8d18ac2007434e" /><Relationship Type="http://schemas.openxmlformats.org/officeDocument/2006/relationships/notesMaster" Target="/ppt/notesMasters/notesMaster1.xml" Id="R46ee06b73e1a4c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d371b1c5b74dc1" /><Relationship Type="http://schemas.openxmlformats.org/officeDocument/2006/relationships/notesMaster" Target="/ppt/notesMasters/notesMaster1.xml" Id="R5ef5265dc1164f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df917a26d34754" /><Relationship Type="http://schemas.openxmlformats.org/officeDocument/2006/relationships/notesMaster" Target="/ppt/notesMasters/notesMaster1.xml" Id="R65b980d0ea2f47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f84ecc266a4128" /><Relationship Type="http://schemas.openxmlformats.org/officeDocument/2006/relationships/notesMaster" Target="/ppt/notesMasters/notesMaster1.xml" Id="R7009c5fe485e47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9365a3fd291410f" /><Relationship Type="http://schemas.openxmlformats.org/officeDocument/2006/relationships/notesMaster" Target="/ppt/notesMasters/notesMaster1.xml" Id="R687aa75ad66040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9137f8c65d4ba1" /><Relationship Type="http://schemas.openxmlformats.org/officeDocument/2006/relationships/notesMaster" Target="/ppt/notesMasters/notesMaster1.xml" Id="Rd136a62d05dc4a0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dcbfd1be50462e" /><Relationship Type="http://schemas.openxmlformats.org/officeDocument/2006/relationships/notesMaster" Target="/ppt/notesMasters/notesMaster1.xml" Id="Rf9bf9997f4e14b9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0d30b072de412b" /><Relationship Type="http://schemas.openxmlformats.org/officeDocument/2006/relationships/notesMaster" Target="/ppt/notesMasters/notesMaster1.xml" Id="R6d2ec02dfc90417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913f9a322b47d6" /><Relationship Type="http://schemas.openxmlformats.org/officeDocument/2006/relationships/notesMaster" Target="/ppt/notesMasters/notesMaster1.xml" Id="Ra4291aee62d043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7b0785369a43de" /><Relationship Type="http://schemas.openxmlformats.org/officeDocument/2006/relationships/notesMaster" Target="/ppt/notesMasters/notesMaster1.xml" Id="Rc7e718b5f5a642e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385ba6232094708" /><Relationship Type="http://schemas.openxmlformats.org/officeDocument/2006/relationships/notesMaster" Target="/ppt/notesMasters/notesMaster1.xml" Id="R9ed98ec7767448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9f2cb8598874024" /><Relationship Type="http://schemas.openxmlformats.org/officeDocument/2006/relationships/notesMaster" Target="/ppt/notesMasters/notesMaster1.xml" Id="Rec850ac1177d49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829c19a31bd481b" /><Relationship Type="http://schemas.openxmlformats.org/officeDocument/2006/relationships/notesMaster" Target="/ppt/notesMasters/notesMaster1.xml" Id="R1b9cc300f2c44b8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e47c5e1991c4fda" /><Relationship Type="http://schemas.openxmlformats.org/officeDocument/2006/relationships/notesMaster" Target="/ppt/notesMasters/notesMaster1.xml" Id="R1051539543614f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617c2047fb2457e" /><Relationship Type="http://schemas.openxmlformats.org/officeDocument/2006/relationships/notesMaster" Target="/ppt/notesMasters/notesMaster1.xml" Id="R97f4bd60ffdc440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c865568e004b93" /><Relationship Type="http://schemas.openxmlformats.org/officeDocument/2006/relationships/notesMaster" Target="/ppt/notesMasters/notesMaster1.xml" Id="R166a3f9815014b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0:00–0:30.</a:t>
            </a:r>
          </a:p>
          <a:p xmlns:a="http://schemas.openxmlformats.org/drawingml/2006/main">
            <a:r>
              <a:t/>
            </a:r>
          </a:p>
          <a:p xmlns:a="http://schemas.openxmlformats.org/drawingml/2006/main">
            <a:r>
              <a:t>Buenos días. Soy Pablo Manzanares López y voy a presentar TransitOps, mi Trabajo Fin de Grado. Es una aplicación para organizar el trabajo diario de una empresa de transporte. Además de enseñar lo que hace, quiero contar cómo pasé de una necesidad inicial a un sistema que se puede probar y poner en marcha.</a:t>
            </a:r>
          </a:p>
          <a:p xmlns:a="http://schemas.openxmlformats.org/drawingml/2006/main">
            <a:r>
              <a:t/>
            </a:r>
          </a:p>
          <a:p xmlns:a="http://schemas.openxmlformats.org/drawingml/2006/main">
            <a:r>
              <a:t>FUENTES</a:t>
            </a:r>
          </a:p>
          <a:p xmlns:a="http://schemas.openxmlformats.org/drawingml/2006/main">
            <a:r>
              <a:t>Memoria, portada y capítulo 1, 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0:30–1:00.</a:t>
            </a:r>
          </a:p>
          <a:p xmlns:a="http://schemas.openxmlformats.org/drawingml/2006/main">
            <a:r>
              <a:t/>
            </a:r>
          </a:p>
          <a:p xmlns:a="http://schemas.openxmlformats.org/drawingml/2006/main">
            <a:r>
              <a:t>Voy a seguir un recorrido sencillo. Primero explicaré el problema y qué decidí incluir en el proyecto. Después contaré cómo lo fui construyendo y por qué elegí esta arquitectura. En la parte central veremos un envío de principio a fin. Por último, enseñaré cómo comprobé el resultado, cómo lo desplegué y qué límites tiene todavía.</a:t>
            </a:r>
          </a:p>
          <a:p xmlns:a="http://schemas.openxmlformats.org/drawingml/2006/main">
            <a:r>
              <a:t/>
            </a:r>
          </a:p>
          <a:p xmlns:a="http://schemas.openxmlformats.org/drawingml/2006/main">
            <a:r>
              <a:t>FUENTES</a:t>
            </a:r>
          </a:p>
          <a:p xmlns:a="http://schemas.openxmlformats.org/drawingml/2006/main">
            <a:r>
              <a:t>Estructura de la defensa elaborada a partir de los capítulos 1–13 de la memoria.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1:00–1:55.</a:t>
            </a:r>
          </a:p>
          <a:p xmlns:a="http://schemas.openxmlformats.org/drawingml/2006/main">
            <a:r>
              <a:t/>
            </a:r>
          </a:p>
          <a:p xmlns:a="http://schemas.openxmlformats.org/drawingml/2006/main">
            <a:r>
              <a:t>Imaginemos una pequeña empresa de transporte. Una persona lleva los vehículos en una hoja de cálculo, otra confirma conductores por teléfono y las incidencias llegan por mensajes. Cuando hay que preparar un envío, cuesta saber si un recurso está libre de verdad. Y, si surge un problema durante el trayecto, también cuesta reconstruir qué pasó y quién lo registró.</a:t>
            </a:r>
          </a:p>
          <a:p xmlns:a="http://schemas.openxmlformats.org/drawingml/2006/main">
            <a:r>
              <a:t/>
            </a:r>
          </a:p>
          <a:p xmlns:a="http://schemas.openxmlformats.org/drawingml/2006/main">
            <a:r>
              <a:t>TransitOps nace para reunir esa información en un mismo lugar. Conviene aclarar algo desde el principio: la empresa y la entrevista de partida son simuladas. El proyecto demuestra una solución técnica; no he medido mejoras en una empresa real.</a:t>
            </a:r>
          </a:p>
          <a:p xmlns:a="http://schemas.openxmlformats.org/drawingml/2006/main">
            <a:r>
              <a:t/>
            </a:r>
          </a:p>
          <a:p xmlns:a="http://schemas.openxmlformats.org/drawingml/2006/main">
            <a:r>
              <a:t>FUENTES</a:t>
            </a:r>
          </a:p>
          <a:p xmlns:a="http://schemas.openxmlformats.org/drawingml/2006/main">
            <a:r>
              <a:t>Memoria, capítulos 1 y 4.1, pp. 1–3 y 15. docs/ClientRequirements.md.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1:55–2:55.</a:t>
            </a:r>
          </a:p>
          <a:p xmlns:a="http://schemas.openxmlformats.org/drawingml/2006/main">
            <a:r>
              <a:t/>
            </a:r>
          </a:p>
          <a:p xmlns:a="http://schemas.openxmlformats.org/drawingml/2006/main">
            <a:r>
              <a:t>Mi objetivo era construir una aplicación útil para esas tareas diarias y, al mismo tiempo, mostrar el proceso completo de ingeniería que hay detrás. La aplicación debía permitir preparar los datos de clientes y recursos, crear envíos, asignar vehículo y conductor, seguir su estado y consultar lo ocurrido después.</a:t>
            </a:r>
          </a:p>
          <a:p xmlns:a="http://schemas.openxmlformats.org/drawingml/2006/main">
            <a:r>
              <a:t/>
            </a:r>
          </a:p>
          <a:p xmlns:a="http://schemas.openxmlformats.org/drawingml/2006/main">
            <a:r>
              <a:t>Para saber si el trabajo estaba terminado, fijé cuatro señales concretas: que los casos de uso funcionaran de principio a fin, que las reglas importantes tuvieran pruebas, que otra persona pudiera poner el sistema en marcha siguiendo la documentación y que existiera un despliegue accesible. Así puedo evaluar el resultado con algo más que una lista de pantallas.</a:t>
            </a:r>
          </a:p>
          <a:p xmlns:a="http://schemas.openxmlformats.org/drawingml/2006/main">
            <a:r>
              <a:t/>
            </a:r>
          </a:p>
          <a:p xmlns:a="http://schemas.openxmlformats.org/drawingml/2006/main">
            <a:r>
              <a:t>FUENTES</a:t>
            </a:r>
          </a:p>
          <a:p xmlns:a="http://schemas.openxmlformats.org/drawingml/2006/main">
            <a:r>
              <a:t>Memoria, apartados 1.2–1.3, pp.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2:55–4:00.</a:t>
            </a:r>
          </a:p>
          <a:p xmlns:a="http://schemas.openxmlformats.org/drawingml/2006/main">
            <a:r>
              <a:t/>
            </a:r>
          </a:p>
          <a:p xmlns:a="http://schemas.openxmlformats.org/drawingml/2006/main">
            <a:r>
              <a:t>A partir de la entrevista redacté catorce funciones que debía ofrecer la aplicación, diecisiete reglas sobre cómo debe comportarse y seis requisitos de calidad. Aquí me interesa sobre todo aclarar quién la usa. El operador se ocupa del trabajo diario: vehículos, conductores, clientes y envíos. El administrador también puede hacer ese trabajo, pero además gestiona las cuentas y sus permisos. Los conductores y los clientes aparecen como datos en la aplicación; no entran en ella con una cuenta propia.</a:t>
            </a:r>
          </a:p>
          <a:p xmlns:a="http://schemas.openxmlformats.org/drawingml/2006/main">
            <a:r>
              <a:t/>
            </a:r>
          </a:p>
          <a:p xmlns:a="http://schemas.openxmlformats.org/drawingml/2006/main">
            <a:r>
              <a:t>Acoté el proyecto al núcleo de la operación. Por eso no incluí optimización de rutas, seguimiento GPS ni facturación. Eran ampliaciones posibles, pero no hacían falta para demostrar el recorrido completo con calidad.</a:t>
            </a:r>
          </a:p>
          <a:p xmlns:a="http://schemas.openxmlformats.org/drawingml/2006/main">
            <a:r>
              <a:t/>
            </a:r>
          </a:p>
          <a:p xmlns:a="http://schemas.openxmlformats.org/drawingml/2006/main">
            <a:r>
              <a:t>FUENTES</a:t>
            </a:r>
          </a:p>
          <a:p xmlns:a="http://schemas.openxmlformats.org/drawingml/2006/main">
            <a:r>
              <a:t>Memoria, capítulo 4, pp. 15–21.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4:00–5:05.</a:t>
            </a:r>
          </a:p>
          <a:p xmlns:a="http://schemas.openxmlformats.org/drawingml/2006/main">
            <a:r>
              <a:t/>
            </a:r>
          </a:p>
          <a:p xmlns:a="http://schemas.openxmlformats.org/drawingml/2006/main">
            <a:r>
              <a:t>La memoria concreta ese alcance en cuatro situaciones. La primera ocurre una sola vez: quien instala el sistema crea la primera cuenta de administrador. Después, esa vía de entrada ya no se puede repetir.</a:t>
            </a:r>
          </a:p>
          <a:p xmlns:a="http://schemas.openxmlformats.org/drawingml/2006/main">
            <a:r>
              <a:t/>
            </a:r>
          </a:p>
          <a:p xmlns:a="http://schemas.openxmlformats.org/drawingml/2006/main">
            <a:r>
              <a:t>En la segunda, el administrador crea una cuenta y, más tarde, el operador que la recibe entra y cambia su contraseña inicial. Son dos roles distintos que intervienen en momentos diferentes. La tercera situación es el trabajo principal: el operador lleva un envío desde su planificación hasta su cierre. Y la cuarta vuelve al administrador: puede retirar el acceso a una persona sin borrar lo que hizo antes. Estos son los cuatro casos de uso que luego compruebo en las pruebas de sistema.</a:t>
            </a:r>
          </a:p>
          <a:p xmlns:a="http://schemas.openxmlformats.org/drawingml/2006/main">
            <a:r>
              <a:t/>
            </a:r>
          </a:p>
          <a:p xmlns:a="http://schemas.openxmlformats.org/drawingml/2006/main">
            <a:r>
              <a:t>FUENTES</a:t>
            </a:r>
          </a:p>
          <a:p xmlns:a="http://schemas.openxmlformats.org/drawingml/2006/main">
            <a:r>
              <a:t>Memoria, apartado 4.4, pp. 17–21.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1:15. Tramo 5:05–6:20.</a:t>
            </a:r>
          </a:p>
          <a:p xmlns:a="http://schemas.openxmlformats.org/drawingml/2006/main">
            <a:r>
              <a:t/>
            </a:r>
          </a:p>
          <a:p xmlns:a="http://schemas.openxmlformats.org/drawingml/2006/main">
            <a:r>
              <a:t>Organicé el desarrollo en siete etapas. En cada una intenté dejar una parte que ya se pudiera usar, con su pantalla, su lógica en el servidor, sus datos y sus pruebas. Empecé por el acceso al sistema. Después llegaron las fichas de vehículos, conductores y clientes, seguidas de los envíos. Más adelante añadí las asignaciones, el seguimiento y la administración. La última etapa se dedicó a reforzar la seguridad, comprobar el sistema completo y desplegarlo.</a:t>
            </a:r>
          </a:p>
          <a:p xmlns:a="http://schemas.openxmlformats.org/drawingml/2006/main">
            <a:r>
              <a:t/>
            </a:r>
          </a:p>
          <a:p xmlns:a="http://schemas.openxmlformats.org/drawingml/2006/main">
            <a:r>
              <a:t>Hay una decisión importante detrás de esta forma de trabajar. Diseñé desde el principio cómo se relacionaban las piezas principales, para evitar contradicciones. Pero fui creando las tablas y las funciones a medida que cada etapa las necesitaba. Al cerrar una etapa, comprobaba el recorrido completo, no solo una parte aislada.</a:t>
            </a:r>
          </a:p>
          <a:p xmlns:a="http://schemas.openxmlformats.org/drawingml/2006/main">
            <a:r>
              <a:t/>
            </a:r>
          </a:p>
          <a:p xmlns:a="http://schemas.openxmlformats.org/drawingml/2006/main">
            <a:r>
              <a:t>FUENTES</a:t>
            </a:r>
          </a:p>
          <a:p xmlns:a="http://schemas.openxmlformats.org/drawingml/2006/main">
            <a:r>
              <a:t>Memoria, capítulo 3 y tabla 3.1, pp. 9–14.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6:20–7:30.</a:t>
            </a:r>
          </a:p>
          <a:p xmlns:a="http://schemas.openxmlformats.org/drawingml/2006/main">
            <a:r>
              <a:t/>
            </a:r>
          </a:p>
          <a:p xmlns:a="http://schemas.openxmlformats.org/drawingml/2006/main">
            <a:r>
              <a:t>Esta imagen muestra el camino que sigue una acción del usuario. La persona utiliza la interfaz web, hecha con React y TypeScript. Cuando, por ejemplo, crea un envío, la interfaz se comunica con el servidor, desarrollado en .NET. Ahí se comprueba si tiene permiso y si la operación respeta las reglas. Solo entonces se guarda el cambio en PostgreSQL.</a:t>
            </a:r>
          </a:p>
          <a:p xmlns:a="http://schemas.openxmlformats.org/drawingml/2006/main">
            <a:r>
              <a:t/>
            </a:r>
          </a:p>
          <a:p xmlns:a="http://schemas.openxmlformats.org/drawingml/2006/main">
            <a:r>
              <a:t>Nginx entrega la interfaz y dirige esas peticiones al servidor desde una misma dirección. Elegí una única aplicación de servidor, organizada por funciones. Para este tamaño de proyecto me permitió separar responsabilidades y probarlas con claridad, sin añadir la complejidad de varios servicios que tendrían que coordinarse entre sí.</a:t>
            </a:r>
          </a:p>
          <a:p xmlns:a="http://schemas.openxmlformats.org/drawingml/2006/main">
            <a:r>
              <a:t/>
            </a:r>
          </a:p>
          <a:p xmlns:a="http://schemas.openxmlformats.org/drawingml/2006/main">
            <a:r>
              <a:t>FUENTES</a:t>
            </a:r>
          </a:p>
          <a:p xmlns:a="http://schemas.openxmlformats.org/drawingml/2006/main">
            <a:r>
              <a:t>Memoria, capítulo 5 y figura 5.1, pp. 22–24. docs/design/IntegrationArchitecture.md.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7:30–8:40.</a:t>
            </a:r>
          </a:p>
          <a:p xmlns:a="http://schemas.openxmlformats.org/drawingml/2006/main">
            <a:r>
              <a:t/>
            </a:r>
          </a:p>
          <a:p xmlns:a="http://schemas.openxmlformats.org/drawingml/2006/main">
            <a:r>
              <a:t>El envío es la pieza central del modelo. Puede estar vinculado a un cliente y, cuando se prepara para salir, recibe un vehículo y un conductor como pareja. Todo lo que ocurre después queda asociado a ese envío.</a:t>
            </a:r>
          </a:p>
          <a:p xmlns:a="http://schemas.openxmlformats.org/drawingml/2006/main">
            <a:r>
              <a:t/>
            </a:r>
          </a:p>
          <a:p xmlns:a="http://schemas.openxmlformats.org/drawingml/2006/main">
            <a:r>
              <a:t>También necesitaba conservar la historia. Si un vehículo o una persona deja de estar disponible, desactivo su registro en vez de borrarlo, porque podría aparecer en envíos anteriores. Los hechos del trayecto tampoco se editan ni se eliminan. Y las reglas más delicadas, como impedir que dos envíos abiertos reserven el mismo recurso, están reforzadas en la base de datos. Así se mantienen incluso si llegan dos peticiones casi a la vez.</a:t>
            </a:r>
          </a:p>
          <a:p xmlns:a="http://schemas.openxmlformats.org/drawingml/2006/main">
            <a:r>
              <a:t/>
            </a:r>
          </a:p>
          <a:p xmlns:a="http://schemas.openxmlformats.org/drawingml/2006/main">
            <a:r>
              <a:t>FUENTES</a:t>
            </a:r>
          </a:p>
          <a:p xmlns:a="http://schemas.openxmlformats.org/drawingml/2006/main">
            <a:r>
              <a:t>Memoria, apartados 5.2 y 6.4–6.7, pp. 23 y 27–32. Figura 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8:40–9:40.</a:t>
            </a:r>
          </a:p>
          <a:p xmlns:a="http://schemas.openxmlformats.org/drawingml/2006/main">
            <a:r>
              <a:t/>
            </a:r>
          </a:p>
          <a:p xmlns:a="http://schemas.openxmlformats.org/drawingml/2006/main">
            <a:r>
              <a:t>Para explicar el producto voy a seguir un solo envío. Primero preparo los datos necesarios: cliente, vehículo y conductor. Creo el envío con sus fechas y su carga prevista. Después asigno los dos recursos y comienzo el trayecto. Durante el recorrido puedo anotar un punto de control o una incidencia. Finalmente, el envío termina como entregado o cancelado, y su historia queda disponible para consultarla.</a:t>
            </a:r>
          </a:p>
          <a:p xmlns:a="http://schemas.openxmlformats.org/drawingml/2006/main">
            <a:r>
              <a:t/>
            </a:r>
          </a:p>
          <a:p xmlns:a="http://schemas.openxmlformats.org/drawingml/2006/main">
            <a:r>
              <a:t>Este ejemplo conecta las pantallas con las reglas que acabamos de ver. También deja claro que un envío cerrado no vuelve a un estado anterior: si hubo un error, debe quedar constancia en el historial.</a:t>
            </a:r>
          </a:p>
          <a:p xmlns:a="http://schemas.openxmlformats.org/drawingml/2006/main">
            <a:r>
              <a:t/>
            </a:r>
          </a:p>
          <a:p xmlns:a="http://schemas.openxmlformats.org/drawingml/2006/main">
            <a:r>
              <a:t>FUENTES</a:t>
            </a:r>
          </a:p>
          <a:p xmlns:a="http://schemas.openxmlformats.org/drawingml/2006/main">
            <a:r>
              <a:t>Memoria, capítulos 6–7 y casos de uso 2–3, pp. 18–20 y 27–46.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9:40–10:50.</a:t>
            </a:r>
          </a:p>
          <a:p xmlns:a="http://schemas.openxmlformats.org/drawingml/2006/main">
            <a:r>
              <a:t/>
            </a:r>
          </a:p>
          <a:p xmlns:a="http://schemas.openxmlformats.org/drawingml/2006/main">
            <a:r>
              <a:t>Aquí se ve una de las decisiones de negocio más fáciles de comprobar. Mientras el envío está planificado, se le asignan juntos un vehículo y un conductor. Si uno de ellos ya está ocupado en otro envío que sigue abierto, la aplicación rechaza la asignación. Así evita reservar el mismo recurso dos veces.</a:t>
            </a:r>
          </a:p>
          <a:p xmlns:a="http://schemas.openxmlformats.org/drawingml/2006/main">
            <a:r>
              <a:t/>
            </a:r>
          </a:p>
          <a:p xmlns:a="http://schemas.openxmlformats.org/drawingml/2006/main">
            <a:r>
              <a:t>La capacidad del vehículo se trata de otra manera. En esta captura de prueba, la carga estimada es de 4.500 kilos y el vehículo admite 3.000. El sistema avisa claramente de la diferencia, pero permite continuar. Esa fue la regla definida para este caso: advertir al operador, no decidir por él. La captura utiliza datos de prueba.</a:t>
            </a:r>
          </a:p>
          <a:p xmlns:a="http://schemas.openxmlformats.org/drawingml/2006/main">
            <a:r>
              <a:t/>
            </a:r>
          </a:p>
          <a:p xmlns:a="http://schemas.openxmlformats.org/drawingml/2006/main">
            <a:r>
              <a:t>FUENTES</a:t>
            </a:r>
          </a:p>
          <a:p xmlns:a="http://schemas.openxmlformats.org/drawingml/2006/main">
            <a:r>
              <a:t>Memoria, apartado 6.6 y figura 7.5, pp. 29–30 y 39. Datos de prueba del Sprint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10:50–12:00.</a:t>
            </a:r>
          </a:p>
          <a:p xmlns:a="http://schemas.openxmlformats.org/drawingml/2006/main">
            <a:r>
              <a:t/>
            </a:r>
          </a:p>
          <a:p xmlns:a="http://schemas.openxmlformats.org/drawingml/2006/main">
            <a:r>
              <a:t>Una vez iniciado el trayecto, el historial va reuniendo dos tipos de hechos. Algunos los crea el sistema cuando cambia el estado del envío. Otros los escribe el operador, por ejemplo al pasar por un punto de control o al registrar una incidencia.</a:t>
            </a:r>
          </a:p>
          <a:p xmlns:a="http://schemas.openxmlformats.org/drawingml/2006/main">
            <a:r>
              <a:t/>
            </a:r>
          </a:p>
          <a:p xmlns:a="http://schemas.openxmlformats.org/drawingml/2006/main">
            <a:r>
              <a:t>Cada entrada conserva cuándo ocurrió el hecho, cuándo se anotó y qué usuario lo registró. Ese usuario se toma de la sesión iniciada, para que no se pueda escribir un nombre cualquiera. Además, cuando el sistema cambia un estado, guarda ese cambio y su anotación en el historial a la vez. De ese modo, el envío no queda marcado como «entregado» sin el hecho que explica cuándo se entregó. La imagen muestra datos de prueba.</a:t>
            </a:r>
          </a:p>
          <a:p xmlns:a="http://schemas.openxmlformats.org/drawingml/2006/main">
            <a:r>
              <a:t/>
            </a:r>
          </a:p>
          <a:p xmlns:a="http://schemas.openxmlformats.org/drawingml/2006/main">
            <a:r>
              <a:t>FUENTES</a:t>
            </a:r>
          </a:p>
          <a:p xmlns:a="http://schemas.openxmlformats.org/drawingml/2006/main">
            <a:r>
              <a:t>Memoria, apartado 6.7 y figura 7.8, pp. 30–32 y 42. Datos de prueba del Sprint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12:00–12:55.</a:t>
            </a:r>
          </a:p>
          <a:p xmlns:a="http://schemas.openxmlformats.org/drawingml/2006/main">
            <a:r>
              <a:t/>
            </a:r>
          </a:p>
          <a:p xmlns:a="http://schemas.openxmlformats.org/drawingml/2006/main">
            <a:r>
              <a:t>La administración de usuarios tiene su propia parte de la aplicación. Desde ahí, un administrador crea cuentas, cambia permisos y puede desactivar a alguien sin perder su historial. Hay una protección importante: no puede dejar el sistema sin ningún administrador activo.</a:t>
            </a:r>
          </a:p>
          <a:p xmlns:a="http://schemas.openxmlformats.org/drawingml/2006/main">
            <a:r>
              <a:t/>
            </a:r>
          </a:p>
          <a:p xmlns:a="http://schemas.openxmlformats.org/drawingml/2006/main">
            <a:r>
              <a:t>En la captura vemos el resumen operativo. Permite hacerse una idea de cuántos envíos hay en cada estado, qué actividad tienen los recursos y cuántas incidencias aparecen en el periodo elegido. Sirve como punto de entrada a los listados filtrados; no pretende ser un sistema de análisis avanzado. Los números de la captura son de demostración, no de una empresa real.</a:t>
            </a:r>
          </a:p>
          <a:p xmlns:a="http://schemas.openxmlformats.org/drawingml/2006/main">
            <a:r>
              <a:t/>
            </a:r>
          </a:p>
          <a:p xmlns:a="http://schemas.openxmlformats.org/drawingml/2006/main">
            <a:r>
              <a:t>FUENTES</a:t>
            </a:r>
          </a:p>
          <a:p xmlns:a="http://schemas.openxmlformats.org/drawingml/2006/main">
            <a:r>
              <a:t>Memoria, apartados 6.8 y 7.6, pp. 32–33 y 44–46. Datos de demostración del Sprint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1:15. Tramo 12:55–14:10.</a:t>
            </a:r>
          </a:p>
          <a:p xmlns:a="http://schemas.openxmlformats.org/drawingml/2006/main">
            <a:r>
              <a:t/>
            </a:r>
          </a:p>
          <a:p xmlns:a="http://schemas.openxmlformats.org/drawingml/2006/main">
            <a:r>
              <a:t>Para comprobar el trabajo usé pruebas a distintos niveles. Hay 139 pruebas del servidor que se centran en las reglas, los permisos y la forma en que responde la aplicación. Otras 33 comprueban las acciones que una persona realiza desde la interfaz. Y hay cuatro pruebas que recorren el sistema completo, una por cada caso de uso que vimos antes.</a:t>
            </a:r>
          </a:p>
          <a:p xmlns:a="http://schemas.openxmlformats.org/drawingml/2006/main">
            <a:r>
              <a:t/>
            </a:r>
          </a:p>
          <a:p xmlns:a="http://schemas.openxmlformats.org/drawingml/2006/main">
            <a:r>
              <a:t>En las reglas donde dos personas podrían actuar al mismo tiempo, probé también con PostgreSQL real; una simulación sencilla no bastaba para comprobar ese riesgo. Cada cambio pasa además por una comprobación automática antes de publicarse. Estos números son pruebas ejecutadas, no un porcentaje de cobertura ni una medida de calidad por sí solos.</a:t>
            </a:r>
          </a:p>
          <a:p xmlns:a="http://schemas.openxmlformats.org/drawingml/2006/main">
            <a:r>
              <a:t/>
            </a:r>
          </a:p>
          <a:p xmlns:a="http://schemas.openxmlformats.org/drawingml/2006/main">
            <a:r>
              <a:t>FUENTES</a:t>
            </a:r>
          </a:p>
          <a:p xmlns:a="http://schemas.openxmlformats.org/drawingml/2006/main">
            <a:r>
              <a:t>Memoria, capítulo 8, pp. 48–55. Recuentos documentados al cierre del Sprint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14:10–15:15.</a:t>
            </a:r>
          </a:p>
          <a:p xmlns:a="http://schemas.openxmlformats.org/drawingml/2006/main">
            <a:r>
              <a:t/>
            </a:r>
          </a:p>
          <a:p xmlns:a="http://schemas.openxmlformats.org/drawingml/2006/main">
            <a:r>
              <a:t>Quería que el resultado pudiera arrancarse fuera de mi ordenador. Cuando el proyecto supera las comprobaciones automáticas, se preparan versiones listas para ejecutar de la web y del servidor. Una máquina Ubuntu las descarga y pone en marcha la aplicación con la configuración descrita en el repositorio. Un procedimiento automático comprueba después que responde y qué versión está instalada.</a:t>
            </a:r>
          </a:p>
          <a:p xmlns:a="http://schemas.openxmlformats.org/drawingml/2006/main">
            <a:r>
              <a:t/>
            </a:r>
          </a:p>
          <a:p xmlns:a="http://schemas.openxmlformats.org/drawingml/2006/main">
            <a:r>
              <a:t>Para la demostración, el acceso se hace por HTTPS mediante un túnel saliente. Eso permite abrir la aplicación desde fuera sin publicar directamente los puertos de los contenedores. Es una forma reproducible de enseñar el sistema, pero no la presento como un servicio listo para producción.</a:t>
            </a:r>
          </a:p>
          <a:p xmlns:a="http://schemas.openxmlformats.org/drawingml/2006/main">
            <a:r>
              <a:t/>
            </a:r>
          </a:p>
          <a:p xmlns:a="http://schemas.openxmlformats.org/drawingml/2006/main">
            <a:r>
              <a:t>FUENTES</a:t>
            </a:r>
          </a:p>
          <a:p xmlns:a="http://schemas.openxmlformats.org/drawingml/2006/main">
            <a:r>
              <a:t>Memoria, capítulo 9, pp. 56–60.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15:15–16:20.</a:t>
            </a:r>
          </a:p>
          <a:p xmlns:a="http://schemas.openxmlformats.org/drawingml/2006/main">
            <a:r>
              <a:t/>
            </a:r>
          </a:p>
          <a:p xmlns:a="http://schemas.openxmlformats.org/drawingml/2006/main">
            <a:r>
              <a:t>Si vuelvo a los criterios del principio, el resultado cubre las catorce funciones previstas y los cuatro casos de uso. También puedo seguir el rastro desde una necesidad hasta la parte de la aplicación que la resuelve y la prueba que la comprueba. Las distintas etapas terminaron integradas en una sola aplicación, y el despliegue mostró que podía ponerla en marcha fuera del entorno de desarrollo.</a:t>
            </a:r>
          </a:p>
          <a:p xmlns:a="http://schemas.openxmlformats.org/drawingml/2006/main">
            <a:r>
              <a:t/>
            </a:r>
          </a:p>
          <a:p xmlns:a="http://schemas.openxmlformats.org/drawingml/2006/main">
            <a:r>
              <a:t>Esta evaluación tiene un límite importante: puedo afirmar que el sistema funciona según los requisitos y las pruebas realizadas. No puedo afirmar que ahorre tiempo o dinero a una empresa, porque no se probó con usuarios reales.</a:t>
            </a:r>
          </a:p>
          <a:p xmlns:a="http://schemas.openxmlformats.org/drawingml/2006/main">
            <a:r>
              <a:t/>
            </a:r>
          </a:p>
          <a:p xmlns:a="http://schemas.openxmlformats.org/drawingml/2006/main">
            <a:r>
              <a:t>FUENTES</a:t>
            </a:r>
          </a:p>
          <a:p xmlns:a="http://schemas.openxmlformats.org/drawingml/2006/main">
            <a:r>
              <a:t>Memoria, capítulos 10, 12 y 13, pp. 61–62 y 66–69.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16:20–17:10.</a:t>
            </a:r>
          </a:p>
          <a:p xmlns:a="http://schemas.openxmlformats.org/drawingml/2006/main">
            <a:r>
              <a:t/>
            </a:r>
          </a:p>
          <a:p xmlns:a="http://schemas.openxmlformats.org/drawingml/2006/main">
            <a:r>
              <a:t>Para terminar, TransitOps demuestra un recorrido completo: partir de una necesidad, convertirla en requisitos, construir una aplicación funcional, ponerla a prueba y desplegarla. El valor del trabajo está tanto en las funciones del sistema como en poder explicar y verificar las decisiones que las hicieron posibles.</a:t>
            </a:r>
          </a:p>
          <a:p xmlns:a="http://schemas.openxmlformats.org/drawingml/2006/main">
            <a:r>
              <a:t/>
            </a:r>
          </a:p>
          <a:p xmlns:a="http://schemas.openxmlformats.org/drawingml/2006/main">
            <a:r>
              <a:t>El producto todavía necesita validación con personas reales, pero el núcleo operativo está construido y documentado. Muchas gracias por vuestra atención. Quedo a vuestra disposición para las preguntas.</a:t>
            </a:r>
          </a:p>
          <a:p xmlns:a="http://schemas.openxmlformats.org/drawingml/2006/main">
            <a:r>
              <a:t/>
            </a:r>
          </a:p>
          <a:p xmlns:a="http://schemas.openxmlformats.org/drawingml/2006/main">
            <a:r>
              <a:t>FUENTES</a:t>
            </a:r>
          </a:p>
          <a:p xmlns:a="http://schemas.openxmlformats.org/drawingml/2006/main">
            <a:r>
              <a:t>Memoria, capítulo 13, pp. 68–69.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Si preguntan cómo sé que una función responde a una necesidad, esta tabla permite seguir su rastro. Cada requisito se relaciona con la etapa en la que se implementó y con la prueba o evidencia correspondiente. Conviene escoger una fila concreta y recorrerla de izquierda a derecha, en lugar de leer toda la tabla.</a:t>
            </a:r>
          </a:p>
          <a:p xmlns:a="http://schemas.openxmlformats.org/drawingml/2006/main">
            <a:r>
              <a:t/>
            </a:r>
          </a:p>
          <a:p xmlns:a="http://schemas.openxmlformats.org/drawingml/2006/main">
            <a:r>
              <a:t>FUENTES</a:t>
            </a:r>
          </a:p>
          <a:p xmlns:a="http://schemas.openxmlformats.org/drawingml/2006/main">
            <a:r>
              <a:t>Memoria, capítulo 10, pp. 61–62. docs/Requirements.md y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Si preguntan por la doble reserva, explicaría que la aplicación la comprueba al asignar recursos y que la base de datos añade una protección cuando llegan operaciones simultáneas. Si preguntan por las cuentas, señalaría que no se puede desactivar el último administrador. Y, al retirar el acceso, una sesión abierta deja de ser válida sin tener que borrar el historial del usuario.</a:t>
            </a:r>
          </a:p>
          <a:p xmlns:a="http://schemas.openxmlformats.org/drawingml/2006/main">
            <a:r>
              <a:t/>
            </a:r>
          </a:p>
          <a:p xmlns:a="http://schemas.openxmlformats.org/drawingml/2006/main">
            <a:r>
              <a:t>FUENTES</a:t>
            </a:r>
          </a:p>
          <a:p xmlns:a="http://schemas.openxmlformats.org/drawingml/2006/main">
            <a:r>
              <a:t>Memoria, apartados 6.1–6.3, 6.6, 6.8 y 8.3, pp. 25–33 y 52–54.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Las 300 horas y los 6.137,50 euros de esta diapositiva son una estimación académica para planificar y valorar el trabajo. No son un registro de horas reales ni una factura. Si preguntan por el coste, distinguiría claramente esa estimación del esfuerzo efectivamente medido, que no se presenta aquí.</a:t>
            </a:r>
          </a:p>
          <a:p xmlns:a="http://schemas.openxmlformats.org/drawingml/2006/main">
            <a:r>
              <a:t/>
            </a:r>
          </a:p>
          <a:p xmlns:a="http://schemas.openxmlformats.org/drawingml/2006/main">
            <a:r>
              <a:t>FUENTES</a:t>
            </a:r>
          </a:p>
          <a:p xmlns:a="http://schemas.openxmlformats.org/drawingml/2006/main">
            <a:r>
              <a:t>Memoria, apartados 3.3–3.4 y tablas 3.2–3.3, pp. 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La tabla muestra cómo creció el número de pruebas a medida que se añadían funciones. Los recuentos son acumulados al cierre de cada etapa. Sirven para ver que las comprobaciones acompañaron al desarrollo, pero no expresan qué porcentaje del código está cubierto ni garantizan por sí solos que no haya errores.</a:t>
            </a:r>
          </a:p>
          <a:p xmlns:a="http://schemas.openxmlformats.org/drawingml/2006/main">
            <a:r>
              <a:t/>
            </a:r>
          </a:p>
          <a:p xmlns:a="http://schemas.openxmlformats.org/drawingml/2006/main">
            <a:r>
              <a:t>FUENTES</a:t>
            </a:r>
          </a:p>
          <a:p xmlns:a="http://schemas.openxmlformats.org/drawingml/2006/main">
            <a:r>
              <a:t>Memoria, apartado 8.2, pp. 49–52.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d4c374768a49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033b7a44f64208" /><Relationship Type="http://schemas.openxmlformats.org/officeDocument/2006/relationships/slideLayout" Target="/ppt/slideLayouts/slideLayout1.xml" Id="R3b06d06d9fc84e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06d06d9fc84e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b1a2f3ead84263" /><Relationship Type="http://schemas.openxmlformats.org/officeDocument/2006/relationships/image" Target="/ppt/media/image.png" Id="R2a479a10541940a2" /><Relationship Type="http://schemas.openxmlformats.org/officeDocument/2006/relationships/notesSlide" Target="/ppt/notesSlides/notesSlide1.xml" Id="R128a0b33f1334f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f7a11a56874a64" /><Relationship Type="http://schemas.openxmlformats.org/officeDocument/2006/relationships/notesSlide" Target="/ppt/notesSlides/notesSlide2.xml" Id="R86aa34d2364a49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e979ef8edd487e" /><Relationship Type="http://schemas.openxmlformats.org/officeDocument/2006/relationships/notesSlide" Target="/ppt/notesSlides/notesSlide3.xml" Id="Re58be15cb7964c0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df6af8776ad4a70" /><Relationship Type="http://schemas.openxmlformats.org/officeDocument/2006/relationships/notesSlide" Target="/ppt/notesSlides/notesSlide4.xml" Id="Ref350a6f36f64b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c3ba3fbf8e1460f" /><Relationship Type="http://schemas.openxmlformats.org/officeDocument/2006/relationships/notesSlide" Target="/ppt/notesSlides/notesSlide5.xml" Id="R2fb62a72de2444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f3e1458ee2040d8" /><Relationship Type="http://schemas.openxmlformats.org/officeDocument/2006/relationships/notesSlide" Target="/ppt/notesSlides/notesSlide6.xml" Id="Rfbe97bba6e474c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c62e04e02c42fa" /><Relationship Type="http://schemas.openxmlformats.org/officeDocument/2006/relationships/notesSlide" Target="/ppt/notesSlides/notesSlide7.xml" Id="Ra64e6ab10fde4c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94cc51ec3434559" /><Relationship Type="http://schemas.openxmlformats.org/officeDocument/2006/relationships/image" Target="/ppt/media/image2.png" Id="R340ee20466bd4152" /><Relationship Type="http://schemas.openxmlformats.org/officeDocument/2006/relationships/notesSlide" Target="/ppt/notesSlides/notesSlide8.xml" Id="Re25ca38c011b446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727553efd2049f5" /><Relationship Type="http://schemas.openxmlformats.org/officeDocument/2006/relationships/image" Target="/ppt/media/image3.png" Id="R320e93ffe46d4ea2" /><Relationship Type="http://schemas.openxmlformats.org/officeDocument/2006/relationships/notesSlide" Target="/ppt/notesSlides/notesSlide9.xml" Id="R93549f73908e438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d72daf496fc4fcf" /><Relationship Type="http://schemas.openxmlformats.org/officeDocument/2006/relationships/image" Target="/ppt/media/image4.png" Id="R746b1d36b8784fe0" /><Relationship Type="http://schemas.openxmlformats.org/officeDocument/2006/relationships/notesSlide" Target="/ppt/notesSlides/notesSlide10.xml" Id="R6ddf8c89d15946c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652792d76e64423" /><Relationship Type="http://schemas.openxmlformats.org/officeDocument/2006/relationships/image" Target="/ppt/media/image.jpeg" Id="Rbb3036f7a9ca4220" /><Relationship Type="http://schemas.openxmlformats.org/officeDocument/2006/relationships/notesSlide" Target="/ppt/notesSlides/notesSlide11.xml" Id="R2fa5b5e5166e4d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074acf009fc488f" /><Relationship Type="http://schemas.openxmlformats.org/officeDocument/2006/relationships/image" Target="/ppt/media/image2.jpeg" Id="Rad00c5a910e14892" /><Relationship Type="http://schemas.openxmlformats.org/officeDocument/2006/relationships/notesSlide" Target="/ppt/notesSlides/notesSlide12.xml" Id="R147223dc2a8c4c6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f0e3f72594a46f6" /><Relationship Type="http://schemas.openxmlformats.org/officeDocument/2006/relationships/image" Target="/ppt/media/image3.jpeg" Id="R24018d2de4ba4500" /><Relationship Type="http://schemas.openxmlformats.org/officeDocument/2006/relationships/notesSlide" Target="/ppt/notesSlides/notesSlide13.xml" Id="R5a7935b3965a487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f3f7957ee6c49b5" /><Relationship Type="http://schemas.openxmlformats.org/officeDocument/2006/relationships/notesSlide" Target="/ppt/notesSlides/notesSlide14.xml" Id="Rbbaea30f2e4143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295d76aa69d452c" /><Relationship Type="http://schemas.openxmlformats.org/officeDocument/2006/relationships/image" Target="/ppt/media/image5.png" Id="Rad7f25b165204292" /><Relationship Type="http://schemas.openxmlformats.org/officeDocument/2006/relationships/notesSlide" Target="/ppt/notesSlides/notesSlide15.xml" Id="Rf014e9b9debd4e7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4970541c9044155" /><Relationship Type="http://schemas.openxmlformats.org/officeDocument/2006/relationships/notesSlide" Target="/ppt/notesSlides/notesSlide16.xml" Id="Re8a5b76d56a444d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eb59794e2b44dd0" /><Relationship Type="http://schemas.openxmlformats.org/officeDocument/2006/relationships/notesSlide" Target="/ppt/notesSlides/notesSlide18.xml" Id="R2cf3e633620249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edb65165f8434b" /><Relationship Type="http://schemas.openxmlformats.org/officeDocument/2006/relationships/notesSlide" Target="/ppt/notesSlides/notesSlide19.xml" Id="R9f1b07f08f8b46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3030d6da9574ecd" /><Relationship Type="http://schemas.openxmlformats.org/officeDocument/2006/relationships/notesSlide" Target="/ppt/notesSlides/notesSlide20.xml" Id="R9cc63787dc5c468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bde28091ba1499e" /><Relationship Type="http://schemas.openxmlformats.org/officeDocument/2006/relationships/notesSlide" Target="/ppt/notesSlides/notesSlide21.xml" Id="R12aac8484557465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e08f9cfdea840e5" /><Relationship Type="http://schemas.openxmlformats.org/officeDocument/2006/relationships/notesSlide" Target="/ppt/notesSlides/notesSlide22.xml" Id="Rbb054ffc53774f2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a479a10541940a2"/>
          <a:stretch xmlns:a="http://schemas.openxmlformats.org/drawingml/2006/main"/>
        </p:blipFill>
        <p:spPr>
          <a:xfrm xmlns:a="http://schemas.openxmlformats.org/drawingml/2006/main">
            <a:off x="609600" y="412006"/>
            <a:ext cx="4095750" cy="528538"/>
          </a:xfrm>
          <a:prstGeom xmlns:a="http://schemas.openxmlformats.org/drawingml/2006/main" prst="rect">
            <a:avLst/>
          </a:prstGeom>
        </p:spPr>
      </p:pic>
      <p:sp>
        <p:nvSpPr>
          <p:cNvPr id="2" name="TransitOps">
            <a:extLst xmlns:a="http://schemas.openxmlformats.org/drawingml/2006/main">
              <a:ext uri="{FF2B5EF4-FFF2-40B4-BE49-F238E27FC236}">
                <a16:creationId xmlns:a16="http://schemas.microsoft.com/office/drawing/2014/main" id="{7FA2FD65-CB90-41EB-95D0-A13681FC4578}"/>
              </a:ext>
            </a:extLst>
          </p:cNvPr>
          <p:cNvSpPr>
            <a:spLocks xmlns:a="http://schemas.openxmlformats.org/drawingml/2006/main" noGrp="1"/>
          </p:cNvSpPr>
          <p:nvPr/>
        </p:nvSpPr>
        <p:spPr>
          <a:xfrm xmlns:a="http://schemas.openxmlformats.org/drawingml/2006/main">
            <a:off x="609600" y="1619250"/>
            <a:ext cx="10572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600" b="1">
                <a:solidFill>
                  <a:srgbClr val="14263D"/>
                </a:solidFill>
                <a:latin typeface="Arial"/>
                <a:ea typeface="Arial"/>
                <a:cs typeface="Arial"/>
              </a:defRPr>
            </a:pPr>
            <a:r>
              <a:rPr sz="6600" b="1">
                <a:solidFill>
                  <a:srgbClr val="14263D"/>
                </a:solidFill>
                <a:latin typeface="Arial"/>
                <a:ea typeface="Arial"/>
                <a:cs typeface="Arial"/>
              </a:rPr>
              <a:t>TransitOps</a:t>
            </a:r>
          </a:p>
        </p:txBody>
      </p:sp>
      <p:sp>
        <p:nvSpPr>
          <p:cNvPr id="3" name="Diseño y desarrollo de una aplicación&#10;de gestión de transpor">
            <a:extLst xmlns:a="http://schemas.openxmlformats.org/drawingml/2006/main">
              <a:ext uri="{FF2B5EF4-FFF2-40B4-BE49-F238E27FC236}">
                <a16:creationId xmlns:a16="http://schemas.microsoft.com/office/drawing/2014/main" id="{9AF5CFEF-9656-412A-9D4F-84E9A7A0371A}"/>
              </a:ext>
            </a:extLst>
          </p:cNvPr>
          <p:cNvSpPr>
            <a:spLocks xmlns:a="http://schemas.openxmlformats.org/drawingml/2006/main" noGrp="1"/>
          </p:cNvSpPr>
          <p:nvPr/>
        </p:nvSpPr>
        <p:spPr>
          <a:xfrm xmlns:a="http://schemas.openxmlformats.org/drawingml/2006/main">
            <a:off x="638175" y="2876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Diseño y desarrollo de una aplicación</a:t>
            </a:r>
          </a:p>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de gestión de transportes</a:t>
            </a:r>
          </a:p>
        </p:txBody>
      </p:sp>
      <p:sp>
        <p:nvSpPr>
          <p:cNvPr id="4" name="Ciclo de vida completo del software">
            <a:extLst xmlns:a="http://schemas.openxmlformats.org/drawingml/2006/main">
              <a:ext uri="{FF2B5EF4-FFF2-40B4-BE49-F238E27FC236}">
                <a16:creationId xmlns:a16="http://schemas.microsoft.com/office/drawing/2014/main" id="{3A1FA0DB-28B6-408E-8DBD-2161CDD4C2F9}"/>
              </a:ext>
            </a:extLst>
          </p:cNvPr>
          <p:cNvSpPr>
            <a:spLocks xmlns:a="http://schemas.openxmlformats.org/drawingml/2006/main" noGrp="1"/>
          </p:cNvSpPr>
          <p:nvPr/>
        </p:nvSpPr>
        <p:spPr>
          <a:xfrm xmlns:a="http://schemas.openxmlformats.org/drawingml/2006/main">
            <a:off x="638175" y="40862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C0007F"/>
                </a:solidFill>
                <a:latin typeface="Arial"/>
                <a:ea typeface="Arial"/>
                <a:cs typeface="Arial"/>
              </a:defRPr>
            </a:pPr>
            <a:r>
              <a:rPr sz="2550" b="1">
                <a:solidFill>
                  <a:srgbClr val="C0007F"/>
                </a:solidFill>
                <a:latin typeface="Arial"/>
                <a:ea typeface="Arial"/>
                <a:cs typeface="Arial"/>
              </a:rPr>
              <a:t>Ciclo de vida completo del software</a:t>
            </a:r>
          </a:p>
        </p:txBody>
      </p:sp>
      <p:sp>
        <p:nvSpPr>
          <p:cNvPr id="5" name="Pablo Manzanares López">
            <a:extLst xmlns:a="http://schemas.openxmlformats.org/drawingml/2006/main">
              <a:ext uri="{FF2B5EF4-FFF2-40B4-BE49-F238E27FC236}">
                <a16:creationId xmlns:a16="http://schemas.microsoft.com/office/drawing/2014/main" id="{3B3E6D04-BE5F-471F-90FE-627A71250CA0}"/>
              </a:ext>
            </a:extLst>
          </p:cNvPr>
          <p:cNvSpPr>
            <a:spLocks xmlns:a="http://schemas.openxmlformats.org/drawingml/2006/main" noGrp="1"/>
          </p:cNvSpPr>
          <p:nvPr/>
        </p:nvSpPr>
        <p:spPr>
          <a:xfrm xmlns:a="http://schemas.openxmlformats.org/drawingml/2006/main">
            <a:off x="638175" y="5238750"/>
            <a:ext cx="552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14263D"/>
                </a:solidFill>
                <a:latin typeface="Arial"/>
                <a:ea typeface="Arial"/>
                <a:cs typeface="Arial"/>
              </a:defRPr>
            </a:pPr>
            <a:r>
              <a:rPr sz="1950" b="1">
                <a:solidFill>
                  <a:srgbClr val="14263D"/>
                </a:solidFill>
                <a:latin typeface="Arial"/>
                <a:ea typeface="Arial"/>
                <a:cs typeface="Arial"/>
              </a:rPr>
              <a:t>Pablo Manzanares López</a:t>
            </a:r>
          </a:p>
        </p:txBody>
      </p:sp>
      <p:sp>
        <p:nvSpPr>
          <p:cNvPr id="6" name="Dirección: Paula María Castro Castro">
            <a:extLst xmlns:a="http://schemas.openxmlformats.org/drawingml/2006/main">
              <a:ext uri="{FF2B5EF4-FFF2-40B4-BE49-F238E27FC236}">
                <a16:creationId xmlns:a16="http://schemas.microsoft.com/office/drawing/2014/main" id="{159D0CBC-226E-4B33-92DB-263280200A47}"/>
              </a:ext>
            </a:extLst>
          </p:cNvPr>
          <p:cNvSpPr>
            <a:spLocks xmlns:a="http://schemas.openxmlformats.org/drawingml/2006/main" noGrp="1"/>
          </p:cNvSpPr>
          <p:nvPr/>
        </p:nvSpPr>
        <p:spPr>
          <a:xfrm xmlns:a="http://schemas.openxmlformats.org/drawingml/2006/main">
            <a:off x="638175" y="564832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36174"/>
                </a:solidFill>
                <a:latin typeface="Arial"/>
                <a:ea typeface="Arial"/>
                <a:cs typeface="Arial"/>
              </a:defRPr>
            </a:pPr>
            <a:r>
              <a:rPr sz="1650" b="0">
                <a:solidFill>
                  <a:srgbClr val="536174"/>
                </a:solidFill>
                <a:latin typeface="Arial"/>
                <a:ea typeface="Arial"/>
                <a:cs typeface="Arial"/>
              </a:rPr>
              <a:t>Dirección: Paula María Castro Castro</a:t>
            </a:r>
          </a:p>
        </p:txBody>
      </p:sp>
      <p:sp>
        <p:nvSpPr>
          <p:cNvPr id="7" name="Grado en Ingeniería Informática&#10;Mención en Ingeniería del So">
            <a:extLst xmlns:a="http://schemas.openxmlformats.org/drawingml/2006/main">
              <a:ext uri="{FF2B5EF4-FFF2-40B4-BE49-F238E27FC236}">
                <a16:creationId xmlns:a16="http://schemas.microsoft.com/office/drawing/2014/main" id="{34595829-FEAF-4E71-84B7-E8BA57AA4470}"/>
              </a:ext>
            </a:extLst>
          </p:cNvPr>
          <p:cNvSpPr>
            <a:spLocks xmlns:a="http://schemas.openxmlformats.org/drawingml/2006/main" noGrp="1"/>
          </p:cNvSpPr>
          <p:nvPr/>
        </p:nvSpPr>
        <p:spPr>
          <a:xfrm xmlns:a="http://schemas.openxmlformats.org/drawingml/2006/main">
            <a:off x="7858125" y="5267325"/>
            <a:ext cx="3733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Grado en Ingeniería Informática</a:t>
            </a:r>
          </a:p>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Mención en Ingeniería del Software</a:t>
            </a:r>
          </a:p>
        </p:txBody>
      </p:sp>
      <p:sp>
        <p:nvSpPr>
          <p:cNvPr id="8" name="Facultad de Informática · Septiembre de 2026">
            <a:extLst xmlns:a="http://schemas.openxmlformats.org/drawingml/2006/main">
              <a:ext uri="{FF2B5EF4-FFF2-40B4-BE49-F238E27FC236}">
                <a16:creationId xmlns:a16="http://schemas.microsoft.com/office/drawing/2014/main" id="{E05313CF-01FB-4F20-8360-108A1E573A78}"/>
              </a:ext>
            </a:extLst>
          </p:cNvPr>
          <p:cNvSpPr>
            <a:spLocks xmlns:a="http://schemas.openxmlformats.org/drawingml/2006/main" noGrp="1"/>
          </p:cNvSpPr>
          <p:nvPr/>
        </p:nvSpPr>
        <p:spPr>
          <a:xfrm xmlns:a="http://schemas.openxmlformats.org/drawingml/2006/main">
            <a:off x="638175" y="64198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536174"/>
                </a:solidFill>
                <a:latin typeface="Arial"/>
                <a:ea typeface="Arial"/>
                <a:cs typeface="Arial"/>
              </a:defRPr>
            </a:pPr>
            <a:r>
              <a:rPr sz="1275" b="0">
                <a:solidFill>
                  <a:srgbClr val="536174"/>
                </a:solidFill>
                <a:latin typeface="Arial"/>
                <a:ea typeface="Arial"/>
                <a:cs typeface="Arial"/>
              </a:rPr>
              <a:t>Facultad de Informática · Septiembre de 2026</a:t>
            </a:r>
          </a:p>
        </p:txBody>
      </p:sp>
    </p:spTree>
    <p:extLst>
      <p:ext uri="{BB962C8B-B14F-4D97-AF65-F5344CB8AC3E}">
        <p14:creationId xmlns:p14="http://schemas.microsoft.com/office/powerpoint/2010/main" val="19678170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RECORRIDO">
            <a:extLst xmlns:a="http://schemas.openxmlformats.org/drawingml/2006/main">
              <a:ext uri="{FF2B5EF4-FFF2-40B4-BE49-F238E27FC236}">
                <a16:creationId xmlns:a16="http://schemas.microsoft.com/office/drawing/2014/main" id="{1E8C4086-7198-4F63-824A-BECE990A10A0}"/>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RECORRIDO</a:t>
            </a:r>
          </a:p>
        </p:txBody>
      </p:sp>
      <p:sp>
        <p:nvSpPr>
          <p:cNvPr id="2" name="Estructura de la presentación">
            <a:extLst xmlns:a="http://schemas.openxmlformats.org/drawingml/2006/main">
              <a:ext uri="{FF2B5EF4-FFF2-40B4-BE49-F238E27FC236}">
                <a16:creationId xmlns:a16="http://schemas.microsoft.com/office/drawing/2014/main" id="{F68D23CD-87C4-431D-81DF-A0F9C97B2D46}"/>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Estructura de la presentación</a:t>
            </a:r>
          </a:p>
        </p:txBody>
      </p:sp>
      <p:sp>
        <p:nvSpPr>
          <p:cNvPr id="3" name="">
            <a:extLst xmlns:a="http://schemas.openxmlformats.org/drawingml/2006/main">
              <a:ext uri="{FF2B5EF4-FFF2-40B4-BE49-F238E27FC236}">
                <a16:creationId xmlns:a16="http://schemas.microsoft.com/office/drawing/2014/main" id="{17E26799-69E0-49BD-8EB1-D847ED2DEEC6}"/>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2">
            <a:extLst xmlns:a="http://schemas.openxmlformats.org/drawingml/2006/main">
              <a:ext uri="{FF2B5EF4-FFF2-40B4-BE49-F238E27FC236}">
                <a16:creationId xmlns:a16="http://schemas.microsoft.com/office/drawing/2014/main" id="{176C44D9-48FB-4BEF-A5F3-F94EBF7843A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02</a:t>
            </a:r>
          </a:p>
        </p:txBody>
      </p:sp>
      <p:sp>
        <p:nvSpPr>
          <p:cNvPr id="5" name="01">
            <a:extLst xmlns:a="http://schemas.openxmlformats.org/drawingml/2006/main">
              <a:ext uri="{FF2B5EF4-FFF2-40B4-BE49-F238E27FC236}">
                <a16:creationId xmlns:a16="http://schemas.microsoft.com/office/drawing/2014/main" id="{AFDCE4F0-E572-46DA-88F3-5421B25C6C67}"/>
              </a:ext>
            </a:extLst>
          </p:cNvPr>
          <p:cNvSpPr>
            <a:spLocks xmlns:a="http://schemas.openxmlformats.org/drawingml/2006/main" noGrp="1"/>
          </p:cNvSpPr>
          <p:nvPr/>
        </p:nvSpPr>
        <p:spPr>
          <a:xfrm xmlns:a="http://schemas.openxmlformats.org/drawingml/2006/main">
            <a:off x="609600"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01</a:t>
            </a:r>
          </a:p>
        </p:txBody>
      </p:sp>
      <p:sp>
        <p:nvSpPr>
          <p:cNvPr id="6" name="Problema y objetivos">
            <a:extLst xmlns:a="http://schemas.openxmlformats.org/drawingml/2006/main">
              <a:ext uri="{FF2B5EF4-FFF2-40B4-BE49-F238E27FC236}">
                <a16:creationId xmlns:a16="http://schemas.microsoft.com/office/drawing/2014/main" id="{92419B5E-7ED0-4E26-8CBE-F42702AF283B}"/>
              </a:ext>
            </a:extLst>
          </p:cNvPr>
          <p:cNvSpPr>
            <a:spLocks xmlns:a="http://schemas.openxmlformats.org/drawingml/2006/main" noGrp="1"/>
          </p:cNvSpPr>
          <p:nvPr/>
        </p:nvSpPr>
        <p:spPr>
          <a:xfrm xmlns:a="http://schemas.openxmlformats.org/drawingml/2006/main">
            <a:off x="1447800"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Problema y objetivos</a:t>
            </a:r>
          </a:p>
        </p:txBody>
      </p:sp>
      <p:sp>
        <p:nvSpPr>
          <p:cNvPr id="7" name="">
            <a:extLst xmlns:a="http://schemas.openxmlformats.org/drawingml/2006/main">
              <a:ext uri="{FF2B5EF4-FFF2-40B4-BE49-F238E27FC236}">
                <a16:creationId xmlns:a16="http://schemas.microsoft.com/office/drawing/2014/main" id="{54706893-0E8A-4332-867E-BE4C9DCC0791}"/>
              </a:ext>
            </a:extLst>
          </p:cNvPr>
          <p:cNvSpPr>
            <a:spLocks xmlns:a="http://schemas.openxmlformats.org/drawingml/2006/main" noGrp="1"/>
          </p:cNvSpPr>
          <p:nvPr/>
        </p:nvSpPr>
        <p:spPr>
          <a:xfrm xmlns:a="http://schemas.openxmlformats.org/drawingml/2006/main">
            <a:off x="609600"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8" name="02">
            <a:extLst xmlns:a="http://schemas.openxmlformats.org/drawingml/2006/main">
              <a:ext uri="{FF2B5EF4-FFF2-40B4-BE49-F238E27FC236}">
                <a16:creationId xmlns:a16="http://schemas.microsoft.com/office/drawing/2014/main" id="{F0C50861-9315-44C1-A41A-909C2073F855}"/>
              </a:ext>
            </a:extLst>
          </p:cNvPr>
          <p:cNvSpPr>
            <a:spLocks xmlns:a="http://schemas.openxmlformats.org/drawingml/2006/main" noGrp="1"/>
          </p:cNvSpPr>
          <p:nvPr/>
        </p:nvSpPr>
        <p:spPr>
          <a:xfrm xmlns:a="http://schemas.openxmlformats.org/drawingml/2006/main">
            <a:off x="609600"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02</a:t>
            </a:r>
          </a:p>
        </p:txBody>
      </p:sp>
      <p:sp>
        <p:nvSpPr>
          <p:cNvPr id="9" name="Requisitos y alcance">
            <a:extLst xmlns:a="http://schemas.openxmlformats.org/drawingml/2006/main">
              <a:ext uri="{FF2B5EF4-FFF2-40B4-BE49-F238E27FC236}">
                <a16:creationId xmlns:a16="http://schemas.microsoft.com/office/drawing/2014/main" id="{B2A8D2AF-409B-46BE-83B3-5FBDB9FC63C6}"/>
              </a:ext>
            </a:extLst>
          </p:cNvPr>
          <p:cNvSpPr>
            <a:spLocks xmlns:a="http://schemas.openxmlformats.org/drawingml/2006/main" noGrp="1"/>
          </p:cNvSpPr>
          <p:nvPr/>
        </p:nvSpPr>
        <p:spPr>
          <a:xfrm xmlns:a="http://schemas.openxmlformats.org/drawingml/2006/main">
            <a:off x="1447800"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Requisitos y alcance</a:t>
            </a:r>
          </a:p>
        </p:txBody>
      </p:sp>
      <p:sp>
        <p:nvSpPr>
          <p:cNvPr id="10" name="">
            <a:extLst xmlns:a="http://schemas.openxmlformats.org/drawingml/2006/main">
              <a:ext uri="{FF2B5EF4-FFF2-40B4-BE49-F238E27FC236}">
                <a16:creationId xmlns:a16="http://schemas.microsoft.com/office/drawing/2014/main" id="{D4457951-8B46-4374-B5BC-9307A9422075}"/>
              </a:ext>
            </a:extLst>
          </p:cNvPr>
          <p:cNvSpPr>
            <a:spLocks xmlns:a="http://schemas.openxmlformats.org/drawingml/2006/main" noGrp="1"/>
          </p:cNvSpPr>
          <p:nvPr/>
        </p:nvSpPr>
        <p:spPr>
          <a:xfrm xmlns:a="http://schemas.openxmlformats.org/drawingml/2006/main">
            <a:off x="609600"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1" name="03">
            <a:extLst xmlns:a="http://schemas.openxmlformats.org/drawingml/2006/main">
              <a:ext uri="{FF2B5EF4-FFF2-40B4-BE49-F238E27FC236}">
                <a16:creationId xmlns:a16="http://schemas.microsoft.com/office/drawing/2014/main" id="{606DE386-59F6-4719-9419-FAD2D957F7E6}"/>
              </a:ext>
            </a:extLst>
          </p:cNvPr>
          <p:cNvSpPr>
            <a:spLocks xmlns:a="http://schemas.openxmlformats.org/drawingml/2006/main" noGrp="1"/>
          </p:cNvSpPr>
          <p:nvPr/>
        </p:nvSpPr>
        <p:spPr>
          <a:xfrm xmlns:a="http://schemas.openxmlformats.org/drawingml/2006/main">
            <a:off x="609600"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03</a:t>
            </a:r>
          </a:p>
        </p:txBody>
      </p:sp>
      <p:sp>
        <p:nvSpPr>
          <p:cNvPr id="12" name="Metodología">
            <a:extLst xmlns:a="http://schemas.openxmlformats.org/drawingml/2006/main">
              <a:ext uri="{FF2B5EF4-FFF2-40B4-BE49-F238E27FC236}">
                <a16:creationId xmlns:a16="http://schemas.microsoft.com/office/drawing/2014/main" id="{BC235017-FA40-40BB-AE5F-F76755289C2A}"/>
              </a:ext>
            </a:extLst>
          </p:cNvPr>
          <p:cNvSpPr>
            <a:spLocks xmlns:a="http://schemas.openxmlformats.org/drawingml/2006/main" noGrp="1"/>
          </p:cNvSpPr>
          <p:nvPr/>
        </p:nvSpPr>
        <p:spPr>
          <a:xfrm xmlns:a="http://schemas.openxmlformats.org/drawingml/2006/main">
            <a:off x="1447800"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Metodología</a:t>
            </a:r>
          </a:p>
        </p:txBody>
      </p:sp>
      <p:sp>
        <p:nvSpPr>
          <p:cNvPr id="13" name="">
            <a:extLst xmlns:a="http://schemas.openxmlformats.org/drawingml/2006/main">
              <a:ext uri="{FF2B5EF4-FFF2-40B4-BE49-F238E27FC236}">
                <a16:creationId xmlns:a16="http://schemas.microsoft.com/office/drawing/2014/main" id="{F5237857-B768-46C7-AB62-5E64F3B75596}"/>
              </a:ext>
            </a:extLst>
          </p:cNvPr>
          <p:cNvSpPr>
            <a:spLocks xmlns:a="http://schemas.openxmlformats.org/drawingml/2006/main" noGrp="1"/>
          </p:cNvSpPr>
          <p:nvPr/>
        </p:nvSpPr>
        <p:spPr>
          <a:xfrm xmlns:a="http://schemas.openxmlformats.org/drawingml/2006/main">
            <a:off x="609600"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4" name="04">
            <a:extLst xmlns:a="http://schemas.openxmlformats.org/drawingml/2006/main">
              <a:ext uri="{FF2B5EF4-FFF2-40B4-BE49-F238E27FC236}">
                <a16:creationId xmlns:a16="http://schemas.microsoft.com/office/drawing/2014/main" id="{41036068-D1A9-4DD1-8BA4-70ED079425AF}"/>
              </a:ext>
            </a:extLst>
          </p:cNvPr>
          <p:cNvSpPr>
            <a:spLocks xmlns:a="http://schemas.openxmlformats.org/drawingml/2006/main" noGrp="1"/>
          </p:cNvSpPr>
          <p:nvPr/>
        </p:nvSpPr>
        <p:spPr>
          <a:xfrm xmlns:a="http://schemas.openxmlformats.org/drawingml/2006/main">
            <a:off x="609600" y="49434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04</a:t>
            </a:r>
          </a:p>
        </p:txBody>
      </p:sp>
      <p:sp>
        <p:nvSpPr>
          <p:cNvPr id="15" name="Diseño y arquitectura">
            <a:extLst xmlns:a="http://schemas.openxmlformats.org/drawingml/2006/main">
              <a:ext uri="{FF2B5EF4-FFF2-40B4-BE49-F238E27FC236}">
                <a16:creationId xmlns:a16="http://schemas.microsoft.com/office/drawing/2014/main" id="{DC968053-281E-4324-81AC-740C64C49D25}"/>
              </a:ext>
            </a:extLst>
          </p:cNvPr>
          <p:cNvSpPr>
            <a:spLocks xmlns:a="http://schemas.openxmlformats.org/drawingml/2006/main" noGrp="1"/>
          </p:cNvSpPr>
          <p:nvPr/>
        </p:nvSpPr>
        <p:spPr>
          <a:xfrm xmlns:a="http://schemas.openxmlformats.org/drawingml/2006/main">
            <a:off x="1447800" y="49434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Diseño y arquitectura</a:t>
            </a:r>
          </a:p>
        </p:txBody>
      </p:sp>
      <p:sp>
        <p:nvSpPr>
          <p:cNvPr id="16" name="">
            <a:extLst xmlns:a="http://schemas.openxmlformats.org/drawingml/2006/main">
              <a:ext uri="{FF2B5EF4-FFF2-40B4-BE49-F238E27FC236}">
                <a16:creationId xmlns:a16="http://schemas.microsoft.com/office/drawing/2014/main" id="{B855BCCB-470D-4605-A5D2-ABB9BBCF4BE3}"/>
              </a:ext>
            </a:extLst>
          </p:cNvPr>
          <p:cNvSpPr>
            <a:spLocks xmlns:a="http://schemas.openxmlformats.org/drawingml/2006/main" noGrp="1"/>
          </p:cNvSpPr>
          <p:nvPr/>
        </p:nvSpPr>
        <p:spPr>
          <a:xfrm xmlns:a="http://schemas.openxmlformats.org/drawingml/2006/main">
            <a:off x="609600" y="55435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7" name="05">
            <a:extLst xmlns:a="http://schemas.openxmlformats.org/drawingml/2006/main">
              <a:ext uri="{FF2B5EF4-FFF2-40B4-BE49-F238E27FC236}">
                <a16:creationId xmlns:a16="http://schemas.microsoft.com/office/drawing/2014/main" id="{5493E736-941A-4CC4-8073-53311CEC1C3E}"/>
              </a:ext>
            </a:extLst>
          </p:cNvPr>
          <p:cNvSpPr>
            <a:spLocks xmlns:a="http://schemas.openxmlformats.org/drawingml/2006/main" noGrp="1"/>
          </p:cNvSpPr>
          <p:nvPr/>
        </p:nvSpPr>
        <p:spPr>
          <a:xfrm xmlns:a="http://schemas.openxmlformats.org/drawingml/2006/main">
            <a:off x="6486525"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05</a:t>
            </a:r>
          </a:p>
        </p:txBody>
      </p:sp>
      <p:sp>
        <p:nvSpPr>
          <p:cNvPr id="18" name="Demostración funcional">
            <a:extLst xmlns:a="http://schemas.openxmlformats.org/drawingml/2006/main">
              <a:ext uri="{FF2B5EF4-FFF2-40B4-BE49-F238E27FC236}">
                <a16:creationId xmlns:a16="http://schemas.microsoft.com/office/drawing/2014/main" id="{C80E1F5A-F334-4504-B739-015473E0F6AF}"/>
              </a:ext>
            </a:extLst>
          </p:cNvPr>
          <p:cNvSpPr>
            <a:spLocks xmlns:a="http://schemas.openxmlformats.org/drawingml/2006/main" noGrp="1"/>
          </p:cNvSpPr>
          <p:nvPr/>
        </p:nvSpPr>
        <p:spPr>
          <a:xfrm xmlns:a="http://schemas.openxmlformats.org/drawingml/2006/main">
            <a:off x="7324725"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Demostración funcional</a:t>
            </a:r>
          </a:p>
        </p:txBody>
      </p:sp>
      <p:sp>
        <p:nvSpPr>
          <p:cNvPr id="19" name="">
            <a:extLst xmlns:a="http://schemas.openxmlformats.org/drawingml/2006/main">
              <a:ext uri="{FF2B5EF4-FFF2-40B4-BE49-F238E27FC236}">
                <a16:creationId xmlns:a16="http://schemas.microsoft.com/office/drawing/2014/main" id="{7CA561A7-9A8E-484D-8D8B-7936BE0A1516}"/>
              </a:ext>
            </a:extLst>
          </p:cNvPr>
          <p:cNvSpPr>
            <a:spLocks xmlns:a="http://schemas.openxmlformats.org/drawingml/2006/main" noGrp="1"/>
          </p:cNvSpPr>
          <p:nvPr/>
        </p:nvSpPr>
        <p:spPr>
          <a:xfrm xmlns:a="http://schemas.openxmlformats.org/drawingml/2006/main">
            <a:off x="6486525"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0" name="06">
            <a:extLst xmlns:a="http://schemas.openxmlformats.org/drawingml/2006/main">
              <a:ext uri="{FF2B5EF4-FFF2-40B4-BE49-F238E27FC236}">
                <a16:creationId xmlns:a16="http://schemas.microsoft.com/office/drawing/2014/main" id="{D3F487DA-4D8C-4665-83CC-6EF73C9B7A1A}"/>
              </a:ext>
            </a:extLst>
          </p:cNvPr>
          <p:cNvSpPr>
            <a:spLocks xmlns:a="http://schemas.openxmlformats.org/drawingml/2006/main" noGrp="1"/>
          </p:cNvSpPr>
          <p:nvPr/>
        </p:nvSpPr>
        <p:spPr>
          <a:xfrm xmlns:a="http://schemas.openxmlformats.org/drawingml/2006/main">
            <a:off x="6486525"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06</a:t>
            </a:r>
          </a:p>
        </p:txBody>
      </p:sp>
      <p:sp>
        <p:nvSpPr>
          <p:cNvPr id="21" name="Validación y despliegue">
            <a:extLst xmlns:a="http://schemas.openxmlformats.org/drawingml/2006/main">
              <a:ext uri="{FF2B5EF4-FFF2-40B4-BE49-F238E27FC236}">
                <a16:creationId xmlns:a16="http://schemas.microsoft.com/office/drawing/2014/main" id="{739E53F2-E50B-4485-BBE7-CD1066F9414F}"/>
              </a:ext>
            </a:extLst>
          </p:cNvPr>
          <p:cNvSpPr>
            <a:spLocks xmlns:a="http://schemas.openxmlformats.org/drawingml/2006/main" noGrp="1"/>
          </p:cNvSpPr>
          <p:nvPr/>
        </p:nvSpPr>
        <p:spPr>
          <a:xfrm xmlns:a="http://schemas.openxmlformats.org/drawingml/2006/main">
            <a:off x="7324725"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Validación y despliegue</a:t>
            </a:r>
          </a:p>
        </p:txBody>
      </p:sp>
      <p:sp>
        <p:nvSpPr>
          <p:cNvPr id="22" name="">
            <a:extLst xmlns:a="http://schemas.openxmlformats.org/drawingml/2006/main">
              <a:ext uri="{FF2B5EF4-FFF2-40B4-BE49-F238E27FC236}">
                <a16:creationId xmlns:a16="http://schemas.microsoft.com/office/drawing/2014/main" id="{959A9C6F-3578-4858-B55B-7F0F9BFB42C4}"/>
              </a:ext>
            </a:extLst>
          </p:cNvPr>
          <p:cNvSpPr>
            <a:spLocks xmlns:a="http://schemas.openxmlformats.org/drawingml/2006/main" noGrp="1"/>
          </p:cNvSpPr>
          <p:nvPr/>
        </p:nvSpPr>
        <p:spPr>
          <a:xfrm xmlns:a="http://schemas.openxmlformats.org/drawingml/2006/main">
            <a:off x="6486525"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3" name="07">
            <a:extLst xmlns:a="http://schemas.openxmlformats.org/drawingml/2006/main">
              <a:ext uri="{FF2B5EF4-FFF2-40B4-BE49-F238E27FC236}">
                <a16:creationId xmlns:a16="http://schemas.microsoft.com/office/drawing/2014/main" id="{FE197391-8A8F-4C43-AD79-05B3577397EB}"/>
              </a:ext>
            </a:extLst>
          </p:cNvPr>
          <p:cNvSpPr>
            <a:spLocks xmlns:a="http://schemas.openxmlformats.org/drawingml/2006/main" noGrp="1"/>
          </p:cNvSpPr>
          <p:nvPr/>
        </p:nvSpPr>
        <p:spPr>
          <a:xfrm xmlns:a="http://schemas.openxmlformats.org/drawingml/2006/main">
            <a:off x="6486525"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07</a:t>
            </a:r>
          </a:p>
        </p:txBody>
      </p:sp>
      <p:sp>
        <p:nvSpPr>
          <p:cNvPr id="24" name="Conclusiones y trabajo futuro">
            <a:extLst xmlns:a="http://schemas.openxmlformats.org/drawingml/2006/main">
              <a:ext uri="{FF2B5EF4-FFF2-40B4-BE49-F238E27FC236}">
                <a16:creationId xmlns:a16="http://schemas.microsoft.com/office/drawing/2014/main" id="{13923C4F-3CD9-49CA-A60E-5355CFB8C77E}"/>
              </a:ext>
            </a:extLst>
          </p:cNvPr>
          <p:cNvSpPr>
            <a:spLocks xmlns:a="http://schemas.openxmlformats.org/drawingml/2006/main" noGrp="1"/>
          </p:cNvSpPr>
          <p:nvPr/>
        </p:nvSpPr>
        <p:spPr>
          <a:xfrm xmlns:a="http://schemas.openxmlformats.org/drawingml/2006/main">
            <a:off x="7324725"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Conclusiones y trabajo futuro</a:t>
            </a:r>
          </a:p>
        </p:txBody>
      </p:sp>
      <p:sp>
        <p:nvSpPr>
          <p:cNvPr id="25" name="">
            <a:extLst xmlns:a="http://schemas.openxmlformats.org/drawingml/2006/main">
              <a:ext uri="{FF2B5EF4-FFF2-40B4-BE49-F238E27FC236}">
                <a16:creationId xmlns:a16="http://schemas.microsoft.com/office/drawing/2014/main" id="{E2F29761-FFB5-4C64-9E51-3A43FEC46D16}"/>
              </a:ext>
            </a:extLst>
          </p:cNvPr>
          <p:cNvSpPr>
            <a:spLocks xmlns:a="http://schemas.openxmlformats.org/drawingml/2006/main" noGrp="1"/>
          </p:cNvSpPr>
          <p:nvPr/>
        </p:nvSpPr>
        <p:spPr>
          <a:xfrm xmlns:a="http://schemas.openxmlformats.org/drawingml/2006/main">
            <a:off x="6486525"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6" name="Orden de la defensa: definición, construcción, demostración ">
            <a:extLst xmlns:a="http://schemas.openxmlformats.org/drawingml/2006/main">
              <a:ext uri="{FF2B5EF4-FFF2-40B4-BE49-F238E27FC236}">
                <a16:creationId xmlns:a16="http://schemas.microsoft.com/office/drawing/2014/main" id="{6941E9F1-2AC6-4D67-A2A2-B8F6957997FA}"/>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Orden de la defensa: definición, construcción, demostración y evaluación.</a:t>
            </a:r>
          </a:p>
        </p:txBody>
      </p:sp>
    </p:spTree>
    <p:extLst>
      <p:ext uri="{BB962C8B-B14F-4D97-AF65-F5344CB8AC3E}">
        <p14:creationId xmlns:p14="http://schemas.microsoft.com/office/powerpoint/2010/main" val="57221216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PROBLEMA Y OBJETIVOS">
            <a:extLst xmlns:a="http://schemas.openxmlformats.org/drawingml/2006/main">
              <a:ext uri="{FF2B5EF4-FFF2-40B4-BE49-F238E27FC236}">
                <a16:creationId xmlns:a16="http://schemas.microsoft.com/office/drawing/2014/main" id="{88D98537-AFDE-415D-B7CB-957260D32A8F}"/>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Problema de partida">
            <a:extLst xmlns:a="http://schemas.openxmlformats.org/drawingml/2006/main">
              <a:ext uri="{FF2B5EF4-FFF2-40B4-BE49-F238E27FC236}">
                <a16:creationId xmlns:a16="http://schemas.microsoft.com/office/drawing/2014/main" id="{A6AE44DB-AEC4-425B-B489-4344AD29768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Problema de partida</a:t>
            </a:r>
          </a:p>
        </p:txBody>
      </p:sp>
      <p:sp>
        <p:nvSpPr>
          <p:cNvPr id="3" name="">
            <a:extLst xmlns:a="http://schemas.openxmlformats.org/drawingml/2006/main">
              <a:ext uri="{FF2B5EF4-FFF2-40B4-BE49-F238E27FC236}">
                <a16:creationId xmlns:a16="http://schemas.microsoft.com/office/drawing/2014/main" id="{4FAA2D1E-3850-44CB-8A0E-2BAA9490BB9C}"/>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3">
            <a:extLst xmlns:a="http://schemas.openxmlformats.org/drawingml/2006/main">
              <a:ext uri="{FF2B5EF4-FFF2-40B4-BE49-F238E27FC236}">
                <a16:creationId xmlns:a16="http://schemas.microsoft.com/office/drawing/2014/main" id="{4207D8DF-7364-4529-B4C8-B7DB8D2791A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03</a:t>
            </a:r>
          </a:p>
        </p:txBody>
      </p:sp>
      <p:sp>
        <p:nvSpPr>
          <p:cNvPr id="5" name="La información operativa está repartida entre hojas, mensaje">
            <a:extLst xmlns:a="http://schemas.openxmlformats.org/drawingml/2006/main">
              <a:ext uri="{FF2B5EF4-FFF2-40B4-BE49-F238E27FC236}">
                <a16:creationId xmlns:a16="http://schemas.microsoft.com/office/drawing/2014/main" id="{CAAB8F08-2AFA-4FE0-827B-63A062032EC0}"/>
              </a:ext>
            </a:extLst>
          </p:cNvPr>
          <p:cNvSpPr>
            <a:spLocks xmlns:a="http://schemas.openxmlformats.org/drawingml/2006/main" noGrp="1"/>
          </p:cNvSpPr>
          <p:nvPr/>
        </p:nvSpPr>
        <p:spPr>
          <a:xfrm xmlns:a="http://schemas.openxmlformats.org/drawingml/2006/main">
            <a:off x="609600" y="1714500"/>
            <a:ext cx="6429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925" b="1">
                <a:solidFill>
                  <a:srgbClr val="14263D"/>
                </a:solidFill>
                <a:latin typeface="Arial"/>
                <a:ea typeface="Arial"/>
                <a:cs typeface="Arial"/>
              </a:defRPr>
            </a:pPr>
            <a:r>
              <a:rPr sz="2925" b="1">
                <a:solidFill>
                  <a:srgbClr val="14263D"/>
                </a:solidFill>
                <a:latin typeface="Arial"/>
                <a:ea typeface="Arial"/>
                <a:cs typeface="Arial"/>
              </a:rPr>
              <a:t>La información operativa está repartida entre hojas, mensajes y llamadas</a:t>
            </a:r>
          </a:p>
        </p:txBody>
      </p:sp>
      <p:sp>
        <p:nvSpPr>
          <p:cNvPr id="6" name="Disponibilidad incierta">
            <a:extLst xmlns:a="http://schemas.openxmlformats.org/drawingml/2006/main">
              <a:ext uri="{FF2B5EF4-FFF2-40B4-BE49-F238E27FC236}">
                <a16:creationId xmlns:a16="http://schemas.microsoft.com/office/drawing/2014/main" id="{39400ADD-3047-4F46-AC21-898583BBF943}"/>
              </a:ext>
            </a:extLst>
          </p:cNvPr>
          <p:cNvSpPr>
            <a:spLocks xmlns:a="http://schemas.openxmlformats.org/drawingml/2006/main" noGrp="1"/>
          </p:cNvSpPr>
          <p:nvPr/>
        </p:nvSpPr>
        <p:spPr>
          <a:xfrm xmlns:a="http://schemas.openxmlformats.org/drawingml/2006/main">
            <a:off x="7572375" y="17240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Disponibilidad incierta</a:t>
            </a:r>
          </a:p>
        </p:txBody>
      </p:sp>
      <p:sp>
        <p:nvSpPr>
          <p:cNvPr id="7" name="Un vehículo o conductor puede quedar reservado dos veces.">
            <a:extLst xmlns:a="http://schemas.openxmlformats.org/drawingml/2006/main">
              <a:ext uri="{FF2B5EF4-FFF2-40B4-BE49-F238E27FC236}">
                <a16:creationId xmlns:a16="http://schemas.microsoft.com/office/drawing/2014/main" id="{FA699F9A-F1E5-40D2-B905-83A537DA3962}"/>
              </a:ext>
            </a:extLst>
          </p:cNvPr>
          <p:cNvSpPr>
            <a:spLocks xmlns:a="http://schemas.openxmlformats.org/drawingml/2006/main" noGrp="1"/>
          </p:cNvSpPr>
          <p:nvPr/>
        </p:nvSpPr>
        <p:spPr>
          <a:xfrm xmlns:a="http://schemas.openxmlformats.org/drawingml/2006/main">
            <a:off x="7572375" y="2143125"/>
            <a:ext cx="4000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Un vehículo o conductor puede quedar reservado dos veces.</a:t>
            </a:r>
          </a:p>
        </p:txBody>
      </p:sp>
      <p:sp>
        <p:nvSpPr>
          <p:cNvPr id="8" name="Historia incompleta">
            <a:extLst xmlns:a="http://schemas.openxmlformats.org/drawingml/2006/main">
              <a:ext uri="{FF2B5EF4-FFF2-40B4-BE49-F238E27FC236}">
                <a16:creationId xmlns:a16="http://schemas.microsoft.com/office/drawing/2014/main" id="{443BD625-6172-4AE6-BD45-5CC3DE7E4B0D}"/>
              </a:ext>
            </a:extLst>
          </p:cNvPr>
          <p:cNvSpPr>
            <a:spLocks xmlns:a="http://schemas.openxmlformats.org/drawingml/2006/main" noGrp="1"/>
          </p:cNvSpPr>
          <p:nvPr/>
        </p:nvSpPr>
        <p:spPr>
          <a:xfrm xmlns:a="http://schemas.openxmlformats.org/drawingml/2006/main">
            <a:off x="7572375" y="32861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incompleta</a:t>
            </a:r>
          </a:p>
        </p:txBody>
      </p:sp>
      <p:sp>
        <p:nvSpPr>
          <p:cNvPr id="9" name="Reconstruir una incidencia exige buscar qué pasó y quién act">
            <a:extLst xmlns:a="http://schemas.openxmlformats.org/drawingml/2006/main">
              <a:ext uri="{FF2B5EF4-FFF2-40B4-BE49-F238E27FC236}">
                <a16:creationId xmlns:a16="http://schemas.microsoft.com/office/drawing/2014/main" id="{911C0733-9310-4423-9A81-639C57B2DD29}"/>
              </a:ext>
            </a:extLst>
          </p:cNvPr>
          <p:cNvSpPr>
            <a:spLocks xmlns:a="http://schemas.openxmlformats.org/drawingml/2006/main" noGrp="1"/>
          </p:cNvSpPr>
          <p:nvPr/>
        </p:nvSpPr>
        <p:spPr>
          <a:xfrm xmlns:a="http://schemas.openxmlformats.org/drawingml/2006/main">
            <a:off x="7572375" y="3705225"/>
            <a:ext cx="40005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Reconstruir una incidencia exige buscar qué pasó y quién actuó.</a:t>
            </a:r>
          </a:p>
        </p:txBody>
      </p:sp>
      <p:sp>
        <p:nvSpPr>
          <p:cNvPr id="10" name="Datos sin vigencia clara">
            <a:extLst xmlns:a="http://schemas.openxmlformats.org/drawingml/2006/main">
              <a:ext uri="{FF2B5EF4-FFF2-40B4-BE49-F238E27FC236}">
                <a16:creationId xmlns:a16="http://schemas.microsoft.com/office/drawing/2014/main" id="{D2436843-E977-4293-AE1E-839FC0051EBE}"/>
              </a:ext>
            </a:extLst>
          </p:cNvPr>
          <p:cNvSpPr>
            <a:spLocks xmlns:a="http://schemas.openxmlformats.org/drawingml/2006/main" noGrp="1"/>
          </p:cNvSpPr>
          <p:nvPr/>
        </p:nvSpPr>
        <p:spPr>
          <a:xfrm xmlns:a="http://schemas.openxmlformats.org/drawingml/2006/main">
            <a:off x="7572375" y="49339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Datos sin vigencia clara</a:t>
            </a:r>
          </a:p>
        </p:txBody>
      </p:sp>
      <p:sp>
        <p:nvSpPr>
          <p:cNvPr id="11" name="Los registros obsoletos pueden volver a utilizarse por error">
            <a:extLst xmlns:a="http://schemas.openxmlformats.org/drawingml/2006/main">
              <a:ext uri="{FF2B5EF4-FFF2-40B4-BE49-F238E27FC236}">
                <a16:creationId xmlns:a16="http://schemas.microsoft.com/office/drawing/2014/main" id="{B2F1BF01-279F-404C-ADC4-FFABBD82713C}"/>
              </a:ext>
            </a:extLst>
          </p:cNvPr>
          <p:cNvSpPr>
            <a:spLocks xmlns:a="http://schemas.openxmlformats.org/drawingml/2006/main" noGrp="1"/>
          </p:cNvSpPr>
          <p:nvPr/>
        </p:nvSpPr>
        <p:spPr>
          <a:xfrm xmlns:a="http://schemas.openxmlformats.org/drawingml/2006/main">
            <a:off x="7572375" y="53530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Los registros obsoletos pueden volver a utilizarse por error.</a:t>
            </a:r>
          </a:p>
        </p:txBody>
      </p:sp>
      <p:sp>
        <p:nvSpPr>
          <p:cNvPr id="12" name="Caso ficticio de pyme de transporte definido mediante una en">
            <a:extLst xmlns:a="http://schemas.openxmlformats.org/drawingml/2006/main">
              <a:ext uri="{FF2B5EF4-FFF2-40B4-BE49-F238E27FC236}">
                <a16:creationId xmlns:a16="http://schemas.microsoft.com/office/drawing/2014/main" id="{BCFD2B8B-F10F-4198-AE4B-C003DBA9A3A4}"/>
              </a:ext>
            </a:extLst>
          </p:cNvPr>
          <p:cNvSpPr>
            <a:spLocks xmlns:a="http://schemas.openxmlformats.org/drawingml/2006/main" noGrp="1"/>
          </p:cNvSpPr>
          <p:nvPr/>
        </p:nvSpPr>
        <p:spPr>
          <a:xfrm xmlns:a="http://schemas.openxmlformats.org/drawingml/2006/main">
            <a:off x="609600" y="4895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2156A5"/>
                </a:solidFill>
                <a:latin typeface="Arial"/>
                <a:ea typeface="Arial"/>
                <a:cs typeface="Arial"/>
              </a:defRPr>
            </a:pPr>
            <a:r>
              <a:rPr sz="2175" b="0">
                <a:solidFill>
                  <a:srgbClr val="2156A5"/>
                </a:solidFill>
                <a:latin typeface="Arial"/>
                <a:ea typeface="Arial"/>
                <a:cs typeface="Arial"/>
              </a:rPr>
              <a:t>Caso ficticio de pyme de transporte definido mediante una entrevista simulada</a:t>
            </a:r>
          </a:p>
        </p:txBody>
      </p:sp>
      <p:sp>
        <p:nvSpPr>
          <p:cNvPr id="13" name="Memoria, pp. 1–3 y 15. El trabajo no mide impacto en una emp">
            <a:extLst xmlns:a="http://schemas.openxmlformats.org/drawingml/2006/main">
              <a:ext uri="{FF2B5EF4-FFF2-40B4-BE49-F238E27FC236}">
                <a16:creationId xmlns:a16="http://schemas.microsoft.com/office/drawing/2014/main" id="{4DE7C8D0-567A-48DE-9016-CD3F243448EE}"/>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1–3 y 15. El trabajo no mide impacto en una empresa real.</a:t>
            </a:r>
          </a:p>
        </p:txBody>
      </p:sp>
    </p:spTree>
    <p:extLst>
      <p:ext uri="{BB962C8B-B14F-4D97-AF65-F5344CB8AC3E}">
        <p14:creationId xmlns:p14="http://schemas.microsoft.com/office/powerpoint/2010/main" val="10128258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1 · PROBLEMA Y OBJETIVOS">
            <a:extLst xmlns:a="http://schemas.openxmlformats.org/drawingml/2006/main">
              <a:ext uri="{FF2B5EF4-FFF2-40B4-BE49-F238E27FC236}">
                <a16:creationId xmlns:a16="http://schemas.microsoft.com/office/drawing/2014/main" id="{DE3D6938-6049-4FD5-8505-222D2154CF96}"/>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Objetivos y criterios de éxito">
            <a:extLst xmlns:a="http://schemas.openxmlformats.org/drawingml/2006/main">
              <a:ext uri="{FF2B5EF4-FFF2-40B4-BE49-F238E27FC236}">
                <a16:creationId xmlns:a16="http://schemas.microsoft.com/office/drawing/2014/main" id="{68322D86-17D8-4FE9-91CC-5532983DCA9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Objetivos y criterios de éxito</a:t>
            </a:r>
          </a:p>
        </p:txBody>
      </p:sp>
      <p:sp>
        <p:nvSpPr>
          <p:cNvPr id="3" name="">
            <a:extLst xmlns:a="http://schemas.openxmlformats.org/drawingml/2006/main">
              <a:ext uri="{FF2B5EF4-FFF2-40B4-BE49-F238E27FC236}">
                <a16:creationId xmlns:a16="http://schemas.microsoft.com/office/drawing/2014/main" id="{0DF307EF-5A2C-4AF4-997E-2E4377E1081B}"/>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4">
            <a:extLst xmlns:a="http://schemas.openxmlformats.org/drawingml/2006/main">
              <a:ext uri="{FF2B5EF4-FFF2-40B4-BE49-F238E27FC236}">
                <a16:creationId xmlns:a16="http://schemas.microsoft.com/office/drawing/2014/main" id="{C9FAF765-688B-4184-A8B3-3192D3C2347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04</a:t>
            </a:r>
          </a:p>
        </p:txBody>
      </p:sp>
      <p:sp>
        <p:nvSpPr>
          <p:cNvPr id="5" name="Centralizar la operación diaria y demostrar el ciclo de vida">
            <a:extLst xmlns:a="http://schemas.openxmlformats.org/drawingml/2006/main">
              <a:ext uri="{FF2B5EF4-FFF2-40B4-BE49-F238E27FC236}">
                <a16:creationId xmlns:a16="http://schemas.microsoft.com/office/drawing/2014/main" id="{BADB06E7-98ED-4C08-9AF8-CABF5450CB1C}"/>
              </a:ext>
            </a:extLst>
          </p:cNvPr>
          <p:cNvSpPr>
            <a:spLocks xmlns:a="http://schemas.openxmlformats.org/drawingml/2006/main" noGrp="1"/>
          </p:cNvSpPr>
          <p:nvPr/>
        </p:nvSpPr>
        <p:spPr>
          <a:xfrm xmlns:a="http://schemas.openxmlformats.org/drawingml/2006/main">
            <a:off x="609600" y="16097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4263D"/>
                </a:solidFill>
                <a:latin typeface="Arial"/>
                <a:ea typeface="Arial"/>
                <a:cs typeface="Arial"/>
              </a:defRPr>
            </a:pPr>
            <a:r>
              <a:rPr sz="2550" b="1">
                <a:solidFill>
                  <a:srgbClr val="14263D"/>
                </a:solidFill>
                <a:latin typeface="Arial"/>
                <a:ea typeface="Arial"/>
                <a:cs typeface="Arial"/>
              </a:rPr>
              <a:t>Centralizar la operación diaria y demostrar el ciclo de vida completo del producto</a:t>
            </a:r>
          </a:p>
        </p:txBody>
      </p:sp>
      <p:graphicFrame>
        <p:nvGraphicFramePr>
          <p:cNvPr id="13" name=""/>
          <p:cNvGraphicFramePr/>
          <p:nvPr/>
        </p:nvGraphicFramePr>
        <p:xfrm>
          <a:off xmlns:a="http://schemas.openxmlformats.org/drawingml/2006/main" x="609600" y="2667000"/>
          <a:ext xmlns:a="http://schemas.openxmlformats.org/drawingml/2006/main" cx="10972800" cy="3238500"/>
        </p:xfrm>
        <a:graphic xmlns:a="http://schemas.openxmlformats.org/drawingml/2006/main">
          <a:graphicData uri="http://schemas.openxmlformats.org/drawingml/2006/table">
            <a:tbl>
              <a:tblPr firstRow="0" bandRow="0"/>
              <a:tblGrid>
                <a:gridCol w="3143250"/>
                <a:gridCol w="7829550"/>
              </a:tblGrid>
              <a:tr h="647700">
                <a:tc>
                  <a:txBody>
                    <a:bodyPr>
                      <a:noAutofit/>
                    </a:bodyPr>
                    <a:lstStyle/>
                    <a:p>
                      <a:r>
                        <a:rPr sz="1875" b="1">
                          <a:solidFill>
                            <a:srgbClr val="FFFFFF"/>
                          </a:solidFill>
                          <a:latin typeface="Arial"/>
                          <a:ea typeface="Arial"/>
                          <a:cs typeface="Arial"/>
                        </a:rPr>
                        <a:t>Criterio</a:t>
                      </a:r>
                    </a:p>
                  </a:txBody>
                  <a:tcPr marL="142875" marR="142875" marT="95250" marB="85725" anchor="ctr">
                    <a:solidFill>
                      <a:srgbClr val="14263D"/>
                    </a:solidFill>
                  </a:tcPr>
                </a:tc>
                <a:tc>
                  <a:txBody>
                    <a:bodyPr>
                      <a:noAutofit/>
                    </a:bodyPr>
                    <a:lstStyle/>
                    <a:p>
                      <a:r>
                        <a:rPr sz="1875" b="1">
                          <a:solidFill>
                            <a:srgbClr val="FFFFFF"/>
                          </a:solidFill>
                          <a:latin typeface="Arial"/>
                          <a:ea typeface="Arial"/>
                          <a:cs typeface="Arial"/>
                        </a:rPr>
                        <a:t>Evidencia esperada</a:t>
                      </a:r>
                    </a:p>
                  </a:txBody>
                  <a:tcPr marL="142875" marR="142875" marT="95250" marB="85725" anchor="ctr">
                    <a:solidFill>
                      <a:srgbClr val="14263D"/>
                    </a:solidFill>
                  </a:tcPr>
                </a:tc>
              </a:tr>
              <a:tr h="647700">
                <a:tc>
                  <a:txBody>
                    <a:bodyPr>
                      <a:noAutofit/>
                    </a:bodyPr>
                    <a:lstStyle/>
                    <a:p>
                      <a:r>
                        <a:rPr sz="187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Cuatro casos de uso completos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Reglas verificadas en varias capas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Ejecución y despliegue documentados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Trazabilidad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Necesidad, decisión y prueba relacionadas</a:t>
                      </a:r>
                    </a:p>
                  </a:txBody>
                  <a:tcPr marL="142875" marR="142875" marT="95250" marB="85725" anchor="ctr">
                    <a:solidFill>
                      <a:srgbClr val="FFFFFF"/>
                    </a:solidFill>
                  </a:tcPr>
                </a:tc>
              </a:tr>
            </a:tbl>
          </a:graphicData>
        </a:graphic>
      </p:graphicFrame>
      <p:sp>
        <p:nvSpPr>
          <p:cNvPr id="7" name="Objetivo general y criterios de éxito de la memoria, pp. 2–3">
            <a:extLst xmlns:a="http://schemas.openxmlformats.org/drawingml/2006/main">
              <a:ext uri="{FF2B5EF4-FFF2-40B4-BE49-F238E27FC236}">
                <a16:creationId xmlns:a16="http://schemas.microsoft.com/office/drawing/2014/main" id="{F93619F2-CF15-4D8B-A2EE-0D65B8207DD0}"/>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Objetivo general y criterios de éxito de la memoria, pp. 2–3.</a:t>
            </a:r>
          </a:p>
        </p:txBody>
      </p:sp>
    </p:spTree>
    <p:extLst>
      <p:ext uri="{BB962C8B-B14F-4D97-AF65-F5344CB8AC3E}">
        <p14:creationId xmlns:p14="http://schemas.microsoft.com/office/powerpoint/2010/main" val="13278020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02 · REQUISITOS Y ALCANCE">
            <a:extLst xmlns:a="http://schemas.openxmlformats.org/drawingml/2006/main">
              <a:ext uri="{FF2B5EF4-FFF2-40B4-BE49-F238E27FC236}">
                <a16:creationId xmlns:a16="http://schemas.microsoft.com/office/drawing/2014/main" id="{568A4BED-CAE0-4E94-9A32-709B3849DC40}"/>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Requisitos y alcance">
            <a:extLst xmlns:a="http://schemas.openxmlformats.org/drawingml/2006/main">
              <a:ext uri="{FF2B5EF4-FFF2-40B4-BE49-F238E27FC236}">
                <a16:creationId xmlns:a16="http://schemas.microsoft.com/office/drawing/2014/main" id="{3A6E0C26-8406-42A9-9679-0E82194E37B0}"/>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Requisitos y alcance</a:t>
            </a:r>
          </a:p>
        </p:txBody>
      </p:sp>
      <p:sp>
        <p:nvSpPr>
          <p:cNvPr id="3" name="">
            <a:extLst xmlns:a="http://schemas.openxmlformats.org/drawingml/2006/main">
              <a:ext uri="{FF2B5EF4-FFF2-40B4-BE49-F238E27FC236}">
                <a16:creationId xmlns:a16="http://schemas.microsoft.com/office/drawing/2014/main" id="{D746653F-30E7-4871-9116-C4EA759C3DEE}"/>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5">
            <a:extLst xmlns:a="http://schemas.openxmlformats.org/drawingml/2006/main">
              <a:ext uri="{FF2B5EF4-FFF2-40B4-BE49-F238E27FC236}">
                <a16:creationId xmlns:a16="http://schemas.microsoft.com/office/drawing/2014/main" id="{84A69540-F94D-444E-9B1B-6A4F29B6506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05</a:t>
            </a:r>
          </a:p>
        </p:txBody>
      </p:sp>
      <p:sp>
        <p:nvSpPr>
          <p:cNvPr id="5" name="14">
            <a:extLst xmlns:a="http://schemas.openxmlformats.org/drawingml/2006/main">
              <a:ext uri="{FF2B5EF4-FFF2-40B4-BE49-F238E27FC236}">
                <a16:creationId xmlns:a16="http://schemas.microsoft.com/office/drawing/2014/main" id="{6B4B69C5-1CEE-456B-9401-89D7772019F2}"/>
              </a:ext>
            </a:extLst>
          </p:cNvPr>
          <p:cNvSpPr>
            <a:spLocks xmlns:a="http://schemas.openxmlformats.org/drawingml/2006/main" noGrp="1"/>
          </p:cNvSpPr>
          <p:nvPr/>
        </p:nvSpPr>
        <p:spPr>
          <a:xfrm xmlns:a="http://schemas.openxmlformats.org/drawingml/2006/main">
            <a:off x="60960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14</a:t>
            </a:r>
          </a:p>
        </p:txBody>
      </p:sp>
      <p:sp>
        <p:nvSpPr>
          <p:cNvPr id="6" name="requisitos&#10;funcionales">
            <a:extLst xmlns:a="http://schemas.openxmlformats.org/drawingml/2006/main">
              <a:ext uri="{FF2B5EF4-FFF2-40B4-BE49-F238E27FC236}">
                <a16:creationId xmlns:a16="http://schemas.microsoft.com/office/drawing/2014/main" id="{76B87EA2-1431-418C-8D59-2947D1B01059}"/>
              </a:ext>
            </a:extLst>
          </p:cNvPr>
          <p:cNvSpPr>
            <a:spLocks xmlns:a="http://schemas.openxmlformats.org/drawingml/2006/main" noGrp="1"/>
          </p:cNvSpPr>
          <p:nvPr/>
        </p:nvSpPr>
        <p:spPr>
          <a:xfrm xmlns:a="http://schemas.openxmlformats.org/drawingml/2006/main">
            <a:off x="60960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7" name="17">
            <a:extLst xmlns:a="http://schemas.openxmlformats.org/drawingml/2006/main">
              <a:ext uri="{FF2B5EF4-FFF2-40B4-BE49-F238E27FC236}">
                <a16:creationId xmlns:a16="http://schemas.microsoft.com/office/drawing/2014/main" id="{7899C94B-0E31-4F8D-BCFB-6F4D1DD3E536}"/>
              </a:ext>
            </a:extLst>
          </p:cNvPr>
          <p:cNvSpPr>
            <a:spLocks xmlns:a="http://schemas.openxmlformats.org/drawingml/2006/main" noGrp="1"/>
          </p:cNvSpPr>
          <p:nvPr/>
        </p:nvSpPr>
        <p:spPr>
          <a:xfrm xmlns:a="http://schemas.openxmlformats.org/drawingml/2006/main">
            <a:off x="310515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17</a:t>
            </a:r>
          </a:p>
        </p:txBody>
      </p:sp>
      <p:sp>
        <p:nvSpPr>
          <p:cNvPr id="8" name="reglas de&#10;negocio">
            <a:extLst xmlns:a="http://schemas.openxmlformats.org/drawingml/2006/main">
              <a:ext uri="{FF2B5EF4-FFF2-40B4-BE49-F238E27FC236}">
                <a16:creationId xmlns:a16="http://schemas.microsoft.com/office/drawing/2014/main" id="{83710BDD-CD75-45B5-B527-72A10D768063}"/>
              </a:ext>
            </a:extLst>
          </p:cNvPr>
          <p:cNvSpPr>
            <a:spLocks xmlns:a="http://schemas.openxmlformats.org/drawingml/2006/main" noGrp="1"/>
          </p:cNvSpPr>
          <p:nvPr/>
        </p:nvSpPr>
        <p:spPr>
          <a:xfrm xmlns:a="http://schemas.openxmlformats.org/drawingml/2006/main">
            <a:off x="310515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reglas de</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negocio</a:t>
            </a:r>
          </a:p>
        </p:txBody>
      </p:sp>
      <p:sp>
        <p:nvSpPr>
          <p:cNvPr id="9" name="6">
            <a:extLst xmlns:a="http://schemas.openxmlformats.org/drawingml/2006/main">
              <a:ext uri="{FF2B5EF4-FFF2-40B4-BE49-F238E27FC236}">
                <a16:creationId xmlns:a16="http://schemas.microsoft.com/office/drawing/2014/main" id="{1E72F42C-218B-4A80-9D3E-EF2D622BEFCC}"/>
              </a:ext>
            </a:extLst>
          </p:cNvPr>
          <p:cNvSpPr>
            <a:spLocks xmlns:a="http://schemas.openxmlformats.org/drawingml/2006/main" noGrp="1"/>
          </p:cNvSpPr>
          <p:nvPr/>
        </p:nvSpPr>
        <p:spPr>
          <a:xfrm xmlns:a="http://schemas.openxmlformats.org/drawingml/2006/main">
            <a:off x="5600700" y="1619250"/>
            <a:ext cx="2381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6</a:t>
            </a:r>
          </a:p>
        </p:txBody>
      </p:sp>
      <p:sp>
        <p:nvSpPr>
          <p:cNvPr id="10" name="requisitos no&#10;funcionales">
            <a:extLst xmlns:a="http://schemas.openxmlformats.org/drawingml/2006/main">
              <a:ext uri="{FF2B5EF4-FFF2-40B4-BE49-F238E27FC236}">
                <a16:creationId xmlns:a16="http://schemas.microsoft.com/office/drawing/2014/main" id="{DE871887-BDB4-42A9-AFED-5CE363E83E39}"/>
              </a:ext>
            </a:extLst>
          </p:cNvPr>
          <p:cNvSpPr>
            <a:spLocks xmlns:a="http://schemas.openxmlformats.org/drawingml/2006/main" noGrp="1"/>
          </p:cNvSpPr>
          <p:nvPr/>
        </p:nvSpPr>
        <p:spPr>
          <a:xfrm xmlns:a="http://schemas.openxmlformats.org/drawingml/2006/main">
            <a:off x="5600700" y="2514600"/>
            <a:ext cx="238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 no</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11" name="Incluido">
            <a:extLst xmlns:a="http://schemas.openxmlformats.org/drawingml/2006/main">
              <a:ext uri="{FF2B5EF4-FFF2-40B4-BE49-F238E27FC236}">
                <a16:creationId xmlns:a16="http://schemas.microsoft.com/office/drawing/2014/main" id="{EE4C9337-E082-4712-B1D6-A79FB596202E}"/>
              </a:ext>
            </a:extLst>
          </p:cNvPr>
          <p:cNvSpPr>
            <a:spLocks xmlns:a="http://schemas.openxmlformats.org/drawingml/2006/main" noGrp="1"/>
          </p:cNvSpPr>
          <p:nvPr/>
        </p:nvSpPr>
        <p:spPr>
          <a:xfrm xmlns:a="http://schemas.openxmlformats.org/drawingml/2006/main">
            <a:off x="8458200" y="162877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E7D54"/>
                </a:solidFill>
                <a:latin typeface="Arial"/>
                <a:ea typeface="Arial"/>
                <a:cs typeface="Arial"/>
              </a:defRPr>
            </a:pPr>
            <a:r>
              <a:rPr sz="1650" b="1">
                <a:solidFill>
                  <a:srgbClr val="2E7D54"/>
                </a:solidFill>
                <a:latin typeface="Arial"/>
                <a:ea typeface="Arial"/>
                <a:cs typeface="Arial"/>
              </a:rPr>
              <a:t>Incluido</a:t>
            </a:r>
          </a:p>
        </p:txBody>
      </p:sp>
      <p:sp>
        <p:nvSpPr>
          <p:cNvPr id="12" name="Catálogos y envíos&#10;Asignación y estados&#10;Eventos e incidencia">
            <a:extLst xmlns:a="http://schemas.openxmlformats.org/drawingml/2006/main">
              <a:ext uri="{FF2B5EF4-FFF2-40B4-BE49-F238E27FC236}">
                <a16:creationId xmlns:a16="http://schemas.microsoft.com/office/drawing/2014/main" id="{45A85241-AE2C-48C5-876B-37A818A845F7}"/>
              </a:ext>
            </a:extLst>
          </p:cNvPr>
          <p:cNvSpPr>
            <a:spLocks xmlns:a="http://schemas.openxmlformats.org/drawingml/2006/main" noGrp="1"/>
          </p:cNvSpPr>
          <p:nvPr/>
        </p:nvSpPr>
        <p:spPr>
          <a:xfrm xmlns:a="http://schemas.openxmlformats.org/drawingml/2006/main">
            <a:off x="8458200" y="2105025"/>
            <a:ext cx="3143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Catálogos y envíos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Asignación y estados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Eventos e incidencias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Usuarios e indicadores</a:t>
            </a:r>
          </a:p>
        </p:txBody>
      </p:sp>
      <p:sp>
        <p:nvSpPr>
          <p:cNvPr id="13" name="Fuera del TFG">
            <a:extLst xmlns:a="http://schemas.openxmlformats.org/drawingml/2006/main">
              <a:ext uri="{FF2B5EF4-FFF2-40B4-BE49-F238E27FC236}">
                <a16:creationId xmlns:a16="http://schemas.microsoft.com/office/drawing/2014/main" id="{D35489D7-080D-4A0F-A87D-6CC719E2384C}"/>
              </a:ext>
            </a:extLst>
          </p:cNvPr>
          <p:cNvSpPr>
            <a:spLocks xmlns:a="http://schemas.openxmlformats.org/drawingml/2006/main" noGrp="1"/>
          </p:cNvSpPr>
          <p:nvPr/>
        </p:nvSpPr>
        <p:spPr>
          <a:xfrm xmlns:a="http://schemas.openxmlformats.org/drawingml/2006/main">
            <a:off x="8458200" y="425767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B3263C"/>
                </a:solidFill>
                <a:latin typeface="Arial"/>
                <a:ea typeface="Arial"/>
                <a:cs typeface="Arial"/>
              </a:defRPr>
            </a:pPr>
            <a:r>
              <a:rPr sz="1650" b="1">
                <a:solidFill>
                  <a:srgbClr val="B3263C"/>
                </a:solidFill>
                <a:latin typeface="Arial"/>
                <a:ea typeface="Arial"/>
                <a:cs typeface="Arial"/>
              </a:rPr>
              <a:t>Fuera del TFG</a:t>
            </a:r>
          </a:p>
        </p:txBody>
      </p:sp>
      <p:sp>
        <p:nvSpPr>
          <p:cNvPr id="14" name="Optimización de rutas&#10;GPS y facturación&#10;Acceso de clientes e">
            <a:extLst xmlns:a="http://schemas.openxmlformats.org/drawingml/2006/main">
              <a:ext uri="{FF2B5EF4-FFF2-40B4-BE49-F238E27FC236}">
                <a16:creationId xmlns:a16="http://schemas.microsoft.com/office/drawing/2014/main" id="{6C645C6B-8F6D-418E-89BF-574F0004229A}"/>
              </a:ext>
            </a:extLst>
          </p:cNvPr>
          <p:cNvSpPr>
            <a:spLocks xmlns:a="http://schemas.openxmlformats.org/drawingml/2006/main" noGrp="1"/>
          </p:cNvSpPr>
          <p:nvPr/>
        </p:nvSpPr>
        <p:spPr>
          <a:xfrm xmlns:a="http://schemas.openxmlformats.org/drawingml/2006/main">
            <a:off x="8458200" y="4733925"/>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Optimización de rutas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GPS y facturación</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Acceso de clientes externos</a:t>
            </a:r>
          </a:p>
        </p:txBody>
      </p:sp>
      <p:sp>
        <p:nvSpPr>
          <p:cNvPr id="15" name="Actores del sistema">
            <a:extLst xmlns:a="http://schemas.openxmlformats.org/drawingml/2006/main">
              <a:ext uri="{FF2B5EF4-FFF2-40B4-BE49-F238E27FC236}">
                <a16:creationId xmlns:a16="http://schemas.microsoft.com/office/drawing/2014/main" id="{E1A6915A-EB83-4FE1-BE2A-2F5218A4E70C}"/>
              </a:ext>
            </a:extLst>
          </p:cNvPr>
          <p:cNvSpPr>
            <a:spLocks xmlns:a="http://schemas.openxmlformats.org/drawingml/2006/main" noGrp="1"/>
          </p:cNvSpPr>
          <p:nvPr/>
        </p:nvSpPr>
        <p:spPr>
          <a:xfrm xmlns:a="http://schemas.openxmlformats.org/drawingml/2006/main">
            <a:off x="609600" y="44005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007F"/>
                </a:solidFill>
                <a:latin typeface="Arial"/>
                <a:ea typeface="Arial"/>
                <a:cs typeface="Arial"/>
              </a:defRPr>
            </a:pPr>
            <a:r>
              <a:rPr sz="1875" b="1">
                <a:solidFill>
                  <a:srgbClr val="C0007F"/>
                </a:solidFill>
                <a:latin typeface="Arial"/>
                <a:ea typeface="Arial"/>
                <a:cs typeface="Arial"/>
              </a:rPr>
              <a:t>Actores del sistema</a:t>
            </a:r>
          </a:p>
        </p:txBody>
      </p:sp>
      <p:sp>
        <p:nvSpPr>
          <p:cNvPr id="16" name="Operador: trabajo diario&#10;Administrador: cuentas y permisos">
            <a:extLst xmlns:a="http://schemas.openxmlformats.org/drawingml/2006/main">
              <a:ext uri="{FF2B5EF4-FFF2-40B4-BE49-F238E27FC236}">
                <a16:creationId xmlns:a16="http://schemas.microsoft.com/office/drawing/2014/main" id="{3F154863-87A6-4546-9419-50F00355DBFE}"/>
              </a:ext>
            </a:extLst>
          </p:cNvPr>
          <p:cNvSpPr>
            <a:spLocks xmlns:a="http://schemas.openxmlformats.org/drawingml/2006/main" noGrp="1"/>
          </p:cNvSpPr>
          <p:nvPr/>
        </p:nvSpPr>
        <p:spPr>
          <a:xfrm xmlns:a="http://schemas.openxmlformats.org/drawingml/2006/main">
            <a:off x="609600" y="4857750"/>
            <a:ext cx="666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Operador: trabajo diario</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Administrador: cuentas y permisos</a:t>
            </a:r>
          </a:p>
        </p:txBody>
      </p:sp>
      <p:sp>
        <p:nvSpPr>
          <p:cNvPr id="17" name="Conductores y clientes son datos del dominio. Memoria, pp. 1">
            <a:extLst xmlns:a="http://schemas.openxmlformats.org/drawingml/2006/main">
              <a:ext uri="{FF2B5EF4-FFF2-40B4-BE49-F238E27FC236}">
                <a16:creationId xmlns:a16="http://schemas.microsoft.com/office/drawing/2014/main" id="{EBAD1CC8-F545-40A3-B4F9-1DDAEFA6E08D}"/>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Conductores y clientes son datos del dominio. Memoria, pp. 15–21.</a:t>
            </a:r>
          </a:p>
        </p:txBody>
      </p:sp>
    </p:spTree>
    <p:extLst>
      <p:ext uri="{BB962C8B-B14F-4D97-AF65-F5344CB8AC3E}">
        <p14:creationId xmlns:p14="http://schemas.microsoft.com/office/powerpoint/2010/main" val="3845081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02 · REQUISITOS Y ALCANCE">
            <a:extLst xmlns:a="http://schemas.openxmlformats.org/drawingml/2006/main">
              <a:ext uri="{FF2B5EF4-FFF2-40B4-BE49-F238E27FC236}">
                <a16:creationId xmlns:a16="http://schemas.microsoft.com/office/drawing/2014/main" id="{9B3CB299-6418-4C28-90A8-0EDC3F9B1ED2}"/>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Casos de uso definidos en la memoria">
            <a:extLst xmlns:a="http://schemas.openxmlformats.org/drawingml/2006/main">
              <a:ext uri="{FF2B5EF4-FFF2-40B4-BE49-F238E27FC236}">
                <a16:creationId xmlns:a16="http://schemas.microsoft.com/office/drawing/2014/main" id="{24EE051A-9631-429E-901F-CEC17E842564}"/>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Casos de uso definidos en la memoria</a:t>
            </a:r>
          </a:p>
        </p:txBody>
      </p:sp>
      <p:sp>
        <p:nvSpPr>
          <p:cNvPr id="3" name="">
            <a:extLst xmlns:a="http://schemas.openxmlformats.org/drawingml/2006/main">
              <a:ext uri="{FF2B5EF4-FFF2-40B4-BE49-F238E27FC236}">
                <a16:creationId xmlns:a16="http://schemas.microsoft.com/office/drawing/2014/main" id="{8D9E6945-C7D3-494F-9F00-9B76684F4E1B}"/>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6">
            <a:extLst xmlns:a="http://schemas.openxmlformats.org/drawingml/2006/main">
              <a:ext uri="{FF2B5EF4-FFF2-40B4-BE49-F238E27FC236}">
                <a16:creationId xmlns:a16="http://schemas.microsoft.com/office/drawing/2014/main" id="{3EB0B8B8-13DB-42F8-A7B3-FA985F3793D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06</a:t>
            </a:r>
          </a:p>
        </p:txBody>
      </p:sp>
      <p:graphicFrame>
        <p:nvGraphicFramePr>
          <p:cNvPr id="11" name=""/>
          <p:cNvGraphicFramePr/>
          <p:nvPr/>
        </p:nvGraphicFramePr>
        <p:xfrm>
          <a:off xmlns:a="http://schemas.openxmlformats.org/drawingml/2006/main" x="609600" y="1619250"/>
          <a:ext xmlns:a="http://schemas.openxmlformats.org/drawingml/2006/main" cx="10972800" cy="4248150"/>
        </p:xfrm>
        <a:graphic xmlns:a="http://schemas.openxmlformats.org/drawingml/2006/main">
          <a:graphicData uri="http://schemas.openxmlformats.org/drawingml/2006/table">
            <a:tbl>
              <a:tblPr firstRow="0" bandRow="0"/>
              <a:tblGrid>
                <a:gridCol w="3571875"/>
                <a:gridCol w="3333750"/>
                <a:gridCol w="4067175"/>
              </a:tblGrid>
              <a:tr h="849630">
                <a:tc>
                  <a:txBody>
                    <a:bodyPr>
                      <a:noAutofit/>
                    </a:bodyPr>
                    <a:lstStyle/>
                    <a:p>
                      <a:r>
                        <a:rPr sz="1425" b="1">
                          <a:solidFill>
                            <a:srgbClr val="FFFFFF"/>
                          </a:solidFill>
                          <a:latin typeface="Arial"/>
                          <a:ea typeface="Arial"/>
                          <a:cs typeface="Arial"/>
                        </a:rPr>
                        <a:t>Caso de uso</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Actor y responsabilidad</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Resultado observable</a:t>
                      </a:r>
                    </a:p>
                  </a:txBody>
                  <a:tcPr marL="142875" marR="142875" marT="95250" marB="85725" anchor="ctr">
                    <a:solidFill>
                      <a:srgbClr val="14263D"/>
                    </a:solidFill>
                  </a:tcPr>
                </a:tc>
              </a:tr>
              <a:tr h="849630">
                <a:tc>
                  <a:txBody>
                    <a:bodyPr>
                      <a:noAutofit/>
                    </a:bodyPr>
                    <a:lstStyle/>
                    <a:p>
                      <a:r>
                        <a:rPr sz="1425" b="0">
                          <a:solidFill>
                            <a:srgbClr val="14263D"/>
                          </a:solidFill>
                          <a:latin typeface="Arial"/>
                          <a:ea typeface="Arial"/>
                          <a:cs typeface="Arial"/>
                        </a:rPr>
                        <a:t>CU-1 · Poner en marcha una instalación vacía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Instalador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Primer administrador creado; arranque bloqueado</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CU-2 · Incorporar a una persona al sistema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 crea la cuenta</a:t>
                      </a:r>
                    </a:p>
                    <a:p>
                      <a:r>
                        <a:rPr sz="1425" b="0">
                          <a:solidFill>
                            <a:srgbClr val="14263D"/>
                          </a:solidFill>
                          <a:latin typeface="Arial"/>
                          <a:ea typeface="Arial"/>
                          <a:cs typeface="Arial"/>
                        </a:rPr>
                        <a:t>Operador: realiza el primer acceso</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activa con contraseña propia</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CU-3 · Ejecutar un envío de principio a fin</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Operador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Envío terminal con cronología verificable</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CU-4 · Retirar el acceso sin perder historial</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desactivada; historial conservado</a:t>
                      </a:r>
                    </a:p>
                  </a:txBody>
                  <a:tcPr marL="142875" marR="142875" marT="95250" marB="85725" anchor="ctr">
                    <a:solidFill>
                      <a:srgbClr val="FFFFFF"/>
                    </a:solidFill>
                  </a:tcPr>
                </a:tc>
              </a:tr>
            </a:tbl>
          </a:graphicData>
        </a:graphic>
      </p:graphicFrame>
      <p:sp>
        <p:nvSpPr>
          <p:cNvPr id="6" name="Operador y administrador son roles separados; en CU-2 interv">
            <a:extLst xmlns:a="http://schemas.openxmlformats.org/drawingml/2006/main">
              <a:ext uri="{FF2B5EF4-FFF2-40B4-BE49-F238E27FC236}">
                <a16:creationId xmlns:a16="http://schemas.microsoft.com/office/drawing/2014/main" id="{30ABBB2C-F29E-4422-9FFF-D0BD692901B2}"/>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Operador y administrador son roles separados; en CU-2 intervienen en momentos distintos. Memoria, pp. 17–21.</a:t>
            </a:r>
          </a:p>
        </p:txBody>
      </p:sp>
    </p:spTree>
    <p:extLst>
      <p:ext uri="{BB962C8B-B14F-4D97-AF65-F5344CB8AC3E}">
        <p14:creationId xmlns:p14="http://schemas.microsoft.com/office/powerpoint/2010/main" val="64375859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03 · METODOLOGÍA">
            <a:extLst xmlns:a="http://schemas.openxmlformats.org/drawingml/2006/main">
              <a:ext uri="{FF2B5EF4-FFF2-40B4-BE49-F238E27FC236}">
                <a16:creationId xmlns:a16="http://schemas.microsoft.com/office/drawing/2014/main" id="{DAB62379-DE84-46F6-84D9-2304ACDED592}"/>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03 · METODOLOGÍA</a:t>
            </a:r>
          </a:p>
        </p:txBody>
      </p:sp>
      <p:sp>
        <p:nvSpPr>
          <p:cNvPr id="2" name="Metodología incremental">
            <a:extLst xmlns:a="http://schemas.openxmlformats.org/drawingml/2006/main">
              <a:ext uri="{FF2B5EF4-FFF2-40B4-BE49-F238E27FC236}">
                <a16:creationId xmlns:a16="http://schemas.microsoft.com/office/drawing/2014/main" id="{FBF6CF40-9C31-4463-BE8F-D4A212A47AF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Metodología incremental</a:t>
            </a:r>
          </a:p>
        </p:txBody>
      </p:sp>
      <p:sp>
        <p:nvSpPr>
          <p:cNvPr id="3" name="">
            <a:extLst xmlns:a="http://schemas.openxmlformats.org/drawingml/2006/main">
              <a:ext uri="{FF2B5EF4-FFF2-40B4-BE49-F238E27FC236}">
                <a16:creationId xmlns:a16="http://schemas.microsoft.com/office/drawing/2014/main" id="{94EA82F3-3118-4D0A-B5B6-5893B9432EDC}"/>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7">
            <a:extLst xmlns:a="http://schemas.openxmlformats.org/drawingml/2006/main">
              <a:ext uri="{FF2B5EF4-FFF2-40B4-BE49-F238E27FC236}">
                <a16:creationId xmlns:a16="http://schemas.microsoft.com/office/drawing/2014/main" id="{7723453C-983B-4672-8A13-B1AD18F27D6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07</a:t>
            </a:r>
          </a:p>
        </p:txBody>
      </p:sp>
      <p:graphicFrame>
        <p:nvGraphicFramePr>
          <p:cNvPr id="15" name=""/>
          <p:cNvGraphicFramePr/>
          <p:nvPr/>
        </p:nvGraphicFramePr>
        <p:xfrm>
          <a:off xmlns:a="http://schemas.openxmlformats.org/drawingml/2006/main" x="609600" y="1714500"/>
          <a:ext xmlns:a="http://schemas.openxmlformats.org/drawingml/2006/main" cx="7000875" cy="4010025"/>
        </p:xfrm>
        <a:graphic xmlns:a="http://schemas.openxmlformats.org/drawingml/2006/main">
          <a:graphicData uri="http://schemas.openxmlformats.org/drawingml/2006/table">
            <a:tbl>
              <a:tblPr firstRow="0" bandRow="0"/>
              <a:tblGrid>
                <a:gridCol w="1666875"/>
                <a:gridCol w="5334000"/>
              </a:tblGrid>
              <a:tr h="668338">
                <a:tc>
                  <a:txBody>
                    <a:bodyPr>
                      <a:noAutofit/>
                    </a:bodyPr>
                    <a:lstStyle/>
                    <a:p>
                      <a:r>
                        <a:rPr sz="1800"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Resultado integrado</a:t>
                      </a:r>
                    </a:p>
                  </a:txBody>
                  <a:tcPr marL="142875" marR="142875" marT="95250" marB="85725" anchor="ctr">
                    <a:solidFill>
                      <a:srgbClr val="14263D"/>
                    </a:solidFill>
                  </a:tcPr>
                </a:tc>
              </a:tr>
              <a:tr h="668338">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Esqueleto autenticado</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S2–S3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Catálogos, envíos y filtros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S4–S5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Asignación, estados e historial</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Usuarios e indicadores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Endurecimiento, sistema y despliegue</a:t>
                      </a:r>
                    </a:p>
                  </a:txBody>
                  <a:tcPr marL="142875" marR="142875" marT="95250" marB="85725" anchor="ctr">
                    <a:solidFill>
                      <a:srgbClr val="FFFFFF"/>
                    </a:solidFill>
                  </a:tcPr>
                </a:tc>
              </a:tr>
            </a:tbl>
          </a:graphicData>
        </a:graphic>
      </p:graphicFrame>
      <p:sp>
        <p:nvSpPr>
          <p:cNvPr id="6" name="Definición de hecho">
            <a:extLst xmlns:a="http://schemas.openxmlformats.org/drawingml/2006/main">
              <a:ext uri="{FF2B5EF4-FFF2-40B4-BE49-F238E27FC236}">
                <a16:creationId xmlns:a16="http://schemas.microsoft.com/office/drawing/2014/main" id="{00B30459-F3A7-438A-8A01-1E56BC8080FB}"/>
              </a:ext>
            </a:extLst>
          </p:cNvPr>
          <p:cNvSpPr>
            <a:spLocks xmlns:a="http://schemas.openxmlformats.org/drawingml/2006/main" noGrp="1"/>
          </p:cNvSpPr>
          <p:nvPr/>
        </p:nvSpPr>
        <p:spPr>
          <a:xfrm xmlns:a="http://schemas.openxmlformats.org/drawingml/2006/main">
            <a:off x="8153400" y="17430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Definición de hecho</a:t>
            </a:r>
          </a:p>
        </p:txBody>
      </p:sp>
      <p:sp>
        <p:nvSpPr>
          <p:cNvPr id="7" name="Flujo utilizable&#10;Pruebas y compilación&#10;Evidencia documentada">
            <a:extLst xmlns:a="http://schemas.openxmlformats.org/drawingml/2006/main">
              <a:ext uri="{FF2B5EF4-FFF2-40B4-BE49-F238E27FC236}">
                <a16:creationId xmlns:a16="http://schemas.microsoft.com/office/drawing/2014/main" id="{572FD5CF-1179-4642-856B-6B51A076F89B}"/>
              </a:ext>
            </a:extLst>
          </p:cNvPr>
          <p:cNvSpPr>
            <a:spLocks xmlns:a="http://schemas.openxmlformats.org/drawingml/2006/main" noGrp="1"/>
          </p:cNvSpPr>
          <p:nvPr/>
        </p:nvSpPr>
        <p:spPr>
          <a:xfrm xmlns:a="http://schemas.openxmlformats.org/drawingml/2006/main">
            <a:off x="8153400" y="2209800"/>
            <a:ext cx="333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Flujo utilizable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Pruebas y compilación</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Evidencia documentada</a:t>
            </a:r>
          </a:p>
        </p:txBody>
      </p:sp>
      <p:sp>
        <p:nvSpPr>
          <p:cNvPr id="8" name="Decisión de diseño">
            <a:extLst xmlns:a="http://schemas.openxmlformats.org/drawingml/2006/main">
              <a:ext uri="{FF2B5EF4-FFF2-40B4-BE49-F238E27FC236}">
                <a16:creationId xmlns:a16="http://schemas.microsoft.com/office/drawing/2014/main" id="{F0E4F33C-1E11-4A0B-B9B6-3307F6BED677}"/>
              </a:ext>
            </a:extLst>
          </p:cNvPr>
          <p:cNvSpPr>
            <a:spLocks xmlns:a="http://schemas.openxmlformats.org/drawingml/2006/main" noGrp="1"/>
          </p:cNvSpPr>
          <p:nvPr/>
        </p:nvSpPr>
        <p:spPr>
          <a:xfrm xmlns:a="http://schemas.openxmlformats.org/drawingml/2006/main">
            <a:off x="8153400" y="421005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156A5"/>
                </a:solidFill>
                <a:latin typeface="Arial"/>
                <a:ea typeface="Arial"/>
                <a:cs typeface="Arial"/>
              </a:defRPr>
            </a:pPr>
            <a:r>
              <a:rPr sz="1650" b="1">
                <a:solidFill>
                  <a:srgbClr val="2156A5"/>
                </a:solidFill>
                <a:latin typeface="Arial"/>
                <a:ea typeface="Arial"/>
                <a:cs typeface="Arial"/>
              </a:rPr>
              <a:t>Decisión de diseño</a:t>
            </a:r>
          </a:p>
        </p:txBody>
      </p:sp>
      <p:sp>
        <p:nvSpPr>
          <p:cNvPr id="9" name="Modelo conceptual completo&#10;y esquema físico incremental">
            <a:extLst xmlns:a="http://schemas.openxmlformats.org/drawingml/2006/main">
              <a:ext uri="{FF2B5EF4-FFF2-40B4-BE49-F238E27FC236}">
                <a16:creationId xmlns:a16="http://schemas.microsoft.com/office/drawing/2014/main" id="{7C6169ED-7D60-46E0-8559-3B04685D020A}"/>
              </a:ext>
            </a:extLst>
          </p:cNvPr>
          <p:cNvSpPr>
            <a:spLocks xmlns:a="http://schemas.openxmlformats.org/drawingml/2006/main" noGrp="1"/>
          </p:cNvSpPr>
          <p:nvPr/>
        </p:nvSpPr>
        <p:spPr>
          <a:xfrm xmlns:a="http://schemas.openxmlformats.org/drawingml/2006/main">
            <a:off x="8153400" y="46863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Modelo conceptual completo</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y esquema físico incremental</a:t>
            </a:r>
          </a:p>
        </p:txBody>
      </p:sp>
      <p:sp>
        <p:nvSpPr>
          <p:cNvPr id="10" name="Rebanadas verticales adaptadas a un proyecto individual. Mem">
            <a:extLst xmlns:a="http://schemas.openxmlformats.org/drawingml/2006/main">
              <a:ext uri="{FF2B5EF4-FFF2-40B4-BE49-F238E27FC236}">
                <a16:creationId xmlns:a16="http://schemas.microsoft.com/office/drawing/2014/main" id="{6ACA9719-190B-4EC3-9A25-4B054F10125B}"/>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Rebanadas verticales adaptadas a un proyecto individual. Memoria, pp. 9–14.</a:t>
            </a:r>
          </a:p>
        </p:txBody>
      </p:sp>
    </p:spTree>
    <p:extLst>
      <p:ext uri="{BB962C8B-B14F-4D97-AF65-F5344CB8AC3E}">
        <p14:creationId xmlns:p14="http://schemas.microsoft.com/office/powerpoint/2010/main" val="10871249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04 · DISEÑO Y ARQUITECTURA">
            <a:extLst xmlns:a="http://schemas.openxmlformats.org/drawingml/2006/main">
              <a:ext uri="{FF2B5EF4-FFF2-40B4-BE49-F238E27FC236}">
                <a16:creationId xmlns:a16="http://schemas.microsoft.com/office/drawing/2014/main" id="{12A498FF-9F93-4C0A-8DB7-4169E3715D20}"/>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Arquitectura del sistema">
            <a:extLst xmlns:a="http://schemas.openxmlformats.org/drawingml/2006/main">
              <a:ext uri="{FF2B5EF4-FFF2-40B4-BE49-F238E27FC236}">
                <a16:creationId xmlns:a16="http://schemas.microsoft.com/office/drawing/2014/main" id="{F9C5E9D0-920F-44DA-BBD0-8200BDB71CB1}"/>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Arquitectura del sistema</a:t>
            </a:r>
          </a:p>
        </p:txBody>
      </p:sp>
      <p:sp>
        <p:nvSpPr>
          <p:cNvPr id="3" name="">
            <a:extLst xmlns:a="http://schemas.openxmlformats.org/drawingml/2006/main">
              <a:ext uri="{FF2B5EF4-FFF2-40B4-BE49-F238E27FC236}">
                <a16:creationId xmlns:a16="http://schemas.microsoft.com/office/drawing/2014/main" id="{2C117478-11FB-4198-94C6-0CDA35BF176C}"/>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8">
            <a:extLst xmlns:a="http://schemas.openxmlformats.org/drawingml/2006/main">
              <a:ext uri="{FF2B5EF4-FFF2-40B4-BE49-F238E27FC236}">
                <a16:creationId xmlns:a16="http://schemas.microsoft.com/office/drawing/2014/main" id="{4626EED2-FA33-4A56-990A-8AA0F393516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08</a:t>
            </a:r>
          </a:p>
        </p:txBody>
      </p:sp>
      <p:sp>
        <p:nvSpPr>
          <p:cNvPr id="5" name="React + TypeScript     ASP.NET Core / .NET 10     PostgreSQL">
            <a:extLst xmlns:a="http://schemas.openxmlformats.org/drawingml/2006/main">
              <a:ext uri="{FF2B5EF4-FFF2-40B4-BE49-F238E27FC236}">
                <a16:creationId xmlns:a16="http://schemas.microsoft.com/office/drawing/2014/main" id="{50B69741-852F-4220-B70B-F62AE8E600BD}"/>
              </a:ext>
            </a:extLst>
          </p:cNvPr>
          <p:cNvSpPr>
            <a:spLocks xmlns:a="http://schemas.openxmlformats.org/drawingml/2006/main" noGrp="1"/>
          </p:cNvSpPr>
          <p:nvPr/>
        </p:nvSpPr>
        <p:spPr>
          <a:xfrm xmlns:a="http://schemas.openxmlformats.org/drawingml/2006/main">
            <a:off x="609600" y="15335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React + TypeScript     ASP.NET Core / .NET 10     PostgreSQL + EF Core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40ee20466bd4152"/>
          <a:stretch xmlns:a="http://schemas.openxmlformats.org/drawingml/2006/main"/>
        </p:blipFill>
        <p:spPr>
          <a:xfrm xmlns:a="http://schemas.openxmlformats.org/drawingml/2006/main">
            <a:off x="1873832" y="2076450"/>
            <a:ext cx="8444336" cy="3476625"/>
          </a:xfrm>
          <a:prstGeom xmlns:a="http://schemas.openxmlformats.org/drawingml/2006/main" prst="rect">
            <a:avLst/>
          </a:prstGeom>
        </p:spPr>
      </p:pic>
      <p:sp>
        <p:nvSpPr>
          <p:cNvPr id="7" name="La API concentra autorización, validación y reglas de negoci">
            <a:extLst xmlns:a="http://schemas.openxmlformats.org/drawingml/2006/main">
              <a:ext uri="{FF2B5EF4-FFF2-40B4-BE49-F238E27FC236}">
                <a16:creationId xmlns:a16="http://schemas.microsoft.com/office/drawing/2014/main" id="{0F22B3BE-D196-47FB-81E9-C9D95163EFCE}"/>
              </a:ext>
            </a:extLst>
          </p:cNvPr>
          <p:cNvSpPr>
            <a:spLocks xmlns:a="http://schemas.openxmlformats.org/drawingml/2006/main" noGrp="1"/>
          </p:cNvSpPr>
          <p:nvPr/>
        </p:nvSpPr>
        <p:spPr>
          <a:xfrm xmlns:a="http://schemas.openxmlformats.org/drawingml/2006/main">
            <a:off x="609600" y="57150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14263D"/>
                </a:solidFill>
                <a:latin typeface="Arial"/>
                <a:ea typeface="Arial"/>
                <a:cs typeface="Arial"/>
              </a:defRPr>
            </a:pPr>
            <a:r>
              <a:rPr sz="2100" b="1">
                <a:solidFill>
                  <a:srgbClr val="14263D"/>
                </a:solidFill>
                <a:latin typeface="Arial"/>
                <a:ea typeface="Arial"/>
                <a:cs typeface="Arial"/>
              </a:rPr>
              <a:t>La API concentra autorización, validación y reglas de negocio</a:t>
            </a:r>
          </a:p>
        </p:txBody>
      </p:sp>
      <p:sp>
        <p:nvSpPr>
          <p:cNvPr id="8" name="Figura 5.1 de la memoria, p. 22. Nginx mantiene un único ori">
            <a:extLst xmlns:a="http://schemas.openxmlformats.org/drawingml/2006/main">
              <a:ext uri="{FF2B5EF4-FFF2-40B4-BE49-F238E27FC236}">
                <a16:creationId xmlns:a16="http://schemas.microsoft.com/office/drawing/2014/main" id="{062455D3-A604-42CF-B261-228180AEF8D4}"/>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5.1 de la memoria, p. 22. Nginx mantiene un único origen para la SPA y /api.</a:t>
            </a:r>
          </a:p>
        </p:txBody>
      </p:sp>
    </p:spTree>
    <p:extLst>
      <p:ext uri="{BB962C8B-B14F-4D97-AF65-F5344CB8AC3E}">
        <p14:creationId xmlns:p14="http://schemas.microsoft.com/office/powerpoint/2010/main" val="8385453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4 · DISEÑO Y ARQUITECTURA">
            <a:extLst xmlns:a="http://schemas.openxmlformats.org/drawingml/2006/main">
              <a:ext uri="{FF2B5EF4-FFF2-40B4-BE49-F238E27FC236}">
                <a16:creationId xmlns:a16="http://schemas.microsoft.com/office/drawing/2014/main" id="{AC9DAFBC-6C20-4CFC-8B67-476310552582}"/>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Modelo y reglas del dominio">
            <a:extLst xmlns:a="http://schemas.openxmlformats.org/drawingml/2006/main">
              <a:ext uri="{FF2B5EF4-FFF2-40B4-BE49-F238E27FC236}">
                <a16:creationId xmlns:a16="http://schemas.microsoft.com/office/drawing/2014/main" id="{C923E408-6B1A-41CE-ABC6-C2B305861CB1}"/>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Modelo y reglas del dominio</a:t>
            </a:r>
          </a:p>
        </p:txBody>
      </p:sp>
      <p:sp>
        <p:nvSpPr>
          <p:cNvPr id="3" name="">
            <a:extLst xmlns:a="http://schemas.openxmlformats.org/drawingml/2006/main">
              <a:ext uri="{FF2B5EF4-FFF2-40B4-BE49-F238E27FC236}">
                <a16:creationId xmlns:a16="http://schemas.microsoft.com/office/drawing/2014/main" id="{3734960C-7468-4742-9E9C-381DEDE25FB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9">
            <a:extLst xmlns:a="http://schemas.openxmlformats.org/drawingml/2006/main">
              <a:ext uri="{FF2B5EF4-FFF2-40B4-BE49-F238E27FC236}">
                <a16:creationId xmlns:a16="http://schemas.microsoft.com/office/drawing/2014/main" id="{104EF4EC-CAE8-46D6-A62D-A2AF71A4B72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09</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320e93ffe46d4ea2"/>
          <a:stretch xmlns:a="http://schemas.openxmlformats.org/drawingml/2006/main"/>
        </p:blipFill>
        <p:spPr>
          <a:xfrm xmlns:a="http://schemas.openxmlformats.org/drawingml/2006/main">
            <a:off x="609600" y="2155359"/>
            <a:ext cx="7239000" cy="2337732"/>
          </a:xfrm>
          <a:prstGeom xmlns:a="http://schemas.openxmlformats.org/drawingml/2006/main" prst="rect">
            <a:avLst/>
          </a:prstGeom>
        </p:spPr>
      </p:pic>
      <p:sp>
        <p:nvSpPr>
          <p:cNvPr id="6" name="Envío como núcleo">
            <a:extLst xmlns:a="http://schemas.openxmlformats.org/drawingml/2006/main">
              <a:ext uri="{FF2B5EF4-FFF2-40B4-BE49-F238E27FC236}">
                <a16:creationId xmlns:a16="http://schemas.microsoft.com/office/drawing/2014/main" id="{57E02CF2-FDD1-48D3-81EF-AA1D791555B3}"/>
              </a:ext>
            </a:extLst>
          </p:cNvPr>
          <p:cNvSpPr>
            <a:spLocks xmlns:a="http://schemas.openxmlformats.org/drawingml/2006/main" noGrp="1"/>
          </p:cNvSpPr>
          <p:nvPr/>
        </p:nvSpPr>
        <p:spPr>
          <a:xfrm xmlns:a="http://schemas.openxmlformats.org/drawingml/2006/main">
            <a:off x="8267700" y="17240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Envío como núcleo</a:t>
            </a:r>
          </a:p>
        </p:txBody>
      </p:sp>
      <p:sp>
        <p:nvSpPr>
          <p:cNvPr id="7" name="Cliente opcional y pareja de vehículo y conductor.">
            <a:extLst xmlns:a="http://schemas.openxmlformats.org/drawingml/2006/main">
              <a:ext uri="{FF2B5EF4-FFF2-40B4-BE49-F238E27FC236}">
                <a16:creationId xmlns:a16="http://schemas.microsoft.com/office/drawing/2014/main" id="{8BE47271-C62C-45C3-829C-FB6E5123357C}"/>
              </a:ext>
            </a:extLst>
          </p:cNvPr>
          <p:cNvSpPr>
            <a:spLocks xmlns:a="http://schemas.openxmlformats.org/drawingml/2006/main" noGrp="1"/>
          </p:cNvSpPr>
          <p:nvPr/>
        </p:nvSpPr>
        <p:spPr>
          <a:xfrm xmlns:a="http://schemas.openxmlformats.org/drawingml/2006/main">
            <a:off x="8267700" y="217170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Cliente opcional y pareja de vehículo y conductor.</a:t>
            </a:r>
          </a:p>
        </p:txBody>
      </p:sp>
      <p:sp>
        <p:nvSpPr>
          <p:cNvPr id="8" name="Historia preservada">
            <a:extLst xmlns:a="http://schemas.openxmlformats.org/drawingml/2006/main">
              <a:ext uri="{FF2B5EF4-FFF2-40B4-BE49-F238E27FC236}">
                <a16:creationId xmlns:a16="http://schemas.microsoft.com/office/drawing/2014/main" id="{FCBCF7FE-D9C5-4C13-82BA-AE86D61DE150}"/>
              </a:ext>
            </a:extLst>
          </p:cNvPr>
          <p:cNvSpPr>
            <a:spLocks xmlns:a="http://schemas.openxmlformats.org/drawingml/2006/main" noGrp="1"/>
          </p:cNvSpPr>
          <p:nvPr/>
        </p:nvSpPr>
        <p:spPr>
          <a:xfrm xmlns:a="http://schemas.openxmlformats.org/drawingml/2006/main">
            <a:off x="8267700" y="32861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preservada</a:t>
            </a:r>
          </a:p>
        </p:txBody>
      </p:sp>
      <p:sp>
        <p:nvSpPr>
          <p:cNvPr id="9" name="Baja lógica en catálogos y usuarios. Eventos sin edición ni ">
            <a:extLst xmlns:a="http://schemas.openxmlformats.org/drawingml/2006/main">
              <a:ext uri="{FF2B5EF4-FFF2-40B4-BE49-F238E27FC236}">
                <a16:creationId xmlns:a16="http://schemas.microsoft.com/office/drawing/2014/main" id="{0F6A317B-9C76-4759-AD8A-8B9CFF3B75A5}"/>
              </a:ext>
            </a:extLst>
          </p:cNvPr>
          <p:cNvSpPr>
            <a:spLocks xmlns:a="http://schemas.openxmlformats.org/drawingml/2006/main" noGrp="1"/>
          </p:cNvSpPr>
          <p:nvPr/>
        </p:nvSpPr>
        <p:spPr>
          <a:xfrm xmlns:a="http://schemas.openxmlformats.org/drawingml/2006/main">
            <a:off x="8267700" y="3733800"/>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Baja lógica en catálogos y usuarios. Eventos sin edición ni borrado.</a:t>
            </a:r>
          </a:p>
        </p:txBody>
      </p:sp>
      <p:sp>
        <p:nvSpPr>
          <p:cNvPr id="10" name="Las invariantes críticas también se refuerzan en PostgreSQL">
            <a:extLst xmlns:a="http://schemas.openxmlformats.org/drawingml/2006/main">
              <a:ext uri="{FF2B5EF4-FFF2-40B4-BE49-F238E27FC236}">
                <a16:creationId xmlns:a16="http://schemas.microsoft.com/office/drawing/2014/main" id="{E27D9A61-B511-46D0-ABDA-45A8E24A9D04}"/>
              </a:ext>
            </a:extLst>
          </p:cNvPr>
          <p:cNvSpPr>
            <a:spLocks xmlns:a="http://schemas.openxmlformats.org/drawingml/2006/main" noGrp="1"/>
          </p:cNvSpPr>
          <p:nvPr/>
        </p:nvSpPr>
        <p:spPr>
          <a:xfrm xmlns:a="http://schemas.openxmlformats.org/drawingml/2006/main">
            <a:off x="609600" y="53435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2156A5"/>
                </a:solidFill>
                <a:latin typeface="Arial"/>
                <a:ea typeface="Arial"/>
                <a:cs typeface="Arial"/>
              </a:defRPr>
            </a:pPr>
            <a:r>
              <a:rPr sz="2175" b="1">
                <a:solidFill>
                  <a:srgbClr val="2156A5"/>
                </a:solidFill>
                <a:latin typeface="Arial"/>
                <a:ea typeface="Arial"/>
                <a:cs typeface="Arial"/>
              </a:rPr>
              <a:t>Las invariantes críticas también se refuerzan en PostgreSQL</a:t>
            </a:r>
          </a:p>
        </p:txBody>
      </p:sp>
      <p:sp>
        <p:nvSpPr>
          <p:cNvPr id="11" name="Figura 5.2, p. 23. Esquema resumido, sin todos los campos e ">
            <a:extLst xmlns:a="http://schemas.openxmlformats.org/drawingml/2006/main">
              <a:ext uri="{FF2B5EF4-FFF2-40B4-BE49-F238E27FC236}">
                <a16:creationId xmlns:a16="http://schemas.microsoft.com/office/drawing/2014/main" id="{5391B084-A241-4AA3-990B-6F06C917252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5.2, p. 23. Esquema resumido, sin todos los campos e índices finales.</a:t>
            </a:r>
          </a:p>
        </p:txBody>
      </p:sp>
    </p:spTree>
    <p:extLst>
      <p:ext uri="{BB962C8B-B14F-4D97-AF65-F5344CB8AC3E}">
        <p14:creationId xmlns:p14="http://schemas.microsoft.com/office/powerpoint/2010/main" val="17640870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05 · DEMOSTRACIÓN FUNCIONAL">
            <a:extLst xmlns:a="http://schemas.openxmlformats.org/drawingml/2006/main">
              <a:ext uri="{FF2B5EF4-FFF2-40B4-BE49-F238E27FC236}">
                <a16:creationId xmlns:a16="http://schemas.microsoft.com/office/drawing/2014/main" id="{7A05D63B-6590-4917-9033-B00D4FEDE074}"/>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Flujo operativo completo">
            <a:extLst xmlns:a="http://schemas.openxmlformats.org/drawingml/2006/main">
              <a:ext uri="{FF2B5EF4-FFF2-40B4-BE49-F238E27FC236}">
                <a16:creationId xmlns:a16="http://schemas.microsoft.com/office/drawing/2014/main" id="{D65151D0-D326-4E8D-8361-EFFDB612D370}"/>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Flujo operativo completo</a:t>
            </a:r>
          </a:p>
        </p:txBody>
      </p:sp>
      <p:sp>
        <p:nvSpPr>
          <p:cNvPr id="3" name="">
            <a:extLst xmlns:a="http://schemas.openxmlformats.org/drawingml/2006/main">
              <a:ext uri="{FF2B5EF4-FFF2-40B4-BE49-F238E27FC236}">
                <a16:creationId xmlns:a16="http://schemas.microsoft.com/office/drawing/2014/main" id="{3961A3E7-B5E4-4FC3-9552-0D73B2FA1981}"/>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0">
            <a:extLst xmlns:a="http://schemas.openxmlformats.org/drawingml/2006/main">
              <a:ext uri="{FF2B5EF4-FFF2-40B4-BE49-F238E27FC236}">
                <a16:creationId xmlns:a16="http://schemas.microsoft.com/office/drawing/2014/main" id="{14F363CC-267E-4687-86E6-B4D6F41DC5E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46b1d36b8784fe0"/>
          <a:stretch xmlns:a="http://schemas.openxmlformats.org/drawingml/2006/main"/>
        </p:blipFill>
        <p:spPr>
          <a:xfrm xmlns:a="http://schemas.openxmlformats.org/drawingml/2006/main">
            <a:off x="1906233" y="1628775"/>
            <a:ext cx="8379535" cy="2943225"/>
          </a:xfrm>
          <a:prstGeom xmlns:a="http://schemas.openxmlformats.org/drawingml/2006/main" prst="rect">
            <a:avLst/>
          </a:prstGeom>
        </p:spPr>
      </p:pic>
      <p:sp>
        <p:nvSpPr>
          <p:cNvPr id="6" name="1">
            <a:extLst xmlns:a="http://schemas.openxmlformats.org/drawingml/2006/main">
              <a:ext uri="{FF2B5EF4-FFF2-40B4-BE49-F238E27FC236}">
                <a16:creationId xmlns:a16="http://schemas.microsoft.com/office/drawing/2014/main" id="{1379CB6A-09A1-48E5-9DFF-527ABF49703B}"/>
              </a:ext>
            </a:extLst>
          </p:cNvPr>
          <p:cNvSpPr>
            <a:spLocks xmlns:a="http://schemas.openxmlformats.org/drawingml/2006/main" noGrp="1"/>
          </p:cNvSpPr>
          <p:nvPr/>
        </p:nvSpPr>
        <p:spPr>
          <a:xfrm xmlns:a="http://schemas.openxmlformats.org/drawingml/2006/main">
            <a:off x="6096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1</a:t>
            </a:r>
          </a:p>
        </p:txBody>
      </p:sp>
      <p:sp>
        <p:nvSpPr>
          <p:cNvPr id="7" name="Preparar catálogos">
            <a:extLst xmlns:a="http://schemas.openxmlformats.org/drawingml/2006/main">
              <a:ext uri="{FF2B5EF4-FFF2-40B4-BE49-F238E27FC236}">
                <a16:creationId xmlns:a16="http://schemas.microsoft.com/office/drawing/2014/main" id="{416FD4BF-EEA1-4840-B165-12F6B3ED416A}"/>
              </a:ext>
            </a:extLst>
          </p:cNvPr>
          <p:cNvSpPr>
            <a:spLocks xmlns:a="http://schemas.openxmlformats.org/drawingml/2006/main" noGrp="1"/>
          </p:cNvSpPr>
          <p:nvPr/>
        </p:nvSpPr>
        <p:spPr>
          <a:xfrm xmlns:a="http://schemas.openxmlformats.org/drawingml/2006/main">
            <a:off x="10287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Preparar catálogos</a:t>
            </a:r>
          </a:p>
        </p:txBody>
      </p:sp>
      <p:sp>
        <p:nvSpPr>
          <p:cNvPr id="8" name="2">
            <a:extLst xmlns:a="http://schemas.openxmlformats.org/drawingml/2006/main">
              <a:ext uri="{FF2B5EF4-FFF2-40B4-BE49-F238E27FC236}">
                <a16:creationId xmlns:a16="http://schemas.microsoft.com/office/drawing/2014/main" id="{1285B9EB-BF1F-42F1-B77C-2E734EE174B3}"/>
              </a:ext>
            </a:extLst>
          </p:cNvPr>
          <p:cNvSpPr>
            <a:spLocks xmlns:a="http://schemas.openxmlformats.org/drawingml/2006/main" noGrp="1"/>
          </p:cNvSpPr>
          <p:nvPr/>
        </p:nvSpPr>
        <p:spPr>
          <a:xfrm xmlns:a="http://schemas.openxmlformats.org/drawingml/2006/main">
            <a:off x="280035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2</a:t>
            </a:r>
          </a:p>
        </p:txBody>
      </p:sp>
      <p:sp>
        <p:nvSpPr>
          <p:cNvPr id="9" name="Crear el envío">
            <a:extLst xmlns:a="http://schemas.openxmlformats.org/drawingml/2006/main">
              <a:ext uri="{FF2B5EF4-FFF2-40B4-BE49-F238E27FC236}">
                <a16:creationId xmlns:a16="http://schemas.microsoft.com/office/drawing/2014/main" id="{7A649365-93EC-47DF-BF0D-61245107ABAA}"/>
              </a:ext>
            </a:extLst>
          </p:cNvPr>
          <p:cNvSpPr>
            <a:spLocks xmlns:a="http://schemas.openxmlformats.org/drawingml/2006/main" noGrp="1"/>
          </p:cNvSpPr>
          <p:nvPr/>
        </p:nvSpPr>
        <p:spPr>
          <a:xfrm xmlns:a="http://schemas.openxmlformats.org/drawingml/2006/main">
            <a:off x="321945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Crear el envío</a:t>
            </a:r>
          </a:p>
        </p:txBody>
      </p:sp>
      <p:sp>
        <p:nvSpPr>
          <p:cNvPr id="10" name="3">
            <a:extLst xmlns:a="http://schemas.openxmlformats.org/drawingml/2006/main">
              <a:ext uri="{FF2B5EF4-FFF2-40B4-BE49-F238E27FC236}">
                <a16:creationId xmlns:a16="http://schemas.microsoft.com/office/drawing/2014/main" id="{981A0352-79AD-4676-BAFB-C9A3542D1379}"/>
              </a:ext>
            </a:extLst>
          </p:cNvPr>
          <p:cNvSpPr>
            <a:spLocks xmlns:a="http://schemas.openxmlformats.org/drawingml/2006/main" noGrp="1"/>
          </p:cNvSpPr>
          <p:nvPr/>
        </p:nvSpPr>
        <p:spPr>
          <a:xfrm xmlns:a="http://schemas.openxmlformats.org/drawingml/2006/main">
            <a:off x="49911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3</a:t>
            </a:r>
          </a:p>
        </p:txBody>
      </p:sp>
      <p:sp>
        <p:nvSpPr>
          <p:cNvPr id="11" name="Asignar recursos">
            <a:extLst xmlns:a="http://schemas.openxmlformats.org/drawingml/2006/main">
              <a:ext uri="{FF2B5EF4-FFF2-40B4-BE49-F238E27FC236}">
                <a16:creationId xmlns:a16="http://schemas.microsoft.com/office/drawing/2014/main" id="{ACF5C6B6-BA7A-4607-9063-C0C7C073DE3E}"/>
              </a:ext>
            </a:extLst>
          </p:cNvPr>
          <p:cNvSpPr>
            <a:spLocks xmlns:a="http://schemas.openxmlformats.org/drawingml/2006/main" noGrp="1"/>
          </p:cNvSpPr>
          <p:nvPr/>
        </p:nvSpPr>
        <p:spPr>
          <a:xfrm xmlns:a="http://schemas.openxmlformats.org/drawingml/2006/main">
            <a:off x="54102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Asignar recursos</a:t>
            </a:r>
          </a:p>
        </p:txBody>
      </p:sp>
      <p:sp>
        <p:nvSpPr>
          <p:cNvPr id="12" name="4">
            <a:extLst xmlns:a="http://schemas.openxmlformats.org/drawingml/2006/main">
              <a:ext uri="{FF2B5EF4-FFF2-40B4-BE49-F238E27FC236}">
                <a16:creationId xmlns:a16="http://schemas.microsoft.com/office/drawing/2014/main" id="{40F8DA8F-AFB8-4959-BA30-DA0C5F72B8FB}"/>
              </a:ext>
            </a:extLst>
          </p:cNvPr>
          <p:cNvSpPr>
            <a:spLocks xmlns:a="http://schemas.openxmlformats.org/drawingml/2006/main" noGrp="1"/>
          </p:cNvSpPr>
          <p:nvPr/>
        </p:nvSpPr>
        <p:spPr>
          <a:xfrm xmlns:a="http://schemas.openxmlformats.org/drawingml/2006/main">
            <a:off x="718185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4</a:t>
            </a:r>
          </a:p>
        </p:txBody>
      </p:sp>
      <p:sp>
        <p:nvSpPr>
          <p:cNvPr id="13" name="Registrar el trayecto">
            <a:extLst xmlns:a="http://schemas.openxmlformats.org/drawingml/2006/main">
              <a:ext uri="{FF2B5EF4-FFF2-40B4-BE49-F238E27FC236}">
                <a16:creationId xmlns:a16="http://schemas.microsoft.com/office/drawing/2014/main" id="{C8BFE0E3-4457-4E2A-AF04-5E6C9E5986F8}"/>
              </a:ext>
            </a:extLst>
          </p:cNvPr>
          <p:cNvSpPr>
            <a:spLocks xmlns:a="http://schemas.openxmlformats.org/drawingml/2006/main" noGrp="1"/>
          </p:cNvSpPr>
          <p:nvPr/>
        </p:nvSpPr>
        <p:spPr>
          <a:xfrm xmlns:a="http://schemas.openxmlformats.org/drawingml/2006/main">
            <a:off x="760095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Registrar el trayecto</a:t>
            </a:r>
          </a:p>
        </p:txBody>
      </p:sp>
      <p:sp>
        <p:nvSpPr>
          <p:cNvPr id="14" name="5">
            <a:extLst xmlns:a="http://schemas.openxmlformats.org/drawingml/2006/main">
              <a:ext uri="{FF2B5EF4-FFF2-40B4-BE49-F238E27FC236}">
                <a16:creationId xmlns:a16="http://schemas.microsoft.com/office/drawing/2014/main" id="{77D2CD24-D319-4906-80F7-E674B4D72B8A}"/>
              </a:ext>
            </a:extLst>
          </p:cNvPr>
          <p:cNvSpPr>
            <a:spLocks xmlns:a="http://schemas.openxmlformats.org/drawingml/2006/main" noGrp="1"/>
          </p:cNvSpPr>
          <p:nvPr/>
        </p:nvSpPr>
        <p:spPr>
          <a:xfrm xmlns:a="http://schemas.openxmlformats.org/drawingml/2006/main">
            <a:off x="9372600" y="5019675"/>
            <a:ext cx="400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C0007F"/>
                </a:solidFill>
                <a:latin typeface="Arial"/>
                <a:ea typeface="Arial"/>
                <a:cs typeface="Arial"/>
              </a:defRPr>
            </a:pPr>
            <a:r>
              <a:rPr sz="2025" b="1">
                <a:solidFill>
                  <a:srgbClr val="C0007F"/>
                </a:solidFill>
                <a:latin typeface="Arial"/>
                <a:ea typeface="Arial"/>
                <a:cs typeface="Arial"/>
              </a:rPr>
              <a:t>5</a:t>
            </a:r>
          </a:p>
        </p:txBody>
      </p:sp>
      <p:sp>
        <p:nvSpPr>
          <p:cNvPr id="15" name="Cerrar y resumir">
            <a:extLst xmlns:a="http://schemas.openxmlformats.org/drawingml/2006/main">
              <a:ext uri="{FF2B5EF4-FFF2-40B4-BE49-F238E27FC236}">
                <a16:creationId xmlns:a16="http://schemas.microsoft.com/office/drawing/2014/main" id="{6CB1F694-0E5D-44C8-B6BA-6EC3554A66EF}"/>
              </a:ext>
            </a:extLst>
          </p:cNvPr>
          <p:cNvSpPr>
            <a:spLocks xmlns:a="http://schemas.openxmlformats.org/drawingml/2006/main" noGrp="1"/>
          </p:cNvSpPr>
          <p:nvPr/>
        </p:nvSpPr>
        <p:spPr>
          <a:xfrm xmlns:a="http://schemas.openxmlformats.org/drawingml/2006/main">
            <a:off x="9791700" y="5019675"/>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14263D"/>
                </a:solidFill>
                <a:latin typeface="Arial"/>
                <a:ea typeface="Arial"/>
                <a:cs typeface="Arial"/>
              </a:defRPr>
            </a:pPr>
            <a:r>
              <a:rPr sz="1725" b="1">
                <a:solidFill>
                  <a:srgbClr val="14263D"/>
                </a:solidFill>
                <a:latin typeface="Arial"/>
                <a:ea typeface="Arial"/>
                <a:cs typeface="Arial"/>
              </a:rPr>
              <a:t>Cerrar y resumir</a:t>
            </a:r>
          </a:p>
        </p:txBody>
      </p:sp>
      <p:sp>
        <p:nvSpPr>
          <p:cNvPr id="16" name="El flujo reúne los casos de uso 2 y 3. Estado terminal tras ">
            <a:extLst xmlns:a="http://schemas.openxmlformats.org/drawingml/2006/main">
              <a:ext uri="{FF2B5EF4-FFF2-40B4-BE49-F238E27FC236}">
                <a16:creationId xmlns:a16="http://schemas.microsoft.com/office/drawing/2014/main" id="{6C79E4E7-6161-4917-BE93-1C7439AD8B7D}"/>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El flujo reúne los casos de uso 2 y 3. Estado terminal tras entrega o cancelación. Memoria, pp. 18–20 y 29–30.</a:t>
            </a:r>
          </a:p>
        </p:txBody>
      </p:sp>
    </p:spTree>
    <p:extLst>
      <p:ext uri="{BB962C8B-B14F-4D97-AF65-F5344CB8AC3E}">
        <p14:creationId xmlns:p14="http://schemas.microsoft.com/office/powerpoint/2010/main" val="7427320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5 · DEMOSTRACIÓN FUNCIONAL">
            <a:extLst xmlns:a="http://schemas.openxmlformats.org/drawingml/2006/main">
              <a:ext uri="{FF2B5EF4-FFF2-40B4-BE49-F238E27FC236}">
                <a16:creationId xmlns:a16="http://schemas.microsoft.com/office/drawing/2014/main" id="{483DFCDE-0FA7-4376-AE78-60F8F0210F9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Planificación y asignación">
            <a:extLst xmlns:a="http://schemas.openxmlformats.org/drawingml/2006/main">
              <a:ext uri="{FF2B5EF4-FFF2-40B4-BE49-F238E27FC236}">
                <a16:creationId xmlns:a16="http://schemas.microsoft.com/office/drawing/2014/main" id="{D4F41EDD-4DCD-49DD-A040-6007F57DBB4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Planificación y asignación</a:t>
            </a:r>
          </a:p>
        </p:txBody>
      </p:sp>
      <p:sp>
        <p:nvSpPr>
          <p:cNvPr id="3" name="">
            <a:extLst xmlns:a="http://schemas.openxmlformats.org/drawingml/2006/main">
              <a:ext uri="{FF2B5EF4-FFF2-40B4-BE49-F238E27FC236}">
                <a16:creationId xmlns:a16="http://schemas.microsoft.com/office/drawing/2014/main" id="{FF8E57AF-8FAD-463C-9175-D3778A501EC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1">
            <a:extLst xmlns:a="http://schemas.openxmlformats.org/drawingml/2006/main">
              <a:ext uri="{FF2B5EF4-FFF2-40B4-BE49-F238E27FC236}">
                <a16:creationId xmlns:a16="http://schemas.microsoft.com/office/drawing/2014/main" id="{57D5C5B4-4FDF-4BA4-9CF7-933F868B1F3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11</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bb3036f7a9ca4220"/>
          <a:srcRect xmlns:a="http://schemas.openxmlformats.org/drawingml/2006/main" l="5534" t="23174" r="6719" b="5478"/>
          <a:stretch xmlns:a="http://schemas.openxmlformats.org/drawingml/2006/main">
            <a:fillRect l="0" t="0" r="0" b="0"/>
          </a:stretch>
        </p:blipFill>
        <p:spPr>
          <a:xfrm xmlns:a="http://schemas.openxmlformats.org/drawingml/2006/main">
            <a:off x="609600" y="1771650"/>
            <a:ext cx="7867650" cy="4124325"/>
          </a:xfrm>
          <a:prstGeom xmlns:a="http://schemas.openxmlformats.org/drawingml/2006/main" prst="rect">
            <a:avLst/>
          </a:prstGeom>
        </p:spPr>
      </p:pic>
      <p:sp>
        <p:nvSpPr>
          <p:cNvPr id="6" name="Asignación conjunta">
            <a:extLst xmlns:a="http://schemas.openxmlformats.org/drawingml/2006/main">
              <a:ext uri="{FF2B5EF4-FFF2-40B4-BE49-F238E27FC236}">
                <a16:creationId xmlns:a16="http://schemas.microsoft.com/office/drawing/2014/main" id="{3B228BBB-FAEF-4C2C-935D-09B07CD1AF84}"/>
              </a:ext>
            </a:extLst>
          </p:cNvPr>
          <p:cNvSpPr>
            <a:spLocks xmlns:a="http://schemas.openxmlformats.org/drawingml/2006/main" noGrp="1"/>
          </p:cNvSpPr>
          <p:nvPr/>
        </p:nvSpPr>
        <p:spPr>
          <a:xfrm xmlns:a="http://schemas.openxmlformats.org/drawingml/2006/main">
            <a:off x="8877300" y="17907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Asignación conjunta</a:t>
            </a:r>
          </a:p>
        </p:txBody>
      </p:sp>
      <p:sp>
        <p:nvSpPr>
          <p:cNvPr id="7" name="Vehículo y conductor solo mientras el envío está planificado">
            <a:extLst xmlns:a="http://schemas.openxmlformats.org/drawingml/2006/main">
              <a:ext uri="{FF2B5EF4-FFF2-40B4-BE49-F238E27FC236}">
                <a16:creationId xmlns:a16="http://schemas.microsoft.com/office/drawing/2014/main" id="{C69AECBD-B884-4D4E-A7E2-18672C7A7A68}"/>
              </a:ext>
            </a:extLst>
          </p:cNvPr>
          <p:cNvSpPr>
            <a:spLocks xmlns:a="http://schemas.openxmlformats.org/drawingml/2006/main" noGrp="1"/>
          </p:cNvSpPr>
          <p:nvPr/>
        </p:nvSpPr>
        <p:spPr>
          <a:xfrm xmlns:a="http://schemas.openxmlformats.org/drawingml/2006/main">
            <a:off x="8877300" y="2228850"/>
            <a:ext cx="2705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Vehículo y conductor solo mientras el envío está planificado.</a:t>
            </a:r>
          </a:p>
        </p:txBody>
      </p:sp>
      <p:sp>
        <p:nvSpPr>
          <p:cNvPr id="8" name="Dos respuestas">
            <a:extLst xmlns:a="http://schemas.openxmlformats.org/drawingml/2006/main">
              <a:ext uri="{FF2B5EF4-FFF2-40B4-BE49-F238E27FC236}">
                <a16:creationId xmlns:a16="http://schemas.microsoft.com/office/drawing/2014/main" id="{34EDC8B7-AA87-4148-8F3F-02BC21963CFE}"/>
              </a:ext>
            </a:extLst>
          </p:cNvPr>
          <p:cNvSpPr>
            <a:spLocks xmlns:a="http://schemas.openxmlformats.org/drawingml/2006/main" noGrp="1"/>
          </p:cNvSpPr>
          <p:nvPr/>
        </p:nvSpPr>
        <p:spPr>
          <a:xfrm xmlns:a="http://schemas.openxmlformats.org/drawingml/2006/main">
            <a:off x="8877300" y="36957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Dos respuestas</a:t>
            </a:r>
          </a:p>
        </p:txBody>
      </p:sp>
      <p:sp>
        <p:nvSpPr>
          <p:cNvPr id="9" name="Recurso ocupado: bloqueo&#10;Capacidad insuficiente: aviso">
            <a:extLst xmlns:a="http://schemas.openxmlformats.org/drawingml/2006/main">
              <a:ext uri="{FF2B5EF4-FFF2-40B4-BE49-F238E27FC236}">
                <a16:creationId xmlns:a16="http://schemas.microsoft.com/office/drawing/2014/main" id="{150A503D-4CF1-4E99-905D-735D77DDEAC3}"/>
              </a:ext>
            </a:extLst>
          </p:cNvPr>
          <p:cNvSpPr>
            <a:spLocks xmlns:a="http://schemas.openxmlformats.org/drawingml/2006/main" noGrp="1"/>
          </p:cNvSpPr>
          <p:nvPr/>
        </p:nvSpPr>
        <p:spPr>
          <a:xfrm xmlns:a="http://schemas.openxmlformats.org/drawingml/2006/main">
            <a:off x="8877300" y="4133850"/>
            <a:ext cx="2705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Recurso ocupado: bloqueo</a:t>
            </a:r>
          </a:p>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Capacidad insuficiente: aviso</a:t>
            </a:r>
          </a:p>
        </p:txBody>
      </p:sp>
      <p:sp>
        <p:nvSpPr>
          <p:cNvPr id="10" name="4.500 kg sobre 3.000 kg">
            <a:extLst xmlns:a="http://schemas.openxmlformats.org/drawingml/2006/main">
              <a:ext uri="{FF2B5EF4-FFF2-40B4-BE49-F238E27FC236}">
                <a16:creationId xmlns:a16="http://schemas.microsoft.com/office/drawing/2014/main" id="{0BD79762-1E90-4F91-8543-DF25FAF7340E}"/>
              </a:ext>
            </a:extLst>
          </p:cNvPr>
          <p:cNvSpPr>
            <a:spLocks xmlns:a="http://schemas.openxmlformats.org/drawingml/2006/main" noGrp="1"/>
          </p:cNvSpPr>
          <p:nvPr/>
        </p:nvSpPr>
        <p:spPr>
          <a:xfrm xmlns:a="http://schemas.openxmlformats.org/drawingml/2006/main">
            <a:off x="8877300" y="5467350"/>
            <a:ext cx="2705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2156A5"/>
                </a:solidFill>
                <a:latin typeface="Arial"/>
                <a:ea typeface="Arial"/>
                <a:cs typeface="Arial"/>
              </a:defRPr>
            </a:pPr>
            <a:r>
              <a:rPr sz="1800" b="1">
                <a:solidFill>
                  <a:srgbClr val="2156A5"/>
                </a:solidFill>
                <a:latin typeface="Arial"/>
                <a:ea typeface="Arial"/>
                <a:cs typeface="Arial"/>
              </a:rPr>
              <a:t>4.500 kg sobre 3.000 kg</a:t>
            </a:r>
          </a:p>
        </p:txBody>
      </p:sp>
      <p:sp>
        <p:nvSpPr>
          <p:cNvPr id="11" name="Captura con datos de prueba del Sprint 4. Figura 7.5 de la m">
            <a:extLst xmlns:a="http://schemas.openxmlformats.org/drawingml/2006/main">
              <a:ext uri="{FF2B5EF4-FFF2-40B4-BE49-F238E27FC236}">
                <a16:creationId xmlns:a16="http://schemas.microsoft.com/office/drawing/2014/main" id="{4E96B89F-64CC-45E4-B2C6-2AB3271F97D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prueba del Sprint 4. Figura 7.5 de la memoria, p. 39.</a:t>
            </a:r>
          </a:p>
        </p:txBody>
      </p:sp>
    </p:spTree>
    <p:extLst>
      <p:ext uri="{BB962C8B-B14F-4D97-AF65-F5344CB8AC3E}">
        <p14:creationId xmlns:p14="http://schemas.microsoft.com/office/powerpoint/2010/main" val="103011215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05 · DEMOSTRACIÓN FUNCIONAL">
            <a:extLst xmlns:a="http://schemas.openxmlformats.org/drawingml/2006/main">
              <a:ext uri="{FF2B5EF4-FFF2-40B4-BE49-F238E27FC236}">
                <a16:creationId xmlns:a16="http://schemas.microsoft.com/office/drawing/2014/main" id="{3B494D23-C08B-4EF1-9CD3-C1B7AB2F5F4A}"/>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Ejecución y trazabilidad">
            <a:extLst xmlns:a="http://schemas.openxmlformats.org/drawingml/2006/main">
              <a:ext uri="{FF2B5EF4-FFF2-40B4-BE49-F238E27FC236}">
                <a16:creationId xmlns:a16="http://schemas.microsoft.com/office/drawing/2014/main" id="{134113E3-1FF0-413C-94ED-F720178FF46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Ejecución y trazabilidad</a:t>
            </a:r>
          </a:p>
        </p:txBody>
      </p:sp>
      <p:sp>
        <p:nvSpPr>
          <p:cNvPr id="3" name="">
            <a:extLst xmlns:a="http://schemas.openxmlformats.org/drawingml/2006/main">
              <a:ext uri="{FF2B5EF4-FFF2-40B4-BE49-F238E27FC236}">
                <a16:creationId xmlns:a16="http://schemas.microsoft.com/office/drawing/2014/main" id="{36F78DA8-21A3-4884-82D3-CDA0102F39D4}"/>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2">
            <a:extLst xmlns:a="http://schemas.openxmlformats.org/drawingml/2006/main">
              <a:ext uri="{FF2B5EF4-FFF2-40B4-BE49-F238E27FC236}">
                <a16:creationId xmlns:a16="http://schemas.microsoft.com/office/drawing/2014/main" id="{ECCE9D9E-94AC-480F-B2B6-516E89EA11B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12</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d00c5a910e14892"/>
          <a:srcRect xmlns:a="http://schemas.openxmlformats.org/drawingml/2006/main" l="6719" t="21910" r="27510" b="8708"/>
          <a:stretch xmlns:a="http://schemas.openxmlformats.org/drawingml/2006/main">
            <a:fillRect l="0" t="0" r="0" b="0"/>
          </a:stretch>
        </p:blipFill>
        <p:spPr>
          <a:xfrm xmlns:a="http://schemas.openxmlformats.org/drawingml/2006/main">
            <a:off x="609600" y="1724025"/>
            <a:ext cx="7429500" cy="4276725"/>
          </a:xfrm>
          <a:prstGeom xmlns:a="http://schemas.openxmlformats.org/drawingml/2006/main" prst="rect">
            <a:avLst/>
          </a:prstGeom>
        </p:spPr>
      </p:pic>
      <p:sp>
        <p:nvSpPr>
          <p:cNvPr id="6" name="Cronología verificable">
            <a:extLst xmlns:a="http://schemas.openxmlformats.org/drawingml/2006/main">
              <a:ext uri="{FF2B5EF4-FFF2-40B4-BE49-F238E27FC236}">
                <a16:creationId xmlns:a16="http://schemas.microsoft.com/office/drawing/2014/main" id="{1C5BADF5-9B63-4BEB-94C9-49BD94EE3A4F}"/>
              </a:ext>
            </a:extLst>
          </p:cNvPr>
          <p:cNvSpPr>
            <a:spLocks xmlns:a="http://schemas.openxmlformats.org/drawingml/2006/main" noGrp="1"/>
          </p:cNvSpPr>
          <p:nvPr/>
        </p:nvSpPr>
        <p:spPr>
          <a:xfrm xmlns:a="http://schemas.openxmlformats.org/drawingml/2006/main">
            <a:off x="8458200" y="175260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Cronología verificable</a:t>
            </a:r>
          </a:p>
        </p:txBody>
      </p:sp>
      <p:sp>
        <p:nvSpPr>
          <p:cNvPr id="7" name="Eventos automáticos y manuales ordenados por ocurrencia.">
            <a:extLst xmlns:a="http://schemas.openxmlformats.org/drawingml/2006/main">
              <a:ext uri="{FF2B5EF4-FFF2-40B4-BE49-F238E27FC236}">
                <a16:creationId xmlns:a16="http://schemas.microsoft.com/office/drawing/2014/main" id="{FB6C7006-CF46-436A-BE04-7E34F71E1F24}"/>
              </a:ext>
            </a:extLst>
          </p:cNvPr>
          <p:cNvSpPr>
            <a:spLocks xmlns:a="http://schemas.openxmlformats.org/drawingml/2006/main" noGrp="1"/>
          </p:cNvSpPr>
          <p:nvPr/>
        </p:nvSpPr>
        <p:spPr>
          <a:xfrm xmlns:a="http://schemas.openxmlformats.org/drawingml/2006/main">
            <a:off x="8458200" y="2190750"/>
            <a:ext cx="3124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Eventos automáticos y manuales ordenados por ocurrencia.</a:t>
            </a:r>
          </a:p>
        </p:txBody>
      </p:sp>
      <p:sp>
        <p:nvSpPr>
          <p:cNvPr id="8" name="Autoría">
            <a:extLst xmlns:a="http://schemas.openxmlformats.org/drawingml/2006/main">
              <a:ext uri="{FF2B5EF4-FFF2-40B4-BE49-F238E27FC236}">
                <a16:creationId xmlns:a16="http://schemas.microsoft.com/office/drawing/2014/main" id="{1D02108D-BD81-4348-9EFA-C34C9FCBFB62}"/>
              </a:ext>
            </a:extLst>
          </p:cNvPr>
          <p:cNvSpPr>
            <a:spLocks xmlns:a="http://schemas.openxmlformats.org/drawingml/2006/main" noGrp="1"/>
          </p:cNvSpPr>
          <p:nvPr/>
        </p:nvSpPr>
        <p:spPr>
          <a:xfrm xmlns:a="http://schemas.openxmlformats.org/drawingml/2006/main">
            <a:off x="8458200" y="354330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Autoría</a:t>
            </a:r>
          </a:p>
        </p:txBody>
      </p:sp>
      <p:sp>
        <p:nvSpPr>
          <p:cNvPr id="9" name="El usuario procede de la sesión, no de un dato libre del cli">
            <a:extLst xmlns:a="http://schemas.openxmlformats.org/drawingml/2006/main">
              <a:ext uri="{FF2B5EF4-FFF2-40B4-BE49-F238E27FC236}">
                <a16:creationId xmlns:a16="http://schemas.microsoft.com/office/drawing/2014/main" id="{EE3ACACC-3607-4290-9137-2F71D1DA882C}"/>
              </a:ext>
            </a:extLst>
          </p:cNvPr>
          <p:cNvSpPr>
            <a:spLocks xmlns:a="http://schemas.openxmlformats.org/drawingml/2006/main" noGrp="1"/>
          </p:cNvSpPr>
          <p:nvPr/>
        </p:nvSpPr>
        <p:spPr>
          <a:xfrm xmlns:a="http://schemas.openxmlformats.org/drawingml/2006/main">
            <a:off x="8458200" y="3981450"/>
            <a:ext cx="3124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El usuario procede de la sesión, no de un dato libre del cliente.</a:t>
            </a:r>
          </a:p>
        </p:txBody>
      </p:sp>
      <p:sp>
        <p:nvSpPr>
          <p:cNvPr id="10" name="Consistencia">
            <a:extLst xmlns:a="http://schemas.openxmlformats.org/drawingml/2006/main">
              <a:ext uri="{FF2B5EF4-FFF2-40B4-BE49-F238E27FC236}">
                <a16:creationId xmlns:a16="http://schemas.microsoft.com/office/drawing/2014/main" id="{BB5B6A7E-52E4-405B-9016-1DB5781CC02E}"/>
              </a:ext>
            </a:extLst>
          </p:cNvPr>
          <p:cNvSpPr>
            <a:spLocks xmlns:a="http://schemas.openxmlformats.org/drawingml/2006/main" noGrp="1"/>
          </p:cNvSpPr>
          <p:nvPr/>
        </p:nvSpPr>
        <p:spPr>
          <a:xfrm xmlns:a="http://schemas.openxmlformats.org/drawingml/2006/main">
            <a:off x="8458200" y="5314950"/>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Consistencia</a:t>
            </a:r>
          </a:p>
        </p:txBody>
      </p:sp>
      <p:sp>
        <p:nvSpPr>
          <p:cNvPr id="11" name="Operación y evento se confirman juntos.">
            <a:extLst xmlns:a="http://schemas.openxmlformats.org/drawingml/2006/main">
              <a:ext uri="{FF2B5EF4-FFF2-40B4-BE49-F238E27FC236}">
                <a16:creationId xmlns:a16="http://schemas.microsoft.com/office/drawing/2014/main" id="{B59E4DB3-0DCD-46F4-986A-8DEA9E2A4066}"/>
              </a:ext>
            </a:extLst>
          </p:cNvPr>
          <p:cNvSpPr>
            <a:spLocks xmlns:a="http://schemas.openxmlformats.org/drawingml/2006/main" noGrp="1"/>
          </p:cNvSpPr>
          <p:nvPr/>
        </p:nvSpPr>
        <p:spPr>
          <a:xfrm xmlns:a="http://schemas.openxmlformats.org/drawingml/2006/main">
            <a:off x="8458200" y="5734050"/>
            <a:ext cx="3124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Operación y evento se confirman juntos.</a:t>
            </a:r>
          </a:p>
        </p:txBody>
      </p:sp>
      <p:sp>
        <p:nvSpPr>
          <p:cNvPr id="12" name="Captura con datos de prueba del Sprint 5. Figura 7.8 de la m">
            <a:extLst xmlns:a="http://schemas.openxmlformats.org/drawingml/2006/main">
              <a:ext uri="{FF2B5EF4-FFF2-40B4-BE49-F238E27FC236}">
                <a16:creationId xmlns:a16="http://schemas.microsoft.com/office/drawing/2014/main" id="{5736B568-0644-4BF3-9F0D-D89D75EE84D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prueba del Sprint 5. Figura 7.8 de la memoria, p. 42.</a:t>
            </a:r>
          </a:p>
        </p:txBody>
      </p:sp>
    </p:spTree>
    <p:extLst>
      <p:ext uri="{BB962C8B-B14F-4D97-AF65-F5344CB8AC3E}">
        <p14:creationId xmlns:p14="http://schemas.microsoft.com/office/powerpoint/2010/main" val="14940458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5 · DEMOSTRACIÓN FUNCIONAL">
            <a:extLst xmlns:a="http://schemas.openxmlformats.org/drawingml/2006/main">
              <a:ext uri="{FF2B5EF4-FFF2-40B4-BE49-F238E27FC236}">
                <a16:creationId xmlns:a16="http://schemas.microsoft.com/office/drawing/2014/main" id="{CF2CA47E-AAFF-43F5-A608-494EDAB44C76}"/>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DEMOSTRACIÓN FUNCIONAL</a:t>
            </a:r>
          </a:p>
        </p:txBody>
      </p:sp>
      <p:sp>
        <p:nvSpPr>
          <p:cNvPr id="2" name="Administración e indicadores">
            <a:extLst xmlns:a="http://schemas.openxmlformats.org/drawingml/2006/main">
              <a:ext uri="{FF2B5EF4-FFF2-40B4-BE49-F238E27FC236}">
                <a16:creationId xmlns:a16="http://schemas.microsoft.com/office/drawing/2014/main" id="{44D9D350-1AF6-4135-994B-C1BB052A416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Administración e indicadores</a:t>
            </a:r>
          </a:p>
        </p:txBody>
      </p:sp>
      <p:sp>
        <p:nvSpPr>
          <p:cNvPr id="3" name="">
            <a:extLst xmlns:a="http://schemas.openxmlformats.org/drawingml/2006/main">
              <a:ext uri="{FF2B5EF4-FFF2-40B4-BE49-F238E27FC236}">
                <a16:creationId xmlns:a16="http://schemas.microsoft.com/office/drawing/2014/main" id="{F5207D5F-558D-4A74-A6CD-158A5341F059}"/>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3">
            <a:extLst xmlns:a="http://schemas.openxmlformats.org/drawingml/2006/main">
              <a:ext uri="{FF2B5EF4-FFF2-40B4-BE49-F238E27FC236}">
                <a16:creationId xmlns:a16="http://schemas.microsoft.com/office/drawing/2014/main" id="{5F61ED33-8D5B-4A13-BFD7-84E3BAA324A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4018d2de4ba4500"/>
          <a:srcRect xmlns:a="http://schemas.openxmlformats.org/drawingml/2006/main" l="5538" t="22518" r="5459" b="24667"/>
          <a:stretch xmlns:a="http://schemas.openxmlformats.org/drawingml/2006/main">
            <a:fillRect l="0" t="0" r="0" b="0"/>
          </a:stretch>
        </p:blipFill>
        <p:spPr>
          <a:xfrm xmlns:a="http://schemas.openxmlformats.org/drawingml/2006/main">
            <a:off x="609600" y="1790700"/>
            <a:ext cx="7867650" cy="4048125"/>
          </a:xfrm>
          <a:prstGeom xmlns:a="http://schemas.openxmlformats.org/drawingml/2006/main" prst="rect">
            <a:avLst/>
          </a:prstGeom>
        </p:spPr>
      </p:pic>
      <p:sp>
        <p:nvSpPr>
          <p:cNvPr id="6" name="Administración">
            <a:extLst xmlns:a="http://schemas.openxmlformats.org/drawingml/2006/main">
              <a:ext uri="{FF2B5EF4-FFF2-40B4-BE49-F238E27FC236}">
                <a16:creationId xmlns:a16="http://schemas.microsoft.com/office/drawing/2014/main" id="{232C6D5C-9F65-4D90-8E76-28AB5511FBA3}"/>
              </a:ext>
            </a:extLst>
          </p:cNvPr>
          <p:cNvSpPr>
            <a:spLocks xmlns:a="http://schemas.openxmlformats.org/drawingml/2006/main" noGrp="1"/>
          </p:cNvSpPr>
          <p:nvPr/>
        </p:nvSpPr>
        <p:spPr>
          <a:xfrm xmlns:a="http://schemas.openxmlformats.org/drawingml/2006/main">
            <a:off x="8877300" y="180975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Administración</a:t>
            </a:r>
          </a:p>
        </p:txBody>
      </p:sp>
      <p:sp>
        <p:nvSpPr>
          <p:cNvPr id="7" name="Cuentas, roles, activación y recuperación de contraseña.">
            <a:extLst xmlns:a="http://schemas.openxmlformats.org/drawingml/2006/main">
              <a:ext uri="{FF2B5EF4-FFF2-40B4-BE49-F238E27FC236}">
                <a16:creationId xmlns:a16="http://schemas.microsoft.com/office/drawing/2014/main" id="{D77749BA-A6CD-4313-90BC-DF27E26929D5}"/>
              </a:ext>
            </a:extLst>
          </p:cNvPr>
          <p:cNvSpPr>
            <a:spLocks xmlns:a="http://schemas.openxmlformats.org/drawingml/2006/main" noGrp="1"/>
          </p:cNvSpPr>
          <p:nvPr/>
        </p:nvSpPr>
        <p:spPr>
          <a:xfrm xmlns:a="http://schemas.openxmlformats.org/drawingml/2006/main">
            <a:off x="8877300" y="2247900"/>
            <a:ext cx="27051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Cuentas, roles, activación y recuperación de contraseña.</a:t>
            </a:r>
          </a:p>
        </p:txBody>
      </p:sp>
      <p:sp>
        <p:nvSpPr>
          <p:cNvPr id="8" name="Resumen operativo">
            <a:extLst xmlns:a="http://schemas.openxmlformats.org/drawingml/2006/main">
              <a:ext uri="{FF2B5EF4-FFF2-40B4-BE49-F238E27FC236}">
                <a16:creationId xmlns:a16="http://schemas.microsoft.com/office/drawing/2014/main" id="{4F294C9E-1B47-4128-8AC3-D2641B293EA7}"/>
              </a:ext>
            </a:extLst>
          </p:cNvPr>
          <p:cNvSpPr>
            <a:spLocks xmlns:a="http://schemas.openxmlformats.org/drawingml/2006/main" noGrp="1"/>
          </p:cNvSpPr>
          <p:nvPr/>
        </p:nvSpPr>
        <p:spPr>
          <a:xfrm xmlns:a="http://schemas.openxmlformats.org/drawingml/2006/main">
            <a:off x="8877300" y="3810000"/>
            <a:ext cx="2705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Resumen operativo</a:t>
            </a:r>
          </a:p>
        </p:txBody>
      </p:sp>
      <p:sp>
        <p:nvSpPr>
          <p:cNvPr id="9" name="Estados globales, actividad por recurso e incidencias por pe">
            <a:extLst xmlns:a="http://schemas.openxmlformats.org/drawingml/2006/main">
              <a:ext uri="{FF2B5EF4-FFF2-40B4-BE49-F238E27FC236}">
                <a16:creationId xmlns:a16="http://schemas.microsoft.com/office/drawing/2014/main" id="{5303FBDC-B37F-46F8-A512-B127B13A3AA2}"/>
              </a:ext>
            </a:extLst>
          </p:cNvPr>
          <p:cNvSpPr>
            <a:spLocks xmlns:a="http://schemas.openxmlformats.org/drawingml/2006/main" noGrp="1"/>
          </p:cNvSpPr>
          <p:nvPr/>
        </p:nvSpPr>
        <p:spPr>
          <a:xfrm xmlns:a="http://schemas.openxmlformats.org/drawingml/2006/main">
            <a:off x="8877300" y="4248150"/>
            <a:ext cx="27051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Estados globales, actividad por recurso e incidencias por periodo.</a:t>
            </a:r>
          </a:p>
        </p:txBody>
      </p:sp>
      <p:sp>
        <p:nvSpPr>
          <p:cNvPr id="10" name="RF-01 a RF-14 integrados">
            <a:extLst xmlns:a="http://schemas.openxmlformats.org/drawingml/2006/main">
              <a:ext uri="{FF2B5EF4-FFF2-40B4-BE49-F238E27FC236}">
                <a16:creationId xmlns:a16="http://schemas.microsoft.com/office/drawing/2014/main" id="{C2D9EB0A-D737-4D52-8AAA-AF0F1DEA6C8E}"/>
              </a:ext>
            </a:extLst>
          </p:cNvPr>
          <p:cNvSpPr>
            <a:spLocks xmlns:a="http://schemas.openxmlformats.org/drawingml/2006/main" noGrp="1"/>
          </p:cNvSpPr>
          <p:nvPr/>
        </p:nvSpPr>
        <p:spPr>
          <a:xfrm xmlns:a="http://schemas.openxmlformats.org/drawingml/2006/main">
            <a:off x="8877300" y="574357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56A5"/>
                </a:solidFill>
                <a:latin typeface="Arial"/>
                <a:ea typeface="Arial"/>
                <a:cs typeface="Arial"/>
              </a:defRPr>
            </a:pPr>
            <a:r>
              <a:rPr sz="1725" b="1">
                <a:solidFill>
                  <a:srgbClr val="2156A5"/>
                </a:solidFill>
                <a:latin typeface="Arial"/>
                <a:ea typeface="Arial"/>
                <a:cs typeface="Arial"/>
              </a:rPr>
              <a:t>RF-01 a RF-14 integrados</a:t>
            </a:r>
          </a:p>
        </p:txBody>
      </p:sp>
      <p:sp>
        <p:nvSpPr>
          <p:cNvPr id="11" name="Captura con datos de demostración del Sprint 6. Memoria, pp.">
            <a:extLst xmlns:a="http://schemas.openxmlformats.org/drawingml/2006/main">
              <a:ext uri="{FF2B5EF4-FFF2-40B4-BE49-F238E27FC236}">
                <a16:creationId xmlns:a16="http://schemas.microsoft.com/office/drawing/2014/main" id="{6BE3D3EF-1A6E-4582-9CD4-9370D9124B5D}"/>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Captura con datos de demostración del Sprint 6. Memoria, pp. 32–33 y 45.</a:t>
            </a:r>
          </a:p>
        </p:txBody>
      </p:sp>
    </p:spTree>
    <p:extLst>
      <p:ext uri="{BB962C8B-B14F-4D97-AF65-F5344CB8AC3E}">
        <p14:creationId xmlns:p14="http://schemas.microsoft.com/office/powerpoint/2010/main" val="3757314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06 · VALIDACIÓN Y DESPLIEGUE">
            <a:extLst xmlns:a="http://schemas.openxmlformats.org/drawingml/2006/main">
              <a:ext uri="{FF2B5EF4-FFF2-40B4-BE49-F238E27FC236}">
                <a16:creationId xmlns:a16="http://schemas.microsoft.com/office/drawing/2014/main" id="{0C2387F3-67F0-4540-97D7-C175C0BA32B0}"/>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06 · VALIDACIÓN Y DESPLIEGUE</a:t>
            </a:r>
          </a:p>
        </p:txBody>
      </p:sp>
      <p:sp>
        <p:nvSpPr>
          <p:cNvPr id="2" name="Estrategia de validación">
            <a:extLst xmlns:a="http://schemas.openxmlformats.org/drawingml/2006/main">
              <a:ext uri="{FF2B5EF4-FFF2-40B4-BE49-F238E27FC236}">
                <a16:creationId xmlns:a16="http://schemas.microsoft.com/office/drawing/2014/main" id="{F11167B7-74B1-4EE3-A195-73870931B9E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Estrategia de validación</a:t>
            </a:r>
          </a:p>
        </p:txBody>
      </p:sp>
      <p:sp>
        <p:nvSpPr>
          <p:cNvPr id="3" name="">
            <a:extLst xmlns:a="http://schemas.openxmlformats.org/drawingml/2006/main">
              <a:ext uri="{FF2B5EF4-FFF2-40B4-BE49-F238E27FC236}">
                <a16:creationId xmlns:a16="http://schemas.microsoft.com/office/drawing/2014/main" id="{582563A7-01F4-489F-B973-859E08D57578}"/>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4">
            <a:extLst xmlns:a="http://schemas.openxmlformats.org/drawingml/2006/main">
              <a:ext uri="{FF2B5EF4-FFF2-40B4-BE49-F238E27FC236}">
                <a16:creationId xmlns:a16="http://schemas.microsoft.com/office/drawing/2014/main" id="{B75E26C6-CEAF-431B-85AC-973FA975919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14</a:t>
            </a:r>
          </a:p>
        </p:txBody>
      </p:sp>
      <p:sp>
        <p:nvSpPr>
          <p:cNvPr id="5" name="139">
            <a:extLst xmlns:a="http://schemas.openxmlformats.org/drawingml/2006/main">
              <a:ext uri="{FF2B5EF4-FFF2-40B4-BE49-F238E27FC236}">
                <a16:creationId xmlns:a16="http://schemas.microsoft.com/office/drawing/2014/main" id="{A52A3F9F-B0C3-4E13-9120-76936A03A529}"/>
              </a:ext>
            </a:extLst>
          </p:cNvPr>
          <p:cNvSpPr>
            <a:spLocks xmlns:a="http://schemas.openxmlformats.org/drawingml/2006/main" noGrp="1"/>
          </p:cNvSpPr>
          <p:nvPr/>
        </p:nvSpPr>
        <p:spPr>
          <a:xfrm xmlns:a="http://schemas.openxmlformats.org/drawingml/2006/main">
            <a:off x="60960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139</a:t>
            </a:r>
          </a:p>
        </p:txBody>
      </p:sp>
      <p:sp>
        <p:nvSpPr>
          <p:cNvPr id="6" name="pruebas backend&#10;xUnit">
            <a:extLst xmlns:a="http://schemas.openxmlformats.org/drawingml/2006/main">
              <a:ext uri="{FF2B5EF4-FFF2-40B4-BE49-F238E27FC236}">
                <a16:creationId xmlns:a16="http://schemas.microsoft.com/office/drawing/2014/main" id="{399F6154-5848-4F45-9AA7-BAD2ECDF30B8}"/>
              </a:ext>
            </a:extLst>
          </p:cNvPr>
          <p:cNvSpPr>
            <a:spLocks xmlns:a="http://schemas.openxmlformats.org/drawingml/2006/main" noGrp="1"/>
          </p:cNvSpPr>
          <p:nvPr/>
        </p:nvSpPr>
        <p:spPr>
          <a:xfrm xmlns:a="http://schemas.openxmlformats.org/drawingml/2006/main">
            <a:off x="60960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backend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xUnit</a:t>
            </a:r>
          </a:p>
        </p:txBody>
      </p:sp>
      <p:sp>
        <p:nvSpPr>
          <p:cNvPr id="7" name="33">
            <a:extLst xmlns:a="http://schemas.openxmlformats.org/drawingml/2006/main">
              <a:ext uri="{FF2B5EF4-FFF2-40B4-BE49-F238E27FC236}">
                <a16:creationId xmlns:a16="http://schemas.microsoft.com/office/drawing/2014/main" id="{2065716A-3955-43B4-83C8-7447360B4103}"/>
              </a:ext>
            </a:extLst>
          </p:cNvPr>
          <p:cNvSpPr>
            <a:spLocks xmlns:a="http://schemas.openxmlformats.org/drawingml/2006/main" noGrp="1"/>
          </p:cNvSpPr>
          <p:nvPr/>
        </p:nvSpPr>
        <p:spPr>
          <a:xfrm xmlns:a="http://schemas.openxmlformats.org/drawingml/2006/main">
            <a:off x="428625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33</a:t>
            </a:r>
          </a:p>
        </p:txBody>
      </p:sp>
      <p:sp>
        <p:nvSpPr>
          <p:cNvPr id="8" name="pruebas frontend&#10;Vitest + RTL">
            <a:extLst xmlns:a="http://schemas.openxmlformats.org/drawingml/2006/main">
              <a:ext uri="{FF2B5EF4-FFF2-40B4-BE49-F238E27FC236}">
                <a16:creationId xmlns:a16="http://schemas.microsoft.com/office/drawing/2014/main" id="{91315FE1-420C-4F91-9AE2-B0AD6E384D3A}"/>
              </a:ext>
            </a:extLst>
          </p:cNvPr>
          <p:cNvSpPr>
            <a:spLocks xmlns:a="http://schemas.openxmlformats.org/drawingml/2006/main" noGrp="1"/>
          </p:cNvSpPr>
          <p:nvPr/>
        </p:nvSpPr>
        <p:spPr>
          <a:xfrm xmlns:a="http://schemas.openxmlformats.org/drawingml/2006/main">
            <a:off x="428625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frontend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Vitest + RTL</a:t>
            </a:r>
          </a:p>
        </p:txBody>
      </p:sp>
      <p:sp>
        <p:nvSpPr>
          <p:cNvPr id="9" name="4">
            <a:extLst xmlns:a="http://schemas.openxmlformats.org/drawingml/2006/main">
              <a:ext uri="{FF2B5EF4-FFF2-40B4-BE49-F238E27FC236}">
                <a16:creationId xmlns:a16="http://schemas.microsoft.com/office/drawing/2014/main" id="{46BBCA1B-FFF2-4F3E-A219-98DA83360C09}"/>
              </a:ext>
            </a:extLst>
          </p:cNvPr>
          <p:cNvSpPr>
            <a:spLocks xmlns:a="http://schemas.openxmlformats.org/drawingml/2006/main" noGrp="1"/>
          </p:cNvSpPr>
          <p:nvPr/>
        </p:nvSpPr>
        <p:spPr>
          <a:xfrm xmlns:a="http://schemas.openxmlformats.org/drawingml/2006/main">
            <a:off x="7962900" y="1533525"/>
            <a:ext cx="314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4</a:t>
            </a:r>
          </a:p>
        </p:txBody>
      </p:sp>
      <p:sp>
        <p:nvSpPr>
          <p:cNvPr id="10" name="flujos de sistema&#10;Playwright">
            <a:extLst xmlns:a="http://schemas.openxmlformats.org/drawingml/2006/main">
              <a:ext uri="{FF2B5EF4-FFF2-40B4-BE49-F238E27FC236}">
                <a16:creationId xmlns:a16="http://schemas.microsoft.com/office/drawing/2014/main" id="{DFB7B47E-58AC-4689-9DBA-A8640C3276BD}"/>
              </a:ext>
            </a:extLst>
          </p:cNvPr>
          <p:cNvSpPr>
            <a:spLocks xmlns:a="http://schemas.openxmlformats.org/drawingml/2006/main" noGrp="1"/>
          </p:cNvSpPr>
          <p:nvPr/>
        </p:nvSpPr>
        <p:spPr>
          <a:xfrm xmlns:a="http://schemas.openxmlformats.org/drawingml/2006/main">
            <a:off x="7962900" y="2428875"/>
            <a:ext cx="314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flujos de sistema</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Playwright</a:t>
            </a:r>
          </a:p>
        </p:txBody>
      </p:sp>
      <p:graphicFrame>
        <p:nvGraphicFramePr>
          <p:cNvPr id="23" name=""/>
          <p:cNvGraphicFramePr/>
          <p:nvPr/>
        </p:nvGraphicFramePr>
        <p:xfrm>
          <a:off xmlns:a="http://schemas.openxmlformats.org/drawingml/2006/main" x="609600" y="3752850"/>
          <a:ext xmlns:a="http://schemas.openxmlformats.org/drawingml/2006/main" cx="10972800" cy="2257425"/>
        </p:xfrm>
        <a:graphic xmlns:a="http://schemas.openxmlformats.org/drawingml/2006/main">
          <a:graphicData uri="http://schemas.openxmlformats.org/drawingml/2006/table">
            <a:tbl>
              <a:tblPr firstRow="0" bandRow="0"/>
              <a:tblGrid>
                <a:gridCol w="3333750"/>
                <a:gridCol w="7639050"/>
              </a:tblGrid>
              <a:tr h="451485">
                <a:tc>
                  <a:txBody>
                    <a:bodyPr>
                      <a:noAutofit/>
                    </a:bodyPr>
                    <a:lstStyle/>
                    <a:p>
                      <a:r>
                        <a:rPr sz="1650" b="1">
                          <a:solidFill>
                            <a:srgbClr val="FFFFFF"/>
                          </a:solidFill>
                          <a:latin typeface="Arial"/>
                          <a:ea typeface="Arial"/>
                          <a:cs typeface="Arial"/>
                        </a:rPr>
                        <a:t>Nivel</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Riesgo comprobado</a:t>
                      </a:r>
                    </a:p>
                  </a:txBody>
                  <a:tcPr marL="142875" marR="142875" marT="95250" marB="85725" anchor="ctr">
                    <a:solidFill>
                      <a:srgbClr val="14263D"/>
                    </a:solidFill>
                  </a:tcPr>
                </a:tc>
              </a:tr>
              <a:tr h="451485">
                <a:tc>
                  <a:txBody>
                    <a:bodyPr>
                      <a:noAutofit/>
                    </a:bodyPr>
                    <a:lstStyle/>
                    <a:p>
                      <a:r>
                        <a:rPr sz="1650" b="0">
                          <a:solidFill>
                            <a:srgbClr val="14263D"/>
                          </a:solidFill>
                          <a:latin typeface="Arial"/>
                          <a:ea typeface="Arial"/>
                          <a:cs typeface="Arial"/>
                        </a:rPr>
                        <a:t>Servicios y API</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Reglas, contratos y autorización</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PostgreSQL real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Restricciones y carreras de concurrencia</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Sistema integrado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Casos de uso sobre Compose</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Entorno desplegado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HTTPS, cookie y configuración efectiva</a:t>
                      </a:r>
                    </a:p>
                  </a:txBody>
                  <a:tcPr marL="142875" marR="142875" marT="95250" marB="85725" anchor="ctr">
                    <a:solidFill>
                      <a:srgbClr val="FFFFFF"/>
                    </a:solidFill>
                  </a:tcPr>
                </a:tc>
              </a:tr>
            </a:tbl>
          </a:graphicData>
        </a:graphic>
      </p:graphicFrame>
      <p:sp>
        <p:nvSpPr>
          <p:cNvPr id="12" name="Recuentos al cierre del Sprint 7. Son casos ejecutados, no p">
            <a:extLst xmlns:a="http://schemas.openxmlformats.org/drawingml/2006/main">
              <a:ext uri="{FF2B5EF4-FFF2-40B4-BE49-F238E27FC236}">
                <a16:creationId xmlns:a16="http://schemas.microsoft.com/office/drawing/2014/main" id="{28AF3915-26A9-42ED-97E0-72C9545E980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al cierre del Sprint 7. Son casos ejecutados, no porcentaje de cobertura. Memoria, pp. 48–55.</a:t>
            </a:r>
          </a:p>
        </p:txBody>
      </p:sp>
    </p:spTree>
    <p:extLst>
      <p:ext uri="{BB962C8B-B14F-4D97-AF65-F5344CB8AC3E}">
        <p14:creationId xmlns:p14="http://schemas.microsoft.com/office/powerpoint/2010/main" val="7579637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06 · VALIDACIÓN Y DESPLIEGUE">
            <a:extLst xmlns:a="http://schemas.openxmlformats.org/drawingml/2006/main">
              <a:ext uri="{FF2B5EF4-FFF2-40B4-BE49-F238E27FC236}">
                <a16:creationId xmlns:a16="http://schemas.microsoft.com/office/drawing/2014/main" id="{21696429-9E3B-49C1-9A3C-8B215618261A}"/>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06 · VALIDACIÓN Y DESPLIEGUE</a:t>
            </a:r>
          </a:p>
        </p:txBody>
      </p:sp>
      <p:sp>
        <p:nvSpPr>
          <p:cNvPr id="2" name="Despliegue reproducible">
            <a:extLst xmlns:a="http://schemas.openxmlformats.org/drawingml/2006/main">
              <a:ext uri="{FF2B5EF4-FFF2-40B4-BE49-F238E27FC236}">
                <a16:creationId xmlns:a16="http://schemas.microsoft.com/office/drawing/2014/main" id="{32A5B661-BC52-4A00-8A7E-168ECDC3C256}"/>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Despliegue reproducible</a:t>
            </a:r>
          </a:p>
        </p:txBody>
      </p:sp>
      <p:sp>
        <p:nvSpPr>
          <p:cNvPr id="3" name="">
            <a:extLst xmlns:a="http://schemas.openxmlformats.org/drawingml/2006/main">
              <a:ext uri="{FF2B5EF4-FFF2-40B4-BE49-F238E27FC236}">
                <a16:creationId xmlns:a16="http://schemas.microsoft.com/office/drawing/2014/main" id="{8DFAF51E-20FE-4622-B3BB-E7F14AFF393A}"/>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5">
            <a:extLst xmlns:a="http://schemas.openxmlformats.org/drawingml/2006/main">
              <a:ext uri="{FF2B5EF4-FFF2-40B4-BE49-F238E27FC236}">
                <a16:creationId xmlns:a16="http://schemas.microsoft.com/office/drawing/2014/main" id="{23373827-68BA-416F-935E-681FD3C8D0C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15</a:t>
            </a:r>
          </a:p>
        </p:txBody>
      </p:sp>
      <p:graphicFrame>
        <p:nvGraphicFramePr>
          <p:cNvPr id="14" name=""/>
          <p:cNvGraphicFramePr/>
          <p:nvPr/>
        </p:nvGraphicFramePr>
        <p:xfrm>
          <a:off xmlns:a="http://schemas.openxmlformats.org/drawingml/2006/main" x="609600" y="1752600"/>
          <a:ext xmlns:a="http://schemas.openxmlformats.org/drawingml/2006/main" cx="6715125" cy="2781300"/>
        </p:xfrm>
        <a:graphic xmlns:a="http://schemas.openxmlformats.org/drawingml/2006/main">
          <a:graphicData uri="http://schemas.openxmlformats.org/drawingml/2006/table">
            <a:tbl>
              <a:tblPr firstRow="0" bandRow="0"/>
              <a:tblGrid>
                <a:gridCol w="2143125"/>
                <a:gridCol w="4572000"/>
              </a:tblGrid>
              <a:tr h="695325">
                <a:tc>
                  <a:txBody>
                    <a:bodyPr>
                      <a:noAutofit/>
                    </a:bodyPr>
                    <a:lstStyle/>
                    <a:p>
                      <a:r>
                        <a:rPr sz="1725" b="1">
                          <a:solidFill>
                            <a:srgbClr val="FFFFFF"/>
                          </a:solidFill>
                          <a:latin typeface="Arial"/>
                          <a:ea typeface="Arial"/>
                          <a:cs typeface="Arial"/>
                        </a:rPr>
                        <a:t>Etapa</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Responsabilidad</a:t>
                      </a:r>
                    </a:p>
                  </a:txBody>
                  <a:tcPr marL="142875" marR="142875" marT="95250" marB="85725" anchor="ctr">
                    <a:solidFill>
                      <a:srgbClr val="14263D"/>
                    </a:solidFill>
                  </a:tcPr>
                </a:tc>
              </a:tr>
              <a:tr h="695325">
                <a:tc>
                  <a:txBody>
                    <a:bodyPr>
                      <a:noAutofit/>
                    </a:bodyPr>
                    <a:lstStyle/>
                    <a:p>
                      <a:r>
                        <a:rPr sz="1725" b="0">
                          <a:solidFill>
                            <a:srgbClr val="14263D"/>
                          </a:solidFill>
                          <a:latin typeface="Arial"/>
                          <a:ea typeface="Arial"/>
                          <a:cs typeface="Arial"/>
                        </a:rPr>
                        <a:t>GitHub Actions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Valida y publica API y web en GHCR</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VM Ubuntu</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Descarga imágenes y aplica Compose</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Script + systemd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Comprueba salud, revisión y digests</a:t>
                      </a:r>
                    </a:p>
                  </a:txBody>
                  <a:tcPr marL="142875" marR="142875" marT="95250" marB="85725" anchor="ctr">
                    <a:solidFill>
                      <a:srgbClr val="FFFFFF"/>
                    </a:solidFill>
                  </a:tcPr>
                </a:tc>
              </a:tr>
            </a:tbl>
          </a:graphicData>
        </a:graphic>
      </p:graphicFrame>
      <p:sp>
        <p:nvSpPr>
          <p:cNvPr id="6" name="Acceso HTTPS temporal">
            <a:extLst xmlns:a="http://schemas.openxmlformats.org/drawingml/2006/main">
              <a:ext uri="{FF2B5EF4-FFF2-40B4-BE49-F238E27FC236}">
                <a16:creationId xmlns:a16="http://schemas.microsoft.com/office/drawing/2014/main" id="{04831FEC-0A9C-4EA6-B16C-568C5E0DC41D}"/>
              </a:ext>
            </a:extLst>
          </p:cNvPr>
          <p:cNvSpPr>
            <a:spLocks xmlns:a="http://schemas.openxmlformats.org/drawingml/2006/main" noGrp="1"/>
          </p:cNvSpPr>
          <p:nvPr/>
        </p:nvSpPr>
        <p:spPr>
          <a:xfrm xmlns:a="http://schemas.openxmlformats.org/drawingml/2006/main">
            <a:off x="609600" y="4943475"/>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Acceso HTTPS temporal</a:t>
            </a:r>
          </a:p>
        </p:txBody>
      </p:sp>
      <p:sp>
        <p:nvSpPr>
          <p:cNvPr id="7" name="Cuatro servicios, sin puertos de contenedores publicados en ">
            <a:extLst xmlns:a="http://schemas.openxmlformats.org/drawingml/2006/main">
              <a:ext uri="{FF2B5EF4-FFF2-40B4-BE49-F238E27FC236}">
                <a16:creationId xmlns:a16="http://schemas.microsoft.com/office/drawing/2014/main" id="{E852EFC8-B714-4428-83DB-7DC187C719FE}"/>
              </a:ext>
            </a:extLst>
          </p:cNvPr>
          <p:cNvSpPr>
            <a:spLocks xmlns:a="http://schemas.openxmlformats.org/drawingml/2006/main" noGrp="1"/>
          </p:cNvSpPr>
          <p:nvPr/>
        </p:nvSpPr>
        <p:spPr>
          <a:xfrm xmlns:a="http://schemas.openxmlformats.org/drawingml/2006/main">
            <a:off x="609600" y="5381625"/>
            <a:ext cx="6715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Cuatro servicios, sin puertos de contenedores publicados en el host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d7f25b165204292"/>
          <a:stretch xmlns:a="http://schemas.openxmlformats.org/drawingml/2006/main"/>
        </p:blipFill>
        <p:spPr>
          <a:xfrm xmlns:a="http://schemas.openxmlformats.org/drawingml/2006/main">
            <a:off x="7991475" y="2649791"/>
            <a:ext cx="3524250" cy="2310893"/>
          </a:xfrm>
          <a:prstGeom xmlns:a="http://schemas.openxmlformats.org/drawingml/2006/main" prst="rect">
            <a:avLst/>
          </a:prstGeom>
        </p:spPr>
      </p:pic>
      <p:sp>
        <p:nvSpPr>
          <p:cNvPr id="9" name="Entorno de demostración reproducible. El túnel saliente evit">
            <a:extLst xmlns:a="http://schemas.openxmlformats.org/drawingml/2006/main">
              <a:ext uri="{FF2B5EF4-FFF2-40B4-BE49-F238E27FC236}">
                <a16:creationId xmlns:a16="http://schemas.microsoft.com/office/drawing/2014/main" id="{CAF57C33-EA46-4DE1-8486-F679296D40CA}"/>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Entorno de demostración reproducible. El túnel saliente evita abrir puertos de entrada. Memoria, cap. 9.</a:t>
            </a:r>
          </a:p>
        </p:txBody>
      </p:sp>
    </p:spTree>
    <p:extLst>
      <p:ext uri="{BB962C8B-B14F-4D97-AF65-F5344CB8AC3E}">
        <p14:creationId xmlns:p14="http://schemas.microsoft.com/office/powerpoint/2010/main" val="21437713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7 · CONCLUSIONES Y TRABAJO FUTURO">
            <a:extLst xmlns:a="http://schemas.openxmlformats.org/drawingml/2006/main">
              <a:ext uri="{FF2B5EF4-FFF2-40B4-BE49-F238E27FC236}">
                <a16:creationId xmlns:a16="http://schemas.microsoft.com/office/drawing/2014/main" id="{2DA27A8D-2ADD-472F-B9FF-CAE3BA351DC4}"/>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07 · CONCLUSIONES Y TRABAJO FUTURO</a:t>
            </a:r>
          </a:p>
        </p:txBody>
      </p:sp>
      <p:sp>
        <p:nvSpPr>
          <p:cNvPr id="2" name="Evaluación del resultado">
            <a:extLst xmlns:a="http://schemas.openxmlformats.org/drawingml/2006/main">
              <a:ext uri="{FF2B5EF4-FFF2-40B4-BE49-F238E27FC236}">
                <a16:creationId xmlns:a16="http://schemas.microsoft.com/office/drawing/2014/main" id="{6DCE6117-1440-4691-8F7D-4F79B300333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Evaluación del resultado</a:t>
            </a:r>
          </a:p>
        </p:txBody>
      </p:sp>
      <p:sp>
        <p:nvSpPr>
          <p:cNvPr id="3" name="">
            <a:extLst xmlns:a="http://schemas.openxmlformats.org/drawingml/2006/main">
              <a:ext uri="{FF2B5EF4-FFF2-40B4-BE49-F238E27FC236}">
                <a16:creationId xmlns:a16="http://schemas.microsoft.com/office/drawing/2014/main" id="{E2BF7DB7-1485-4705-8C82-8BA5A4560F9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6">
            <a:extLst xmlns:a="http://schemas.openxmlformats.org/drawingml/2006/main">
              <a:ext uri="{FF2B5EF4-FFF2-40B4-BE49-F238E27FC236}">
                <a16:creationId xmlns:a16="http://schemas.microsoft.com/office/drawing/2014/main" id="{3BE261F5-614E-41CE-A8CE-252760283BD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16</a:t>
            </a:r>
          </a:p>
        </p:txBody>
      </p:sp>
      <p:graphicFrame>
        <p:nvGraphicFramePr>
          <p:cNvPr id="12" name=""/>
          <p:cNvGraphicFramePr/>
          <p:nvPr/>
        </p:nvGraphicFramePr>
        <p:xfrm>
          <a:off xmlns:a="http://schemas.openxmlformats.org/drawingml/2006/main" x="609600" y="1714500"/>
          <a:ext xmlns:a="http://schemas.openxmlformats.org/drawingml/2006/main" cx="10972800" cy="3800475"/>
        </p:xfrm>
        <a:graphic xmlns:a="http://schemas.openxmlformats.org/drawingml/2006/main">
          <a:graphicData uri="http://schemas.openxmlformats.org/drawingml/2006/table">
            <a:tbl>
              <a:tblPr firstRow="0" bandRow="0"/>
              <a:tblGrid>
                <a:gridCol w="3143250"/>
                <a:gridCol w="5562600"/>
                <a:gridCol w="2266950"/>
              </a:tblGrid>
              <a:tr h="760095">
                <a:tc>
                  <a:txBody>
                    <a:bodyPr>
                      <a:noAutofit/>
                    </a:bodyPr>
                    <a:lstStyle/>
                    <a:p>
                      <a:r>
                        <a:rPr sz="1725" b="1">
                          <a:solidFill>
                            <a:srgbClr val="FFFFFF"/>
                          </a:solidFill>
                          <a:latin typeface="Arial"/>
                          <a:ea typeface="Arial"/>
                          <a:cs typeface="Arial"/>
                        </a:rPr>
                        <a:t>Criterio inicial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final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Evaluación</a:t>
                      </a:r>
                    </a:p>
                  </a:txBody>
                  <a:tcPr marL="142875" marR="142875" marT="95250" marB="85725" anchor="ctr">
                    <a:solidFill>
                      <a:srgbClr val="14263D"/>
                    </a:solidFill>
                  </a:tcPr>
                </a:tc>
              </a:tr>
              <a:tr h="760095">
                <a:tc>
                  <a:txBody>
                    <a:bodyPr>
                      <a:noAutofit/>
                    </a:bodyPr>
                    <a:lstStyle/>
                    <a:p>
                      <a:r>
                        <a:rPr sz="172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RF-01 a RF-14 y cuatro casos de uso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Pruebas por capas y reglas de concurrencia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Compose, CI y despliegue documentado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Impacto empresarial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Sin evaluación con usuarios reales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No evaluado</a:t>
                      </a:r>
                    </a:p>
                  </a:txBody>
                  <a:tcPr marL="142875" marR="142875" marT="95250" marB="85725" anchor="ctr">
                    <a:solidFill>
                      <a:srgbClr val="FFFFFF"/>
                    </a:solidFill>
                  </a:tcPr>
                </a:tc>
              </a:tr>
            </a:tbl>
          </a:graphicData>
        </a:graphic>
      </p:graphicFrame>
      <p:sp>
        <p:nvSpPr>
          <p:cNvPr id="6" name="El resultado cumple los criterios técnicos definidos al inic">
            <a:extLst xmlns:a="http://schemas.openxmlformats.org/drawingml/2006/main">
              <a:ext uri="{FF2B5EF4-FFF2-40B4-BE49-F238E27FC236}">
                <a16:creationId xmlns:a16="http://schemas.microsoft.com/office/drawing/2014/main" id="{036C62DF-BE5D-46AA-AC7D-78947452B20C}"/>
              </a:ext>
            </a:extLst>
          </p:cNvPr>
          <p:cNvSpPr>
            <a:spLocks xmlns:a="http://schemas.openxmlformats.org/drawingml/2006/main" noGrp="1"/>
          </p:cNvSpPr>
          <p:nvPr/>
        </p:nvSpPr>
        <p:spPr>
          <a:xfrm xmlns:a="http://schemas.openxmlformats.org/drawingml/2006/main">
            <a:off x="609600" y="580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156A5"/>
                </a:solidFill>
                <a:latin typeface="Arial"/>
                <a:ea typeface="Arial"/>
                <a:cs typeface="Arial"/>
              </a:defRPr>
            </a:pPr>
            <a:r>
              <a:rPr sz="2025" b="1">
                <a:solidFill>
                  <a:srgbClr val="2156A5"/>
                </a:solidFill>
                <a:latin typeface="Arial"/>
                <a:ea typeface="Arial"/>
                <a:cs typeface="Arial"/>
              </a:rPr>
              <a:t>El resultado cumple los criterios técnicos definidos al inicio sin atribuir beneficios no medidos</a:t>
            </a:r>
          </a:p>
        </p:txBody>
      </p:sp>
      <p:sp>
        <p:nvSpPr>
          <p:cNvPr id="7" name="Evaluación basada en la trazabilidad, los resultados y las c">
            <a:extLst xmlns:a="http://schemas.openxmlformats.org/drawingml/2006/main">
              <a:ext uri="{FF2B5EF4-FFF2-40B4-BE49-F238E27FC236}">
                <a16:creationId xmlns:a16="http://schemas.microsoft.com/office/drawing/2014/main" id="{5F1BD86C-791E-43E6-914D-E5FF46AE8362}"/>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Evaluación basada en la trazabilidad, los resultados y las conclusiones de la memoria, pp. 61–69.</a:t>
            </a:r>
          </a:p>
        </p:txBody>
      </p:sp>
    </p:spTree>
    <p:extLst>
      <p:ext uri="{BB962C8B-B14F-4D97-AF65-F5344CB8AC3E}">
        <p14:creationId xmlns:p14="http://schemas.microsoft.com/office/powerpoint/2010/main" val="1551608985"/>
      </p:ext>
    </p:extLst>
  </p:cSld>
</p:sld>
</file>

<file path=ppt/slides/slide18.xml><?xml version="1.0" encoding="utf-8"?>
<p:sld xmlns:p="http://schemas.openxmlformats.org/presentationml/2006/main">
  <p:cSld>
    <p:bg>
      <p:bgPr>
        <a:solidFill xmlns:a="http://schemas.openxmlformats.org/drawingml/2006/main">
          <a:srgbClr val="14263D"/>
        </a:solidFill>
      </p:bgPr>
    </p:bg>
    <p:spTree>
      <p:nvGrpSpPr>
        <p:cNvPr id="1" name=""/>
        <p:cNvGrpSpPr/>
        <p:nvPr/>
      </p:nvGrpSpPr>
      <p:grpSpPr>
        <a:xfrm xmlns:a="http://schemas.openxmlformats.org/drawingml/2006/main"/>
      </p:grpSpPr>
      <p:sp>
        <p:nvSpPr>
          <p:cNvPr id="10" name="07 · CONCLUSIONES Y TRABAJO FUTURO">
            <a:extLst xmlns:a="http://schemas.openxmlformats.org/drawingml/2006/main">
              <a:ext uri="{FF2B5EF4-FFF2-40B4-BE49-F238E27FC236}">
                <a16:creationId xmlns:a16="http://schemas.microsoft.com/office/drawing/2014/main" id="{D930F1D7-E9F9-4909-BB34-0A803907BD6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F2A7D4"/>
                </a:solidFill>
                <a:latin typeface="Arial"/>
                <a:ea typeface="Arial"/>
                <a:cs typeface="Arial"/>
              </a:defRPr>
            </a:pPr>
            <a:r>
              <a:rPr sz="1275" b="1">
                <a:solidFill>
                  <a:srgbClr val="F2A7D4"/>
                </a:solidFill>
                <a:latin typeface="Arial"/>
                <a:ea typeface="Arial"/>
                <a:cs typeface="Arial"/>
              </a:rPr>
              <a:t>07 · CONCLUSIONES Y TRABAJO FUTURO</a:t>
            </a:r>
          </a:p>
        </p:txBody>
      </p:sp>
      <p:sp>
        <p:nvSpPr>
          <p:cNvPr id="2" name="Conclusiones">
            <a:extLst xmlns:a="http://schemas.openxmlformats.org/drawingml/2006/main">
              <a:ext uri="{FF2B5EF4-FFF2-40B4-BE49-F238E27FC236}">
                <a16:creationId xmlns:a16="http://schemas.microsoft.com/office/drawing/2014/main" id="{6EDEE4B7-CD81-4952-BF40-AD8FC8E31DDF}"/>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Conclusiones</a:t>
            </a:r>
          </a:p>
        </p:txBody>
      </p:sp>
      <p:sp>
        <p:nvSpPr>
          <p:cNvPr id="3" name="">
            <a:extLst xmlns:a="http://schemas.openxmlformats.org/drawingml/2006/main">
              <a:ext uri="{FF2B5EF4-FFF2-40B4-BE49-F238E27FC236}">
                <a16:creationId xmlns:a16="http://schemas.microsoft.com/office/drawing/2014/main" id="{D656F056-F58F-49F8-A008-DF67A3FBF61E}"/>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42536A"/>
          </a:solidFill>
          <a:ln xmlns:a="http://schemas.openxmlformats.org/drawingml/2006/main" w="0">
            <a:noFill/>
          </a:ln>
        </p:spPr>
      </p:sp>
      <p:sp>
        <p:nvSpPr>
          <p:cNvPr id="4" name="18">
            <a:extLst xmlns:a="http://schemas.openxmlformats.org/drawingml/2006/main">
              <a:ext uri="{FF2B5EF4-FFF2-40B4-BE49-F238E27FC236}">
                <a16:creationId xmlns:a16="http://schemas.microsoft.com/office/drawing/2014/main" id="{1E648448-7E0A-449E-9A5A-BC6ACD3419E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D3DCE7"/>
                </a:solidFill>
                <a:latin typeface="Arial"/>
                <a:ea typeface="Arial"/>
                <a:cs typeface="Arial"/>
              </a:defRPr>
            </a:pPr>
            <a:r>
              <a:rPr sz="1200" b="0">
                <a:solidFill>
                  <a:srgbClr val="D3DCE7"/>
                </a:solidFill>
                <a:latin typeface="Arial"/>
                <a:ea typeface="Arial"/>
                <a:cs typeface="Arial"/>
              </a:rPr>
              <a:t>17</a:t>
            </a:r>
          </a:p>
        </p:txBody>
      </p:sp>
      <p:sp>
        <p:nvSpPr>
          <p:cNvPr id="5" name="Un núcleo operativo completo&#10;con un ciclo de ingeniería veri">
            <a:extLst xmlns:a="http://schemas.openxmlformats.org/drawingml/2006/main">
              <a:ext uri="{FF2B5EF4-FFF2-40B4-BE49-F238E27FC236}">
                <a16:creationId xmlns:a16="http://schemas.microsoft.com/office/drawing/2014/main" id="{90D9272F-288A-4FD9-B1AC-BF6EC32D3928}"/>
              </a:ext>
            </a:extLst>
          </p:cNvPr>
          <p:cNvSpPr>
            <a:spLocks xmlns:a="http://schemas.openxmlformats.org/drawingml/2006/main" noGrp="1"/>
          </p:cNvSpPr>
          <p:nvPr/>
        </p:nvSpPr>
        <p:spPr>
          <a:xfrm xmlns:a="http://schemas.openxmlformats.org/drawingml/2006/main">
            <a:off x="609600" y="175260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Un núcleo operativo completo</a:t>
            </a:r>
          </a:p>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con un ciclo de ingeniería verificable</a:t>
            </a:r>
          </a:p>
        </p:txBody>
      </p:sp>
      <p:sp>
        <p:nvSpPr>
          <p:cNvPr id="6" name="Las necesidades se relacionan con el diseño y las pruebas.&#10;C">
            <a:extLst xmlns:a="http://schemas.openxmlformats.org/drawingml/2006/main">
              <a:ext uri="{FF2B5EF4-FFF2-40B4-BE49-F238E27FC236}">
                <a16:creationId xmlns:a16="http://schemas.microsoft.com/office/drawing/2014/main" id="{7407E903-26C8-4499-92A2-C276FE180209}"/>
              </a:ext>
            </a:extLst>
          </p:cNvPr>
          <p:cNvSpPr>
            <a:spLocks xmlns:a="http://schemas.openxmlformats.org/drawingml/2006/main" noGrp="1"/>
          </p:cNvSpPr>
          <p:nvPr/>
        </p:nvSpPr>
        <p:spPr>
          <a:xfrm xmlns:a="http://schemas.openxmlformats.org/drawingml/2006/main">
            <a:off x="609600" y="3562350"/>
            <a:ext cx="10668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Las necesidades se relacionan con el diseño y las pruebas.</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Cada incremento entrega una capacidad utilizable.</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El sistema puede reproducirse y desplegarse siguiendo la documentación.</a:t>
            </a:r>
          </a:p>
        </p:txBody>
      </p:sp>
      <p:sp>
        <p:nvSpPr>
          <p:cNvPr id="7" name="Gracias">
            <a:extLst xmlns:a="http://schemas.openxmlformats.org/drawingml/2006/main">
              <a:ext uri="{FF2B5EF4-FFF2-40B4-BE49-F238E27FC236}">
                <a16:creationId xmlns:a16="http://schemas.microsoft.com/office/drawing/2014/main" id="{F3FDEDAE-6557-4190-B987-7D655BAC325E}"/>
              </a:ext>
            </a:extLst>
          </p:cNvPr>
          <p:cNvSpPr>
            <a:spLocks xmlns:a="http://schemas.openxmlformats.org/drawingml/2006/main" noGrp="1"/>
          </p:cNvSpPr>
          <p:nvPr/>
        </p:nvSpPr>
        <p:spPr>
          <a:xfrm xmlns:a="http://schemas.openxmlformats.org/drawingml/2006/main">
            <a:off x="609600" y="5829300"/>
            <a:ext cx="571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FFFFFF"/>
                </a:solidFill>
                <a:latin typeface="Arial"/>
                <a:ea typeface="Arial"/>
                <a:cs typeface="Arial"/>
              </a:defRPr>
            </a:pPr>
            <a:r>
              <a:rPr sz="2550" b="1">
                <a:solidFill>
                  <a:srgbClr val="FFFFFF"/>
                </a:solidFill>
                <a:latin typeface="Arial"/>
                <a:ea typeface="Arial"/>
                <a:cs typeface="Arial"/>
              </a:rPr>
              <a:t>Gracias</a:t>
            </a:r>
          </a:p>
        </p:txBody>
      </p:sp>
      <p:sp>
        <p:nvSpPr>
          <p:cNvPr id="8" name="Preguntas">
            <a:extLst xmlns:a="http://schemas.openxmlformats.org/drawingml/2006/main">
              <a:ext uri="{FF2B5EF4-FFF2-40B4-BE49-F238E27FC236}">
                <a16:creationId xmlns:a16="http://schemas.microsoft.com/office/drawing/2014/main" id="{5DFEECF5-1D3F-41C1-9FEA-151495A723F5}"/>
              </a:ext>
            </a:extLst>
          </p:cNvPr>
          <p:cNvSpPr>
            <a:spLocks xmlns:a="http://schemas.openxmlformats.org/drawingml/2006/main" noGrp="1"/>
          </p:cNvSpPr>
          <p:nvPr/>
        </p:nvSpPr>
        <p:spPr>
          <a:xfrm xmlns:a="http://schemas.openxmlformats.org/drawingml/2006/main">
            <a:off x="8858250" y="5829300"/>
            <a:ext cx="2724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2100" b="0">
                <a:solidFill>
                  <a:srgbClr val="DFE7EF"/>
                </a:solidFill>
                <a:latin typeface="Arial"/>
                <a:ea typeface="Arial"/>
                <a:cs typeface="Arial"/>
              </a:defRPr>
            </a:pPr>
            <a:r>
              <a:rPr sz="2100" b="0">
                <a:solidFill>
                  <a:srgbClr val="DFE7EF"/>
                </a:solidFill>
                <a:latin typeface="Arial"/>
                <a:ea typeface="Arial"/>
                <a:cs typeface="Arial"/>
              </a:rPr>
              <a:t>Preguntas</a:t>
            </a:r>
          </a:p>
        </p:txBody>
      </p:sp>
      <p:sp>
        <p:nvSpPr>
          <p:cNvPr id="9" name="Pablo Manzanares López · TransitOps">
            <a:extLst xmlns:a="http://schemas.openxmlformats.org/drawingml/2006/main">
              <a:ext uri="{FF2B5EF4-FFF2-40B4-BE49-F238E27FC236}">
                <a16:creationId xmlns:a16="http://schemas.microsoft.com/office/drawing/2014/main" id="{0CC2B2B9-D6E9-44C5-96F2-478DF0EEC2C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D3DCE7"/>
                </a:solidFill>
                <a:latin typeface="Arial"/>
                <a:ea typeface="Arial"/>
                <a:cs typeface="Arial"/>
              </a:defRPr>
            </a:pPr>
            <a:r>
              <a:rPr sz="1050" b="0">
                <a:solidFill>
                  <a:srgbClr val="D3DCE7"/>
                </a:solidFill>
                <a:latin typeface="Arial"/>
                <a:ea typeface="Arial"/>
                <a:cs typeface="Arial"/>
              </a:rPr>
              <a:t>Pablo Manzanares López · TransitOps</a:t>
            </a:r>
          </a:p>
        </p:txBody>
      </p:sp>
    </p:spTree>
    <p:extLst>
      <p:ext uri="{BB962C8B-B14F-4D97-AF65-F5344CB8AC3E}">
        <p14:creationId xmlns:p14="http://schemas.microsoft.com/office/powerpoint/2010/main" val="359043792"/>
      </p:ext>
    </p:extLst>
  </p:cSld>
</p:sld>
</file>

<file path=ppt/slides/slide19.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048774CA-AA6B-437E-855D-19FCD8724325}"/>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Trazabilidad de requisitos">
            <a:extLst xmlns:a="http://schemas.openxmlformats.org/drawingml/2006/main">
              <a:ext uri="{FF2B5EF4-FFF2-40B4-BE49-F238E27FC236}">
                <a16:creationId xmlns:a16="http://schemas.microsoft.com/office/drawing/2014/main" id="{BE3F843D-5958-4872-9B83-A08D0EC37A2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Trazabilidad de requisitos</a:t>
            </a:r>
          </a:p>
        </p:txBody>
      </p:sp>
      <p:sp>
        <p:nvSpPr>
          <p:cNvPr id="3" name="">
            <a:extLst xmlns:a="http://schemas.openxmlformats.org/drawingml/2006/main">
              <a:ext uri="{FF2B5EF4-FFF2-40B4-BE49-F238E27FC236}">
                <a16:creationId xmlns:a16="http://schemas.microsoft.com/office/drawing/2014/main" id="{70CCCDF9-6ED0-42EB-A951-AB929D910786}"/>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A">
            <a:extLst xmlns:a="http://schemas.openxmlformats.org/drawingml/2006/main">
              <a:ext uri="{FF2B5EF4-FFF2-40B4-BE49-F238E27FC236}">
                <a16:creationId xmlns:a16="http://schemas.microsoft.com/office/drawing/2014/main" id="{E47EC5EB-226A-442C-BE46-5D0398D7729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A</a:t>
            </a:r>
          </a:p>
        </p:txBody>
      </p:sp>
      <p:graphicFrame>
        <p:nvGraphicFramePr>
          <p:cNvPr id="11" name=""/>
          <p:cNvGraphicFramePr/>
          <p:nvPr/>
        </p:nvGraphicFramePr>
        <p:xfrm>
          <a:off xmlns:a="http://schemas.openxmlformats.org/drawingml/2006/main" x="609600" y="1657350"/>
          <a:ext xmlns:a="http://schemas.openxmlformats.org/drawingml/2006/main" cx="10972800" cy="4305300"/>
        </p:xfrm>
        <a:graphic xmlns:a="http://schemas.openxmlformats.org/drawingml/2006/main">
          <a:graphicData uri="http://schemas.openxmlformats.org/drawingml/2006/table">
            <a:tbl>
              <a:tblPr firstRow="0" bandRow="0"/>
              <a:tblGrid>
                <a:gridCol w="3209925"/>
                <a:gridCol w="1943100"/>
                <a:gridCol w="5819775"/>
              </a:tblGrid>
              <a:tr h="615043">
                <a:tc>
                  <a:txBody>
                    <a:bodyPr>
                      <a:noAutofit/>
                    </a:bodyPr>
                    <a:lstStyle/>
                    <a:p>
                      <a:r>
                        <a:rPr sz="1725" b="1">
                          <a:solidFill>
                            <a:srgbClr val="FFFFFF"/>
                          </a:solidFill>
                          <a:latin typeface="Arial"/>
                          <a:ea typeface="Arial"/>
                          <a:cs typeface="Arial"/>
                        </a:rPr>
                        <a:t>Requisitos</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principal</a:t>
                      </a:r>
                    </a:p>
                  </a:txBody>
                  <a:tcPr marL="142875" marR="142875" marT="95250" marB="85725" anchor="ctr">
                    <a:solidFill>
                      <a:srgbClr val="14263D"/>
                    </a:solidFill>
                  </a:tcPr>
                </a:tc>
              </a:tr>
              <a:tr h="615043">
                <a:tc>
                  <a:txBody>
                    <a:bodyPr>
                      <a:noAutofit/>
                    </a:bodyPr>
                    <a:lstStyle/>
                    <a:p>
                      <a:r>
                        <a:rPr sz="1725" b="0">
                          <a:solidFill>
                            <a:srgbClr val="14263D"/>
                          </a:solidFill>
                          <a:latin typeface="Arial"/>
                          <a:ea typeface="Arial"/>
                          <a:cs typeface="Arial"/>
                        </a:rPr>
                        <a:t>RF-01, RF-02, RF-13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Acceso, bootstrap y contrato de error</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RF-05–RF-07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Catálogos y conservación histórica</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RF-08, RF-12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Envíos, filtros y fechas</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RF-09, RF-10</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S4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Operación y concurrencia real</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RF-11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Historial, autoría y atomicidad</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RF-03, RF-04, RF-14</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S6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Usuarios, contraseña e indicadores</a:t>
                      </a:r>
                    </a:p>
                  </a:txBody>
                  <a:tcPr marL="142875" marR="142875" marT="95250" marB="85725" anchor="ctr">
                    <a:solidFill>
                      <a:srgbClr val="FFFFFF"/>
                    </a:solidFill>
                  </a:tcPr>
                </a:tc>
              </a:tr>
            </a:tbl>
          </a:graphicData>
        </a:graphic>
      </p:graphicFrame>
      <p:sp>
        <p:nvSpPr>
          <p:cNvPr id="6" name="RF-04 incorpora la recuperación de contraseña administrativa">
            <a:extLst xmlns:a="http://schemas.openxmlformats.org/drawingml/2006/main">
              <a:ext uri="{FF2B5EF4-FFF2-40B4-BE49-F238E27FC236}">
                <a16:creationId xmlns:a16="http://schemas.microsoft.com/office/drawing/2014/main" id="{11C8C354-AC99-4949-80DB-F31F18C4BD6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RF-04 incorpora la recuperación de contraseña administrativa en S7. Memoria, pp. 61–62.</a:t>
            </a:r>
          </a:p>
        </p:txBody>
      </p:sp>
    </p:spTree>
    <p:extLst>
      <p:ext uri="{BB962C8B-B14F-4D97-AF65-F5344CB8AC3E}">
        <p14:creationId xmlns:p14="http://schemas.microsoft.com/office/powerpoint/2010/main" val="1338535927"/>
      </p:ext>
    </p:extLst>
  </p:cSld>
</p:sld>
</file>

<file path=ppt/slides/slide20.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35446519-E420-4BF5-924E-4F0C131B2F5A}"/>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Concurrencia y seguridad">
            <a:extLst xmlns:a="http://schemas.openxmlformats.org/drawingml/2006/main">
              <a:ext uri="{FF2B5EF4-FFF2-40B4-BE49-F238E27FC236}">
                <a16:creationId xmlns:a16="http://schemas.microsoft.com/office/drawing/2014/main" id="{E5DDA19C-2FDD-44D3-9DC9-8A95B4466D23}"/>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Concurrencia y seguridad</a:t>
            </a:r>
          </a:p>
        </p:txBody>
      </p:sp>
      <p:sp>
        <p:nvSpPr>
          <p:cNvPr id="3" name="">
            <a:extLst xmlns:a="http://schemas.openxmlformats.org/drawingml/2006/main">
              <a:ext uri="{FF2B5EF4-FFF2-40B4-BE49-F238E27FC236}">
                <a16:creationId xmlns:a16="http://schemas.microsoft.com/office/drawing/2014/main" id="{B3D3E11C-64F3-48E5-9730-67D0E238ED0A}"/>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B">
            <a:extLst xmlns:a="http://schemas.openxmlformats.org/drawingml/2006/main">
              <a:ext uri="{FF2B5EF4-FFF2-40B4-BE49-F238E27FC236}">
                <a16:creationId xmlns:a16="http://schemas.microsoft.com/office/drawing/2014/main" id="{E0659442-B084-49D2-B9C8-75D002BC0E0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B</a:t>
            </a:r>
          </a:p>
        </p:txBody>
      </p:sp>
      <p:graphicFrame>
        <p:nvGraphicFramePr>
          <p:cNvPr id="11" name=""/>
          <p:cNvGraphicFramePr/>
          <p:nvPr/>
        </p:nvGraphicFramePr>
        <p:xfrm>
          <a:off xmlns:a="http://schemas.openxmlformats.org/drawingml/2006/main" x="609600" y="1695450"/>
          <a:ext xmlns:a="http://schemas.openxmlformats.org/drawingml/2006/main" cx="10972800" cy="3819525"/>
        </p:xfrm>
        <a:graphic xmlns:a="http://schemas.openxmlformats.org/drawingml/2006/main">
          <a:graphicData uri="http://schemas.openxmlformats.org/drawingml/2006/table">
            <a:tbl>
              <a:tblPr firstRow="0" bandRow="0"/>
              <a:tblGrid>
                <a:gridCol w="2952750"/>
                <a:gridCol w="4800600"/>
                <a:gridCol w="3219450"/>
              </a:tblGrid>
              <a:tr h="763905">
                <a:tc>
                  <a:txBody>
                    <a:bodyPr>
                      <a:noAutofit/>
                    </a:bodyPr>
                    <a:lstStyle/>
                    <a:p>
                      <a:r>
                        <a:rPr sz="1650" b="1">
                          <a:solidFill>
                            <a:srgbClr val="FFFFFF"/>
                          </a:solidFill>
                          <a:latin typeface="Arial"/>
                          <a:ea typeface="Arial"/>
                          <a:cs typeface="Arial"/>
                        </a:rPr>
                        <a:t>Riesgo</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Garantía aplicada</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Resultado</a:t>
                      </a:r>
                    </a:p>
                  </a:txBody>
                  <a:tcPr marL="142875" marR="142875" marT="95250" marB="85725" anchor="ctr">
                    <a:solidFill>
                      <a:srgbClr val="14263D"/>
                    </a:solidFill>
                  </a:tcPr>
                </a:tc>
              </a:tr>
              <a:tr h="763905">
                <a:tc>
                  <a:txBody>
                    <a:bodyPr>
                      <a:noAutofit/>
                    </a:bodyPr>
                    <a:lstStyle/>
                    <a:p>
                      <a:r>
                        <a:rPr sz="1650" b="0">
                          <a:solidFill>
                            <a:srgbClr val="14263D"/>
                          </a:solidFill>
                          <a:latin typeface="Arial"/>
                          <a:ea typeface="Arial"/>
                          <a:cs typeface="Arial"/>
                        </a:rPr>
                        <a:t>Doble reserva</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Índices únicos parciales en PostgreSQL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segunda operación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Último administrador</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Bloqueo transaccional y reevaluación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baja incompatible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Token accesible a JavaScript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Cookie HttpOnly, Secure y SameSite=Strict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Menor exposición del token</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Permisos obsoletos</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TokenVersion comprobado por petición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Revocación tras cambio sensible</a:t>
                      </a:r>
                    </a:p>
                  </a:txBody>
                  <a:tcPr marL="142875" marR="142875" marT="95250" marB="85725" anchor="ctr">
                    <a:solidFill>
                      <a:srgbClr val="FFFFFF"/>
                    </a:solidFill>
                  </a:tcPr>
                </a:tc>
              </a:tr>
            </a:tbl>
          </a:graphicData>
        </a:graphic>
      </p:graphicFrame>
      <p:sp>
        <p:nvSpPr>
          <p:cNvPr id="6" name="Memoria, pp. 25–33 y 52–54.">
            <a:extLst xmlns:a="http://schemas.openxmlformats.org/drawingml/2006/main">
              <a:ext uri="{FF2B5EF4-FFF2-40B4-BE49-F238E27FC236}">
                <a16:creationId xmlns:a16="http://schemas.microsoft.com/office/drawing/2014/main" id="{1E640B77-522F-4DAC-847F-F20EED45DF6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25–33 y 52–54.</a:t>
            </a:r>
          </a:p>
        </p:txBody>
      </p:sp>
    </p:spTree>
    <p:extLst>
      <p:ext uri="{BB962C8B-B14F-4D97-AF65-F5344CB8AC3E}">
        <p14:creationId xmlns:p14="http://schemas.microsoft.com/office/powerpoint/2010/main" val="493200015"/>
      </p:ext>
    </p:extLst>
  </p:cSld>
</p:sld>
</file>

<file path=ppt/slides/slide21.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B9A97E54-DD20-4B21-B6B4-94EBC13B6C24}"/>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Planificación y coste">
            <a:extLst xmlns:a="http://schemas.openxmlformats.org/drawingml/2006/main">
              <a:ext uri="{FF2B5EF4-FFF2-40B4-BE49-F238E27FC236}">
                <a16:creationId xmlns:a16="http://schemas.microsoft.com/office/drawing/2014/main" id="{C7DC8EAD-CBF7-4DFC-B373-A0689D4F2988}"/>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Planificación y coste</a:t>
            </a:r>
          </a:p>
        </p:txBody>
      </p:sp>
      <p:sp>
        <p:nvSpPr>
          <p:cNvPr id="3" name="">
            <a:extLst xmlns:a="http://schemas.openxmlformats.org/drawingml/2006/main">
              <a:ext uri="{FF2B5EF4-FFF2-40B4-BE49-F238E27FC236}">
                <a16:creationId xmlns:a16="http://schemas.microsoft.com/office/drawing/2014/main" id="{0DD3D1AF-A990-4322-B0F3-180444B1D88C}"/>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C">
            <a:extLst xmlns:a="http://schemas.openxmlformats.org/drawingml/2006/main">
              <a:ext uri="{FF2B5EF4-FFF2-40B4-BE49-F238E27FC236}">
                <a16:creationId xmlns:a16="http://schemas.microsoft.com/office/drawing/2014/main" id="{870226B4-7E23-4A4E-93DB-F0242200D13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C</a:t>
            </a:r>
          </a:p>
        </p:txBody>
      </p:sp>
      <p:graphicFrame>
        <p:nvGraphicFramePr>
          <p:cNvPr id="11" name=""/>
          <p:cNvGraphicFramePr/>
          <p:nvPr/>
        </p:nvGraphicFramePr>
        <p:xfrm>
          <a:off xmlns:a="http://schemas.openxmlformats.org/drawingml/2006/main" x="609600" y="1647825"/>
          <a:ext xmlns:a="http://schemas.openxmlformats.org/drawingml/2006/main" cx="10972800" cy="4295775"/>
        </p:xfrm>
        <a:graphic xmlns:a="http://schemas.openxmlformats.org/drawingml/2006/main">
          <a:graphicData uri="http://schemas.openxmlformats.org/drawingml/2006/table">
            <a:tbl>
              <a:tblPr firstRow="0" bandRow="0"/>
              <a:tblGrid>
                <a:gridCol w="3248025"/>
                <a:gridCol w="5057775"/>
                <a:gridCol w="2667000"/>
              </a:tblGrid>
              <a:tr h="613682">
                <a:tc>
                  <a:txBody>
                    <a:bodyPr>
                      <a:noAutofit/>
                    </a:bodyPr>
                    <a:lstStyle/>
                    <a:p>
                      <a:r>
                        <a:rPr sz="1725" b="1">
                          <a:solidFill>
                            <a:srgbClr val="FFFFFF"/>
                          </a:solidFill>
                          <a:latin typeface="Arial"/>
                          <a:ea typeface="Arial"/>
                          <a:cs typeface="Arial"/>
                        </a:rPr>
                        <a:t>Concepto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Hipótesis de cálculo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Importe</a:t>
                      </a:r>
                    </a:p>
                  </a:txBody>
                  <a:tcPr marL="142875" marR="142875" marT="95250" marB="85725" anchor="ctr">
                    <a:solidFill>
                      <a:srgbClr val="14263D"/>
                    </a:solidFill>
                  </a:tcPr>
                </a:tc>
              </a:tr>
              <a:tr h="613682">
                <a:tc>
                  <a:txBody>
                    <a:bodyPr>
                      <a:noAutofit/>
                    </a:bodyPr>
                    <a:lstStyle/>
                    <a:p>
                      <a:r>
                        <a:rPr sz="1725" b="0">
                          <a:solidFill>
                            <a:srgbClr val="14263D"/>
                          </a:solidFill>
                          <a:latin typeface="Arial"/>
                          <a:ea typeface="Arial"/>
                          <a:cs typeface="Arial"/>
                        </a:rPr>
                        <a:t>Personal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300 h × 20 €/h</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6.000,00 €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Amortización del equipo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1.200 € × 2,5 / 48 meses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62,50 €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Licencias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Uso libre o gratuito en el proyecto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Infraestructura y servicios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Máquina local y cuotas gratuitas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Costes indirectos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Energía y conectividad estimadas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75,00 €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Total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Valoración profesional hipotética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6.137,50 €</a:t>
                      </a:r>
                    </a:p>
                  </a:txBody>
                  <a:tcPr marL="142875" marR="142875" marT="95250" marB="85725" anchor="ctr">
                    <a:solidFill>
                      <a:srgbClr val="FFFFFF"/>
                    </a:solidFill>
                  </a:tcPr>
                </a:tc>
              </a:tr>
            </a:tbl>
          </a:graphicData>
        </a:graphic>
      </p:graphicFrame>
      <p:sp>
        <p:nvSpPr>
          <p:cNvPr id="6" name="Estimación académica de la memoria, tabla 3.3, p. 13. No rep">
            <a:extLst xmlns:a="http://schemas.openxmlformats.org/drawingml/2006/main">
              <a:ext uri="{FF2B5EF4-FFF2-40B4-BE49-F238E27FC236}">
                <a16:creationId xmlns:a16="http://schemas.microsoft.com/office/drawing/2014/main" id="{7008E7EE-5348-4226-AD6F-5484E1969556}"/>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Estimación académica de la memoria, tabla 3.3, p. 13. No representa dedicación ni gasto reales.</a:t>
            </a:r>
          </a:p>
        </p:txBody>
      </p:sp>
    </p:spTree>
    <p:extLst>
      <p:ext uri="{BB962C8B-B14F-4D97-AF65-F5344CB8AC3E}">
        <p14:creationId xmlns:p14="http://schemas.microsoft.com/office/powerpoint/2010/main" val="958595798"/>
      </p:ext>
    </p:extLst>
  </p:cSld>
</p:sld>
</file>

<file path=ppt/slides/slide22.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869C7F3B-12A0-4434-A0E9-857C4D7C11D5}"/>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Evolución de las pruebas">
            <a:extLst xmlns:a="http://schemas.openxmlformats.org/drawingml/2006/main">
              <a:ext uri="{FF2B5EF4-FFF2-40B4-BE49-F238E27FC236}">
                <a16:creationId xmlns:a16="http://schemas.microsoft.com/office/drawing/2014/main" id="{4D89CD8A-65BB-4520-A065-1B6545D20600}"/>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Evolución de las pruebas</a:t>
            </a:r>
          </a:p>
        </p:txBody>
      </p:sp>
      <p:sp>
        <p:nvSpPr>
          <p:cNvPr id="3" name="">
            <a:extLst xmlns:a="http://schemas.openxmlformats.org/drawingml/2006/main">
              <a:ext uri="{FF2B5EF4-FFF2-40B4-BE49-F238E27FC236}">
                <a16:creationId xmlns:a16="http://schemas.microsoft.com/office/drawing/2014/main" id="{3A37468E-2499-4906-B8E0-141A72775865}"/>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D">
            <a:extLst xmlns:a="http://schemas.openxmlformats.org/drawingml/2006/main">
              <a:ext uri="{FF2B5EF4-FFF2-40B4-BE49-F238E27FC236}">
                <a16:creationId xmlns:a16="http://schemas.microsoft.com/office/drawing/2014/main" id="{FD2FCD6D-B76C-48D3-8738-441240CC0AB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D</a:t>
            </a:r>
          </a:p>
        </p:txBody>
      </p:sp>
      <p:graphicFrame>
        <p:nvGraphicFramePr>
          <p:cNvPr id="11" name=""/>
          <p:cNvGraphicFramePr/>
          <p:nvPr/>
        </p:nvGraphicFramePr>
        <p:xfrm>
          <a:off xmlns:a="http://schemas.openxmlformats.org/drawingml/2006/main" x="1619250" y="1619250"/>
          <a:ext xmlns:a="http://schemas.openxmlformats.org/drawingml/2006/main" cx="8953500" cy="4343400"/>
        </p:xfrm>
        <a:graphic xmlns:a="http://schemas.openxmlformats.org/drawingml/2006/main">
          <a:graphicData uri="http://schemas.openxmlformats.org/drawingml/2006/table">
            <a:tbl>
              <a:tblPr firstRow="0" bandRow="0"/>
              <a:tblGrid>
                <a:gridCol w="2190750"/>
                <a:gridCol w="2095500"/>
                <a:gridCol w="2095500"/>
                <a:gridCol w="2571750"/>
              </a:tblGrid>
              <a:tr h="542925">
                <a:tc>
                  <a:txBody>
                    <a:bodyPr>
                      <a:noAutofit/>
                    </a:bodyPr>
                    <a:lstStyle/>
                    <a:p>
                      <a:r>
                        <a:rPr sz="1800" b="1">
                          <a:solidFill>
                            <a:srgbClr val="FFFFFF"/>
                          </a:solidFill>
                          <a:latin typeface="Arial"/>
                          <a:ea typeface="Arial"/>
                          <a:cs typeface="Arial"/>
                        </a:rPr>
                        <a:t>Sprint</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Backend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Frontend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Sistema</a:t>
                      </a:r>
                    </a:p>
                  </a:txBody>
                  <a:tcPr marL="142875" marR="142875" marT="95250" marB="85725" anchor="ctr">
                    <a:solidFill>
                      <a:srgbClr val="14263D"/>
                    </a:solidFill>
                  </a:tcPr>
                </a:tc>
              </a:tr>
              <a:tr h="542925">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96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127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30</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 flujos E2E</a:t>
                      </a:r>
                    </a:p>
                  </a:txBody>
                  <a:tcPr marL="142875" marR="142875" marT="95250" marB="85725" anchor="ctr">
                    <a:solidFill>
                      <a:srgbClr val="FFFFFF"/>
                    </a:solidFill>
                  </a:tcPr>
                </a:tc>
              </a:tr>
            </a:tbl>
          </a:graphicData>
        </a:graphic>
      </p:graphicFrame>
      <p:sp>
        <p:nvSpPr>
          <p:cNvPr id="6" name="Recuentos acumulados documentados al cierre de cada sprint. ">
            <a:extLst xmlns:a="http://schemas.openxmlformats.org/drawingml/2006/main">
              <a:ext uri="{FF2B5EF4-FFF2-40B4-BE49-F238E27FC236}">
                <a16:creationId xmlns:a16="http://schemas.microsoft.com/office/drawing/2014/main" id="{496DB5EC-92A8-4775-A79A-A4FC5EA864F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acumulados documentados al cierre de cada sprint. No representan porcentaje de cobertura. Memoria, pp. 49–52.</a:t>
            </a:r>
          </a:p>
        </p:txBody>
      </p:sp>
    </p:spTree>
    <p:extLst>
      <p:ext uri="{BB962C8B-B14F-4D97-AF65-F5344CB8AC3E}">
        <p14:creationId xmlns:p14="http://schemas.microsoft.com/office/powerpoint/2010/main" val="1642484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2026-09-20T11:14:30.3700000Z</dcterms:created>
  <dcterms:modified xsi:type="dcterms:W3CDTF">2026-09-20T11:14:30.3700000Z</dcterms:modified>
</coreProperties>
</file>