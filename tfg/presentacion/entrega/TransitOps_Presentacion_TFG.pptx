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2.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71f27e28b17417a" /><Relationship Type="http://schemas.openxmlformats.org/officeDocument/2006/relationships/extended-properties" Target="/docProps/app.xml" Id="Rbb422649e24343fc" /><Relationship Type="http://schemas.openxmlformats.org/officeDocument/2006/relationships/officeDocument" Target="/ppt/presentation.xml" Id="Re0ec9f6a50e14714" /></Relationships>
</file>

<file path=ppt/presentation.xml><?xml version="1.0" encoding="utf-8"?>
<p:presentation xmlns:p="http://schemas.openxmlformats.org/presentationml/2006/main">
  <p:sldMasterIdLst>
    <p:sldMasterId xmlns:r="http://schemas.openxmlformats.org/officeDocument/2006/relationships" id="2147483648" r:id="Rde3543d21dff4658"/>
  </p:sldMasterIdLst>
  <p:notesMasterIdLst>
    <p:notesMasterId xmlns:r="http://schemas.openxmlformats.org/officeDocument/2006/relationships" r:id="Rcad013ec5fb047d6"/>
  </p:notesMasterIdLst>
  <p:sldIdLst>
    <p:sldId xmlns:r="http://schemas.openxmlformats.org/officeDocument/2006/relationships" id="256" r:id="R1e1a48b4afa64c5f"/>
    <p:sldId xmlns:r="http://schemas.openxmlformats.org/officeDocument/2006/relationships" id="257" r:id="R2ae7e5f7fbef4d61"/>
    <p:sldId xmlns:r="http://schemas.openxmlformats.org/officeDocument/2006/relationships" id="258" r:id="R9ef70fbb439e47a3"/>
    <p:sldId xmlns:r="http://schemas.openxmlformats.org/officeDocument/2006/relationships" id="259" r:id="R92141f1e7fc84a46"/>
    <p:sldId xmlns:r="http://schemas.openxmlformats.org/officeDocument/2006/relationships" id="260" r:id="Rbedd65315f78458b"/>
    <p:sldId xmlns:r="http://schemas.openxmlformats.org/officeDocument/2006/relationships" id="261" r:id="R543348e6cd4e4d8a"/>
    <p:sldId xmlns:r="http://schemas.openxmlformats.org/officeDocument/2006/relationships" id="262" r:id="R0d951aa2bd404002"/>
    <p:sldId xmlns:r="http://schemas.openxmlformats.org/officeDocument/2006/relationships" id="263" r:id="R6e088df07d3640bf"/>
    <p:sldId xmlns:r="http://schemas.openxmlformats.org/officeDocument/2006/relationships" id="264" r:id="R36af2ab00c534e6c"/>
    <p:sldId xmlns:r="http://schemas.openxmlformats.org/officeDocument/2006/relationships" id="265" r:id="R07254e5c4e594052"/>
    <p:sldId xmlns:r="http://schemas.openxmlformats.org/officeDocument/2006/relationships" id="266" r:id="Rb4727e2e25a644ad"/>
    <p:sldId xmlns:r="http://schemas.openxmlformats.org/officeDocument/2006/relationships" id="267" r:id="R8ed272c820084959"/>
    <p:sldId xmlns:r="http://schemas.openxmlformats.org/officeDocument/2006/relationships" id="268" r:id="Ra261868a98d84106"/>
    <p:sldId xmlns:r="http://schemas.openxmlformats.org/officeDocument/2006/relationships" id="269" r:id="Rc2440a9d14e648a5"/>
    <p:sldId xmlns:r="http://schemas.openxmlformats.org/officeDocument/2006/relationships" id="270" r:id="R73d0e23e844e4473"/>
    <p:sldId xmlns:r="http://schemas.openxmlformats.org/officeDocument/2006/relationships" id="271" r:id="R6af7a1bc1bf3497f"/>
    <p:sldId xmlns:r="http://schemas.openxmlformats.org/officeDocument/2006/relationships" id="272" r:id="R444e5fc764944bc4"/>
    <p:sldId xmlns:r="http://schemas.openxmlformats.org/officeDocument/2006/relationships" id="273" r:id="Rad1691dbfb744c9a"/>
    <p:sldId xmlns:r="http://schemas.openxmlformats.org/officeDocument/2006/relationships" id="274" r:id="Re91764a2fed342d2"/>
    <p:sldId xmlns:r="http://schemas.openxmlformats.org/officeDocument/2006/relationships" id="275" r:id="R083407525be849bb"/>
    <p:sldId xmlns:r="http://schemas.openxmlformats.org/officeDocument/2006/relationships" id="276" r:id="R47c5ed3d71b0446c"/>
    <p:sldId xmlns:r="http://schemas.openxmlformats.org/officeDocument/2006/relationships" id="277" r:id="R81588561320b4b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dc609d0baa54906" /><Relationship Type="http://schemas.openxmlformats.org/officeDocument/2006/relationships/slideMaster" Target="/ppt/slideMasters/slideMaster1.xml" Id="Rde3543d21dff4658" /><Relationship Type="http://schemas.openxmlformats.org/officeDocument/2006/relationships/notesMaster" Target="/ppt/notesMasters/notesMaster1.xml" Id="Rcad013ec5fb047d6" /><Relationship Type="http://schemas.openxmlformats.org/officeDocument/2006/relationships/presProps" Target="/ppt/presProps.xml" Id="Rf3f266181ab6434e" /><Relationship Type="http://schemas.openxmlformats.org/officeDocument/2006/relationships/tableStyles" Target="/ppt/tableStyles.xml" Id="R43fb2fa972ac42dc" /><Relationship Type="http://schemas.openxmlformats.org/officeDocument/2006/relationships/slide" Target="/ppt/slides/slide1.xml" Id="R1e1a48b4afa64c5f" /><Relationship Type="http://schemas.openxmlformats.org/officeDocument/2006/relationships/slide" Target="/ppt/slides/slide2.xml" Id="R2ae7e5f7fbef4d61" /><Relationship Type="http://schemas.openxmlformats.org/officeDocument/2006/relationships/slide" Target="/ppt/slides/slide3.xml" Id="R9ef70fbb439e47a3" /><Relationship Type="http://schemas.openxmlformats.org/officeDocument/2006/relationships/slide" Target="/ppt/slides/slide4.xml" Id="R92141f1e7fc84a46" /><Relationship Type="http://schemas.openxmlformats.org/officeDocument/2006/relationships/slide" Target="/ppt/slides/slide5.xml" Id="Rbedd65315f78458b" /><Relationship Type="http://schemas.openxmlformats.org/officeDocument/2006/relationships/slide" Target="/ppt/slides/slide6.xml" Id="R543348e6cd4e4d8a" /><Relationship Type="http://schemas.openxmlformats.org/officeDocument/2006/relationships/slide" Target="/ppt/slides/slide7.xml" Id="R0d951aa2bd404002" /><Relationship Type="http://schemas.openxmlformats.org/officeDocument/2006/relationships/slide" Target="/ppt/slides/slide8.xml" Id="R6e088df07d3640bf" /><Relationship Type="http://schemas.openxmlformats.org/officeDocument/2006/relationships/slide" Target="/ppt/slides/slide9.xml" Id="R36af2ab00c534e6c" /><Relationship Type="http://schemas.openxmlformats.org/officeDocument/2006/relationships/slide" Target="/ppt/slides/slide10.xml" Id="R07254e5c4e594052" /><Relationship Type="http://schemas.openxmlformats.org/officeDocument/2006/relationships/slide" Target="/ppt/slides/slide11.xml" Id="Rb4727e2e25a644ad" /><Relationship Type="http://schemas.openxmlformats.org/officeDocument/2006/relationships/slide" Target="/ppt/slides/slide12.xml" Id="R8ed272c820084959" /><Relationship Type="http://schemas.openxmlformats.org/officeDocument/2006/relationships/slide" Target="/ppt/slides/slide13.xml" Id="Ra261868a98d84106" /><Relationship Type="http://schemas.openxmlformats.org/officeDocument/2006/relationships/slide" Target="/ppt/slides/slide14.xml" Id="Rc2440a9d14e648a5" /><Relationship Type="http://schemas.openxmlformats.org/officeDocument/2006/relationships/slide" Target="/ppt/slides/slide15.xml" Id="R73d0e23e844e4473" /><Relationship Type="http://schemas.openxmlformats.org/officeDocument/2006/relationships/slide" Target="/ppt/slides/slide16.xml" Id="R6af7a1bc1bf3497f" /><Relationship Type="http://schemas.openxmlformats.org/officeDocument/2006/relationships/slide" Target="/ppt/slides/slide17.xml" Id="R444e5fc764944bc4" /><Relationship Type="http://schemas.openxmlformats.org/officeDocument/2006/relationships/slide" Target="/ppt/slides/slide18.xml" Id="Rad1691dbfb744c9a" /><Relationship Type="http://schemas.openxmlformats.org/officeDocument/2006/relationships/slide" Target="/ppt/slides/slide19.xml" Id="Re91764a2fed342d2" /><Relationship Type="http://schemas.openxmlformats.org/officeDocument/2006/relationships/slide" Target="/ppt/slides/slide20.xml" Id="R083407525be849bb" /><Relationship Type="http://schemas.openxmlformats.org/officeDocument/2006/relationships/slide" Target="/ppt/slides/slide21.xml" Id="R47c5ed3d71b0446c" /><Relationship Type="http://schemas.openxmlformats.org/officeDocument/2006/relationships/slide" Target="/ppt/slides/slide22.xml" Id="R81588561320b4b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3df2d686c5149f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a68489316174552" /><Relationship Type="http://schemas.openxmlformats.org/officeDocument/2006/relationships/notesMaster" Target="/ppt/notesMasters/notesMaster1.xml" Id="Rece1276fb584407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52f866332a4196" /><Relationship Type="http://schemas.openxmlformats.org/officeDocument/2006/relationships/notesMaster" Target="/ppt/notesMasters/notesMaster1.xml" Id="Rc4a69ec7f47642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e9312d4fca1b4de1" /><Relationship Type="http://schemas.openxmlformats.org/officeDocument/2006/relationships/notesMaster" Target="/ppt/notesMasters/notesMaster1.xml" Id="R3720f524d8e34f2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e1c26ac2b64ab8" /><Relationship Type="http://schemas.openxmlformats.org/officeDocument/2006/relationships/notesMaster" Target="/ppt/notesMasters/notesMaster1.xml" Id="Rbc648ae3bd0243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2532613e434793" /><Relationship Type="http://schemas.openxmlformats.org/officeDocument/2006/relationships/notesMaster" Target="/ppt/notesMasters/notesMaster1.xml" Id="Rbd20c13eb8c44724" /></Relationships>
</file>

<file path=ppt/notesSlides/_rels/notesSlide6.xml.rels>&#65279;<?xml version="1.0" encoding="utf-8"?><Relationships xmlns="http://schemas.openxmlformats.org/package/2006/relationships"><Relationship Type="http://schemas.openxmlformats.org/officeDocument/2006/relationships/slide" Target="/ppt/slides/slide6.xml" Id="R9a9ee2f125c5436f" /><Relationship Type="http://schemas.openxmlformats.org/officeDocument/2006/relationships/notesMaster" Target="/ppt/notesMasters/notesMaster1.xml" Id="R86c854a491e74136" /></Relationships>
</file>

<file path=ppt/notesSlides/_rels/notesSlide7.xml.rels>&#65279;<?xml version="1.0" encoding="utf-8"?><Relationships xmlns="http://schemas.openxmlformats.org/package/2006/relationships"><Relationship Type="http://schemas.openxmlformats.org/officeDocument/2006/relationships/slide" Target="/ppt/slides/slide7.xml" Id="R5e17605fa8624041" /><Relationship Type="http://schemas.openxmlformats.org/officeDocument/2006/relationships/notesMaster" Target="/ppt/notesMasters/notesMaster1.xml" Id="R49229820abfd437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d1f7b5580de4b52" /><Relationship Type="http://schemas.openxmlformats.org/officeDocument/2006/relationships/notesMaster" Target="/ppt/notesMasters/notesMaster1.xml" Id="R8552f61381ab44c3" /></Relationships>
</file>

<file path=ppt/notesSlides/_rels/notesSlide9.xml.rels>&#65279;<?xml version="1.0" encoding="utf-8"?><Relationships xmlns="http://schemas.openxmlformats.org/package/2006/relationships"><Relationship Type="http://schemas.openxmlformats.org/officeDocument/2006/relationships/slide" Target="/ppt/slides/slide9.xml" Id="Rcee8bac099014d9d" /><Relationship Type="http://schemas.openxmlformats.org/officeDocument/2006/relationships/notesMaster" Target="/ppt/notesMasters/notesMaster1.xml" Id="R7f3f679ea7b54f8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8ce90e922e94b23" /><Relationship Type="http://schemas.openxmlformats.org/officeDocument/2006/relationships/notesMaster" Target="/ppt/notesMasters/notesMaster1.xml" Id="R5619de9a127c444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8abb8504a5a41a0" /><Relationship Type="http://schemas.openxmlformats.org/officeDocument/2006/relationships/notesMaster" Target="/ppt/notesMasters/notesMaster1.xml" Id="R302c17549351440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3e42927b77a483f" /><Relationship Type="http://schemas.openxmlformats.org/officeDocument/2006/relationships/notesMaster" Target="/ppt/notesMasters/notesMaster1.xml" Id="Rb7abbaaea57041d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1d29650ac0c4fc9" /><Relationship Type="http://schemas.openxmlformats.org/officeDocument/2006/relationships/notesMaster" Target="/ppt/notesMasters/notesMaster1.xml" Id="R343b8a99cd4c436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fa87b8ec9d4034" /><Relationship Type="http://schemas.openxmlformats.org/officeDocument/2006/relationships/notesMaster" Target="/ppt/notesMasters/notesMaster1.xml" Id="Rfb5e4534220c47e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d06876cb7e3486d" /><Relationship Type="http://schemas.openxmlformats.org/officeDocument/2006/relationships/notesMaster" Target="/ppt/notesMasters/notesMaster1.xml" Id="Rfa438ff650ad49b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ee0a3669a2547c3" /><Relationship Type="http://schemas.openxmlformats.org/officeDocument/2006/relationships/notesMaster" Target="/ppt/notesMasters/notesMaster1.xml" Id="R57721266404e40d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0742422275243e5" /><Relationship Type="http://schemas.openxmlformats.org/officeDocument/2006/relationships/notesMaster" Target="/ppt/notesMasters/notesMaster1.xml" Id="R4b6b662bbaff4d4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13d618718714cb3" /><Relationship Type="http://schemas.openxmlformats.org/officeDocument/2006/relationships/notesMaster" Target="/ppt/notesMasters/notesMaster1.xml" Id="R1ae904ed3d654b9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de2a45067dc40b6" /><Relationship Type="http://schemas.openxmlformats.org/officeDocument/2006/relationships/notesMaster" Target="/ppt/notesMasters/notesMaster1.xml" Id="R2ab71efba9584f5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f53777844294604" /><Relationship Type="http://schemas.openxmlformats.org/officeDocument/2006/relationships/notesMaster" Target="/ppt/notesMasters/notesMaster1.xml" Id="R46940f6a412f452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8fb09797a354f41" /><Relationship Type="http://schemas.openxmlformats.org/officeDocument/2006/relationships/notesMaster" Target="/ppt/notesMasters/notesMaster1.xml" Id="Rca9cb8f0849d4c3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d00b2d42fb9478e" /><Relationship Type="http://schemas.openxmlformats.org/officeDocument/2006/relationships/notesMaster" Target="/ppt/notesMasters/notesMaster1.xml" Id="R1a79294b71c6478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0:30. Tramo 0:00–0:30.</a:t>
            </a:r>
          </a:p>
          <a:p xmlns:a="http://schemas.openxmlformats.org/drawingml/2006/main">
            <a:r>
              <a:t/>
            </a:r>
          </a:p>
          <a:p xmlns:a="http://schemas.openxmlformats.org/drawingml/2006/main">
            <a:r>
              <a:t>Buenos días. Soy Pablo Manzanares López y voy a presentar TransitOps, mi Trabajo Fin de Grado, dirigido por Paula María Castro Castro. El trabajo consiste en diseñar y desarrollar una aplicación de gestión de transportes y recorrer de forma verificable su ciclo de vida completo. Explicaré el problema y el alcance, las decisiones de construcción y las evidencias con las que evalué el resultado.</a:t>
            </a:r>
          </a:p>
          <a:p xmlns:a="http://schemas.openxmlformats.org/drawingml/2006/main">
            <a:r>
              <a:t/>
            </a:r>
          </a:p>
          <a:p xmlns:a="http://schemas.openxmlformats.org/drawingml/2006/main">
            <a:r>
              <a:t>FUENTES</a:t>
            </a:r>
          </a:p>
          <a:p xmlns:a="http://schemas.openxmlformats.org/drawingml/2006/main">
            <a:r>
              <a:t>Memoria, portada y capítulo 1, pp.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0:55. Tramo 0:30–1:25.</a:t>
            </a:r>
          </a:p>
          <a:p xmlns:a="http://schemas.openxmlformats.org/drawingml/2006/main">
            <a:r>
              <a:t/>
            </a:r>
          </a:p>
          <a:p xmlns:a="http://schemas.openxmlformats.org/drawingml/2006/main">
            <a:r>
              <a:t>El punto de partida es una pyme de transporte que coordina vehículos, conductores, clientes y envíos. Si la información está repartida entre hojas de cálculo, mensajes y llamadas, saber qué recurso está libre o reconstruir una incidencia exige consultar varias fuentes. Esto favorece reservas incompatibles y pérdida de contexto. Para concretar las necesidades utilicé una entrevista simulada con una responsable de operaciones de una empresa ficticia. Es una distinción relevante: el proyecto responde a un caso de dominio definido, pero no parte de un estudio de campo ni permite afirmar mejoras de productividad medidas en una empresa real. TransitOps centraliza la operación y hace explícitas sus reglas.</a:t>
            </a:r>
          </a:p>
          <a:p xmlns:a="http://schemas.openxmlformats.org/drawingml/2006/main">
            <a:r>
              <a:t/>
            </a:r>
          </a:p>
          <a:p xmlns:a="http://schemas.openxmlformats.org/drawingml/2006/main">
            <a:r>
              <a:t>FUENTES</a:t>
            </a:r>
          </a:p>
          <a:p xmlns:a="http://schemas.openxmlformats.org/drawingml/2006/main">
            <a:r>
              <a:t>Memoria, capítulos 1 y 4.1, pp. 1–3 y 15. docs/ClientRequirements.md.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1:25–2:30.</a:t>
            </a:r>
          </a:p>
          <a:p xmlns:a="http://schemas.openxmlformats.org/drawingml/2006/main">
            <a:r>
              <a:t/>
            </a:r>
          </a:p>
          <a:p xmlns:a="http://schemas.openxmlformats.org/drawingml/2006/main">
            <a:r>
              <a:t>El objetivo general fue construir una aplicación mantenible y demostrar cómo se pasa de una necesidad a un sistema integrado, probado y desplegado. La especificación contiene catorce requisitos funcionales, diecisiete reglas de negocio y seis requisitos no funcionales. El operador gestiona catálogos y envíos, asigna recursos y registra lo que ocurre. El administrador añade la gestión de cuentas y permisos. Conductores y clientes son datos del dominio, no usuarios de la aplicación. Delimité el alcance al núcleo operativo. Optimización de rutas, GPS, facturación y acceso externo quedaron fuera. Esa decisión permitió dedicar esfuerzo a pruebas, reproducibilidad y evaluación, además de a la funcionalidad. Los cuatro casos de uso completos son el criterio de integración que retomaré en la validación.</a:t>
            </a:r>
          </a:p>
          <a:p xmlns:a="http://schemas.openxmlformats.org/drawingml/2006/main">
            <a:r>
              <a:t/>
            </a:r>
          </a:p>
          <a:p xmlns:a="http://schemas.openxmlformats.org/drawingml/2006/main">
            <a:r>
              <a:t>FUENTES</a:t>
            </a:r>
          </a:p>
          <a:p xmlns:a="http://schemas.openxmlformats.org/drawingml/2006/main">
            <a:r>
              <a:t>Memoria, apartados 1.2, 1.3 y capítulo 4, pp. 2–3 y 15–21. docs/Requirements.md.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1:10. Tramo 2:30–3:40.</a:t>
            </a:r>
          </a:p>
          <a:p xmlns:a="http://schemas.openxmlformats.org/drawingml/2006/main">
            <a:r>
              <a:t/>
            </a:r>
          </a:p>
          <a:p xmlns:a="http://schemas.openxmlformats.org/drawingml/2006/main">
            <a:r>
              <a:t>Seguí un proceso iterativo e incremental adaptado a un trabajo individual. Cada incremento incluye las partes necesarias para usar una capacidad: datos, servicio, API, pantalla y pruebas. El primer sprint fue un esqueleto autenticado que cruzaba todas las capas y comprobaba pronto la integración. Después añadí catálogos, envíos, operación, historial y administración. El séptimo incremento consolidó seguridad, concurrencia y despliegue. El octavo corresponde al cierre documental y la defensa. Diseñé el modelo conceptual completo al principio para mantener coherencia, pero incorporé físicamente las tablas cuando existía comportamiento que las utilizaba. Para cerrar un incremento exigí flujo integrado, pruebas, compilación y evidencia documentada. La trazabilidad conserva la relación entre la necesidad inicial y la forma de comprobarla.</a:t>
            </a:r>
          </a:p>
          <a:p xmlns:a="http://schemas.openxmlformats.org/drawingml/2006/main">
            <a:r>
              <a:t/>
            </a:r>
          </a:p>
          <a:p xmlns:a="http://schemas.openxmlformats.org/drawingml/2006/main">
            <a:r>
              <a:t>FUENTES</a:t>
            </a:r>
          </a:p>
          <a:p xmlns:a="http://schemas.openxmlformats.org/drawingml/2006/main">
            <a:r>
              <a:t>Memoria, capítulo 3 y tabla 3.1, pp. 9–14. docs/Roadmap.md.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0:50. Tramo 3:40–4:30.</a:t>
            </a:r>
          </a:p>
          <a:p xmlns:a="http://schemas.openxmlformats.org/drawingml/2006/main">
            <a:r>
              <a:t/>
            </a:r>
          </a:p>
          <a:p xmlns:a="http://schemas.openxmlformats.org/drawingml/2006/main">
            <a:r>
              <a:t>La planificación parte de trescientas horas, equivalentes a doce créditos a veinticinco horas, distribuidas en diez semanas efectivas. Son una estimación de alcance, no una medición retrospectiva. La implementación suma ciento cuarenta horas. Las otras ciento sesenta corresponden a análisis, diseño, verificación, despliegue y documentación. El reparto expresa el enfoque de ciclo completo. La valoración profesional estimada asciende a seis mil ciento treinta y siete euros con cincuenta céntimos, principalmente por las trescientas horas a veinte euros. No representa un desembolso del autor ni una tarifa de mercado contrastada en este trabajo. El detalle de cálculo queda en las diapositivas de apoyo.</a:t>
            </a:r>
          </a:p>
          <a:p xmlns:a="http://schemas.openxmlformats.org/drawingml/2006/main">
            <a:r>
              <a:t/>
            </a:r>
          </a:p>
          <a:p xmlns:a="http://schemas.openxmlformats.org/drawingml/2006/main">
            <a:r>
              <a:t>FUENTES</a:t>
            </a:r>
          </a:p>
          <a:p xmlns:a="http://schemas.openxmlformats.org/drawingml/2006/main">
            <a:r>
              <a:t>Memoria, apartados 3.3–3.4 y tablas 3.2–3.3, pp. 11–13. Las 300 h son planificación, no registro real de dedicación. Agrupación de horas: análisis/diseño 30+40, implementación 80+60, verificación/despliegue 45+20, memoria 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1:15. Tramo 4:30–5:45.</a:t>
            </a:r>
          </a:p>
          <a:p xmlns:a="http://schemas.openxmlformats.org/drawingml/2006/main">
            <a:r>
              <a:t/>
            </a:r>
          </a:p>
          <a:p xmlns:a="http://schemas.openxmlformats.org/drawingml/2006/main">
            <a:r>
              <a:t>La arquitectura separa React con TypeScript, una API ASP.NET Core sobre .NET 10 y PostgreSQL mediante Entity Framework Core. En contenedores, Nginx sirve la aplicación y reenvía las peticiones bajo /api, por lo que el navegador trabaja en un mismo origen. La API concentra autorización, validación y reglas. El frontend se ocupa de interacción y presentación. En el backend, los controladores traducen HTTP y delegan en servicios organizados por funcionalidad. Esta estructura permite probar reglas sin levantar todo el servidor y reservar otras pruebas para el contrato HTTP. Elegí una única API modular porque el alcance no justificaba coordinación entre servicios distribuidos. PostgreSQL aporta las relaciones y las garantías de integridad que exige el dominio. Docker Compose hace reproducible la integración. El JWT del esquema viaja actualmente en una cookie HttpOnly.</a:t>
            </a:r>
          </a:p>
          <a:p xmlns:a="http://schemas.openxmlformats.org/drawingml/2006/main">
            <a:r>
              <a:t/>
            </a:r>
          </a:p>
          <a:p xmlns:a="http://schemas.openxmlformats.org/drawingml/2006/main">
            <a:r>
              <a:t>FUENTES</a:t>
            </a:r>
          </a:p>
          <a:p xmlns:a="http://schemas.openxmlformats.org/drawingml/2006/main">
            <a:r>
              <a:t>Memoria, capítulos 2 y 5, pp. 4–8 y 22–24. Figura 5.1, p. 22, reproducida del PDF. docs/design/IntegrationArchitecture.md.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0:55. Tramo 5:45–6:40.</a:t>
            </a:r>
          </a:p>
          <a:p xmlns:a="http://schemas.openxmlformats.org/drawingml/2006/main">
            <a:r>
              <a:t/>
            </a:r>
          </a:p>
          <a:p xmlns:a="http://schemas.openxmlformats.org/drawingml/2006/main">
            <a:r>
              <a:t>El envío es el agregado operativo central. Puede vincular un cliente y, cuando se asigna, una pareja de vehículo y conductor. Los eventos pertenecen al envío y conservan la identidad de quien actúa. El modelo tiene seis entidades principales. La decisión relevante es cómo conservar la historia: usuarios y catálogos se desactivan mediante baja lógica, mientras las referencias históricas siguen siendo resolubles. Los estados indican la vigencia del envío y la API no ofrece su borrado. Un recurso inactivo deja de estar disponible para nuevas operaciones, pero no desaparece de una operación pasada. El esquema evoluciona con migraciones versionadas. La figura resume las relaciones del dominio, sin pretender enumerar todos los atributos e índices del endurecimiento.</a:t>
            </a:r>
          </a:p>
          <a:p xmlns:a="http://schemas.openxmlformats.org/drawingml/2006/main">
            <a:r>
              <a:t/>
            </a:r>
          </a:p>
          <a:p xmlns:a="http://schemas.openxmlformats.org/drawingml/2006/main">
            <a:r>
              <a:t>FUENTES</a:t>
            </a:r>
          </a:p>
          <a:p xmlns:a="http://schemas.openxmlformats.org/drawingml/2006/main">
            <a:r>
              <a:t>Memoria, apartado 5.2 y figura 5.2, p. 23. Apartados 6.4 y 6.7, pp. 27–28 y 30–32. docs/design/DataModel.md. La figura representa las relaciones principales, no todos los campos ni índices finales.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6:40–7:45.</a:t>
            </a:r>
          </a:p>
          <a:p xmlns:a="http://schemas.openxmlformats.org/drawingml/2006/main">
            <a:r>
              <a:t/>
            </a:r>
          </a:p>
          <a:p xmlns:a="http://schemas.openxmlformats.org/drawingml/2006/main">
            <a:r>
              <a:t>El comportamiento principal se expresa mediante una máquina de estados cerrada. Un envío nace planificado. Puede iniciarse solo cuando tiene vehículo y conductor, y desde ese momento puede entregarse o cancelarse. También puede cancelarse antes de comenzar. Entregado y cancelado son estados terminales. La asignación se modifica únicamente en estado planificado y siempre recibe la pareja completa. Para iniciar y entregar, el servidor sella las fechas reales con su reloj UTC. Estas acciones tienen endpoints explícitos, lo que expresa la intención y centraliza las precondiciones. No se permite modificar libremente el estado dentro de una edición genérica. La interfaz ofrece las acciones pertinentes, mientras el servidor vuelve a comprobar cada regla.</a:t>
            </a:r>
          </a:p>
          <a:p xmlns:a="http://schemas.openxmlformats.org/drawingml/2006/main">
            <a:r>
              <a:t/>
            </a:r>
          </a:p>
          <a:p xmlns:a="http://schemas.openxmlformats.org/drawingml/2006/main">
            <a:r>
              <a:t>FUENTES</a:t>
            </a:r>
          </a:p>
          <a:p xmlns:a="http://schemas.openxmlformats.org/drawingml/2006/main">
            <a:r>
              <a:t>Memoria, apartado 6.6 y figura 6.1, pp. 29–30. RF-09, RF-10 y RN-02–RN-08. TransitOps.Api/Features/Shipments/ShipmentService.cs.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1:00. Tramo 7:45–8:45.</a:t>
            </a:r>
          </a:p>
          <a:p xmlns:a="http://schemas.openxmlformats.org/drawingml/2006/main">
            <a:r>
              <a:t/>
            </a:r>
          </a:p>
          <a:p xmlns:a="http://schemas.openxmlformats.org/drawingml/2006/main">
            <a:r>
              <a:t>Esta captura de la memoria muestra un ejemplo concreto del flujo. El envío tiene una carga estimada de cuatro mil quinientos kilos y se asigna un vehículo con capacidad registrada de tres mil. Según RN-05, el sistema confirma la asignación y presenta una advertencia. La regla especificada es informativa, a diferencia de una doble reserva, que sí bloquea la operación. La respuesta devuelve capacityWarning como un dato transitorio, sin guardar un indicador que podría quedar obsoleto al cambiar la carga. La captura corresponde a datos de prueba del Sprint 4. Sirve para observar cómo una decisión de negocio se convierte en comportamiento de API y en un mensaje comprensible para el operador.</a:t>
            </a:r>
          </a:p>
          <a:p xmlns:a="http://schemas.openxmlformats.org/drawingml/2006/main">
            <a:r>
              <a:t/>
            </a:r>
          </a:p>
          <a:p xmlns:a="http://schemas.openxmlformats.org/drawingml/2006/main">
            <a:r>
              <a:t>FUENTES</a:t>
            </a:r>
          </a:p>
          <a:p xmlns:a="http://schemas.openxmlformats.org/drawingml/2006/main">
            <a:r>
              <a:t>Memoria, apartado 6.6 y figura 7.5, pp. 30 y 39. Captura original: imaxes/aviso-capacidad-sprint4.png. Datos de prueba del Sprint 4, no operación real.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8:45–9:50.</a:t>
            </a:r>
          </a:p>
          <a:p xmlns:a="http://schemas.openxmlformats.org/drawingml/2006/main">
            <a:r>
              <a:t/>
            </a:r>
          </a:p>
          <a:p xmlns:a="http://schemas.openxmlformats.org/drawingml/2006/main">
            <a:r>
              <a:t>El historial combina eventos automáticos con puntos de control e incidencias introducidos por el operador. La API solo permite añadir y consultar, sin editar ni borrar eventos. Distingo OccurredAt, cuándo sucede el hecho, de CreatedAt, cuándo se registra. Así se puede anotar tarde una incidencia y mantener la cronología de negocio. El autor procede de la identidad autenticada, no de un identificador libre enviado por el cliente. Los eventos de creación, asignación y cambio de estado están reservados al sistema. La operación y su evento automático se confirman en la misma transacción de EF Core: se guardan ambos o ninguno. Esta atomicidad mantiene coherentes el estado actual y la explicación de cómo se llegó a él.</a:t>
            </a:r>
          </a:p>
          <a:p xmlns:a="http://schemas.openxmlformats.org/drawingml/2006/main">
            <a:r>
              <a:t/>
            </a:r>
          </a:p>
          <a:p xmlns:a="http://schemas.openxmlformats.org/drawingml/2006/main">
            <a:r>
              <a:t>FUENTES</a:t>
            </a:r>
          </a:p>
          <a:p xmlns:a="http://schemas.openxmlformats.org/drawingml/2006/main">
            <a:r>
              <a:t>Memoria, apartado 6.7 y figura 7.8, pp. 30–32 y 42. Captura original: imaxes/historial-eventos-sprint5.png. Datos de prueba del Sprint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1:20. Tramo 9:50–11:10.</a:t>
            </a:r>
          </a:p>
          <a:p xmlns:a="http://schemas.openxmlformats.org/drawingml/2006/main">
            <a:r>
              <a:t/>
            </a:r>
          </a:p>
          <a:p xmlns:a="http://schemas.openxmlformats.org/drawingml/2006/main">
            <a:r>
              <a:t>Una consulta de disponibilidad no basta para garantizar la asignación: dos peticiones pueden comprobar a la vez que un recurso está libre. Por eso añadí dos índices únicos parciales en PostgreSQL, uno por vehículo y otro por conductor, aplicados a los envíos abiertos. La comprobación previa da un mensaje descriptivo. El índice conserva la regla cuando las peticiones compiten, y su violación se traduce en HTTP 409. La protección del último administrador necesita otra solución. Dos administradores podrían degradarse simultáneamente después de comprobar que existe el otro. Un bloqueo transaccional de PostgreSQL serializa ese tramo, de modo que la segunda operación reevalúa la regla tras la primera. Son dos invariantes distintas y por eso no uso el mismo mecanismo. Las pruebas lanzan operaciones concurrentes contra PostgreSQL real para comprobar ambas garantías.</a:t>
            </a:r>
          </a:p>
          <a:p xmlns:a="http://schemas.openxmlformats.org/drawingml/2006/main">
            <a:r>
              <a:t/>
            </a:r>
          </a:p>
          <a:p xmlns:a="http://schemas.openxmlformats.org/drawingml/2006/main">
            <a:r>
              <a:t>FUENTES</a:t>
            </a:r>
          </a:p>
          <a:p xmlns:a="http://schemas.openxmlformats.org/drawingml/2006/main">
            <a:r>
              <a:t>Memoria, apartados 6.6, 6.8 y 8.3, pp. 29–30, 32–33 y 52–54. TransitOps.Api/Persistence/TransitOpsDbContext.cs y TransitOps.Tests/Persistence/PostgreSqlConcurrencyTests.cs.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1:10. Tramo 11:10–12:20.</a:t>
            </a:r>
          </a:p>
          <a:p xmlns:a="http://schemas.openxmlformats.org/drawingml/2006/main">
            <a:r>
              <a:t/>
            </a:r>
          </a:p>
          <a:p xmlns:a="http://schemas.openxmlformats.org/drawingml/2006/main">
            <a:r>
              <a:t>En el endurecimiento trasladé el JWT desde localStorage a una cookie HttpOnly, con SameSite Strict y Secure fuera de desarrollo. Esto reduce la posibilidad de extraer el token desde JavaScript, aunque no elimina el riesgo de XSS. El mismo origen y SameSite Strict mitigan la superficie CSRF asociada a las cookies. Como el frontend ya no lee el token, reconstruye la sesión consultando /auth/me al cargar. Cada cuenta tiene además un contador TokenVersion. Cambiar contraseña, rol o activación incrementa esa versión, y los tokens anteriores fallan en la siguiente petición. El coste aceptado es una consulta de usuario por petición protegida. Finalmente, la API impone las políticas de rol. Ocultar una pantalla mejora la experiencia, pero la autorización efectiva sigue estando en el servidor.</a:t>
            </a:r>
          </a:p>
          <a:p xmlns:a="http://schemas.openxmlformats.org/drawingml/2006/main">
            <a:r>
              <a:t/>
            </a:r>
          </a:p>
          <a:p xmlns:a="http://schemas.openxmlformats.org/drawingml/2006/main">
            <a:r>
              <a:t>FUENTES</a:t>
            </a:r>
          </a:p>
          <a:p xmlns:a="http://schemas.openxmlformats.org/drawingml/2006/main">
            <a:r>
              <a:t>Memoria, apartados 6.1–6.3 y 8.3, pp. 25–27 y 52–54. TransitOps.Api/Security/AuthSession.cs y TransitOps.Api/Program.cs.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1:25. Tramo 12:20–13:45.</a:t>
            </a:r>
          </a:p>
          <a:p xmlns:a="http://schemas.openxmlformats.org/drawingml/2006/main">
            <a:r>
              <a:t/>
            </a:r>
          </a:p>
          <a:p xmlns:a="http://schemas.openxmlformats.org/drawingml/2006/main">
            <a:r>
              <a:t>La memoria documenta ciento treinta y nueve pruebas backend, treinta y tres frontend y cuatro flujos de sistema. Son recuentos de pruebas y no una medida de cobertura de código. Lo más relevante es qué demuestra cada nivel. xUnit comprueba reglas y contratos HTTP. Vitest y React Testing Library observan formularios, rutas y sesión. Las pruebas con PostgreSQL real ejercitan restricciones y concurrencia que el proveedor en memoria no reproduce. Playwright recorre el primer administrador, el alta de un operador, la ejecución completa de un envío y la desactivación de un usuario. La integración continua repite compilaciones, pruebas y migraciones en un entorno limpio. Hay una frontera explícita: CI usa HTTP en desarrollo, por lo que Secure se comprobó manualmente sobre el despliegue HTTPS. Así distingo lo automatizado de la evidencia puntual sobre el destino.</a:t>
            </a:r>
          </a:p>
          <a:p xmlns:a="http://schemas.openxmlformats.org/drawingml/2006/main">
            <a:r>
              <a:t/>
            </a:r>
          </a:p>
          <a:p xmlns:a="http://schemas.openxmlformats.org/drawingml/2006/main">
            <a:r>
              <a:t>FUENTES</a:t>
            </a:r>
          </a:p>
          <a:p xmlns:a="http://schemas.openxmlformats.org/drawingml/2006/main">
            <a:r>
              <a:t>Memoria, capítulo 8, especialmente apartado 8.3, pp. 48–55. Recuentos documentados al cierre de Sprint 7: 139 backend, 33 frontend y cuatro flujos Playwright. Son números de pruebas, no porcentajes de cobertura.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1:10. Tramo 13:45–14:55.</a:t>
            </a:r>
          </a:p>
          <a:p xmlns:a="http://schemas.openxmlformats.org/drawingml/2006/main">
            <a:r>
              <a:t/>
            </a:r>
          </a:p>
          <a:p xmlns:a="http://schemas.openxmlformats.org/drawingml/2006/main">
            <a:r>
              <a:t>El destino es una máquina virtual Ubuntu con Docker Compose. La composición ejecuta PostgreSQL, API, servidor web y cloudflared, sin publicar puertos de los contenedores en el host. El túnel abre una conexión saliente y proporciona acceso HTTPS temporal. GitHub Actions publica las imágenes de API y web en GHCR después de superar CI. La máquina las descarga mediante un mismo script, que se puede ejecutar a mano o con un temporizador de cinco minutos. El script aplica la composición, comprueba salud y muestra revisión y digest de las imágenes. El procedimiento se ejecutó desde una máquina recién creada y quedó documentado. Es una entrega ligera y reproducible. Existe una limitación: E2E y publicación construyen imágenes distintas del mismo commit. Publicar exactamente el artefacto probado queda como mejora identificada.</a:t>
            </a:r>
          </a:p>
          <a:p xmlns:a="http://schemas.openxmlformats.org/drawingml/2006/main">
            <a:r>
              <a:t/>
            </a:r>
          </a:p>
          <a:p xmlns:a="http://schemas.openxmlformats.org/drawingml/2006/main">
            <a:r>
              <a:t>FUENTES</a:t>
            </a:r>
          </a:p>
          <a:p xmlns:a="http://schemas.openxmlformats.org/drawingml/2006/main">
            <a:r>
              <a:t>Memoria, capítulo 9, pp. 56–60. Captura original: imaxes/despliegue-tunel-sprint7.png. .github/workflows/ci.yml, scripts/deploy.sh y docs/Deployment.md. La captura acredita el despliegue documentado, no la vigencia actual de su URL temporal.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0:50. Tramo 14:55–15:45.</a:t>
            </a:r>
          </a:p>
          <a:p xmlns:a="http://schemas.openxmlformats.org/drawingml/2006/main">
            <a:r>
              <a:t/>
            </a:r>
          </a:p>
          <a:p xmlns:a="http://schemas.openxmlformats.org/drawingml/2006/main">
            <a:r>
              <a:t>El resultado es una aplicación que conecta administración, catálogos, operación e historial. Los catorce requisitos funcionales están integrados, incluida la asignación de contraseña por un administrador que se completó durante el cierre. El panel resume la situación y permite entrar al trabajo mediante filtros. Los contadores por estado describen el conjunto de envíos, mientras actividad e incidencias dependen del periodo. Evité mezclar esas dos semánticas en una misma cifra. Los valores de esta captura son datos de demostración, no resultados de una empresa. La evidencia permite afirmar cumplimiento funcional e integración del núcleo elegido, sin atribuirle una mejora de productividad que no se midió.</a:t>
            </a:r>
          </a:p>
          <a:p xmlns:a="http://schemas.openxmlformats.org/drawingml/2006/main">
            <a:r>
              <a:t/>
            </a:r>
          </a:p>
          <a:p xmlns:a="http://schemas.openxmlformats.org/drawingml/2006/main">
            <a:r>
              <a:t>FUENTES</a:t>
            </a:r>
          </a:p>
          <a:p xmlns:a="http://schemas.openxmlformats.org/drawingml/2006/main">
            <a:r>
              <a:t>Memoria, apartados 6.8, 7.6 y capítulo 12, pp. 32–33, 44–45 y 66–67. Figura 7.10, captura original imaxes/resumen-sprint6.png. Los contadores mostrados son datos de demostración.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1:00. Tramo 15:45–16:45.</a:t>
            </a:r>
          </a:p>
          <a:p xmlns:a="http://schemas.openxmlformats.org/drawingml/2006/main">
            <a:r>
              <a:t/>
            </a:r>
          </a:p>
          <a:p xmlns:a="http://schemas.openxmlformats.org/drawingml/2006/main">
            <a:r>
              <a:t>Un aprendizaje del proceso apareció al redactar el manual. La entrevista esperaba que el administrador pudiese reasignar una contraseña olvidada. Sin embargo, el autoservicio exigía la contraseña actual y la primera especificación no había cubierto correctamente la alternativa administrativa. La revisión detectó ese hueco entre necesidad y comportamiento. Lo cerré mediante RN-17, actualizando requisitos, API, interfaz y pruebas. El administrador puede asignar una contraseña a otra cuenta y la operación invalida sus sesiones, mientras la propia cuenta conserva la confirmación de la contraseña anterior. Este ejemplo muestra que documentar también sirve para verificar el producto. La revisión posterior al cambio de sesión reforzó la misma lección: hay que comprobar los clientes y contratos que una decisión transversal deja afectados.</a:t>
            </a:r>
          </a:p>
          <a:p xmlns:a="http://schemas.openxmlformats.org/drawingml/2006/main">
            <a:r>
              <a:t/>
            </a:r>
          </a:p>
          <a:p xmlns:a="http://schemas.openxmlformats.org/drawingml/2006/main">
            <a:r>
              <a:t>FUENTES</a:t>
            </a:r>
          </a:p>
          <a:p xmlns:a="http://schemas.openxmlformats.org/drawingml/2006/main">
            <a:r>
              <a:t>Memoria, apartado 6.8, p. 33, matriz del capítulo 10 y conclusiones, p. 68. docs/UserManual.md, docs/Requirements.md (RN-17).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0:55. Tramo 16:45–17:40.</a:t>
            </a:r>
          </a:p>
          <a:p xmlns:a="http://schemas.openxmlformats.org/drawingml/2006/main">
            <a:r>
              <a:t/>
            </a:r>
          </a:p>
          <a:p xmlns:a="http://schemas.openxmlformats.org/drawingml/2006/main">
            <a:r>
              <a:t>El alcance demostrado es un entorno de demostración reproducible. El túnel es temporal y no se incorporaron copias de seguridad ni recolección de métricas. Tampoco realicé pruebas de carga que permitan afirmar capacidad o latencia bajo un volumen concreto. El caso procede de una entrevista simulada, así que la utilidad y la usabilidad deben contrastarse con usuarios reales. Los siguientes pasos que priorizaría son validar ese uso, estabilizar el alojamiento con recuperación de datos y publicar el mismo artefacto que pasa E2E. Después tendría sentido valorar extensiones como GPS, rutas o facturación. Estas prioridades separan las mejoras de calidad y operación de una ampliación funcional, y mantienen la conclusión dentro de lo que las evidencias sostienen.</a:t>
            </a:r>
          </a:p>
          <a:p xmlns:a="http://schemas.openxmlformats.org/drawingml/2006/main">
            <a:r>
              <a:t/>
            </a:r>
          </a:p>
          <a:p xmlns:a="http://schemas.openxmlformats.org/drawingml/2006/main">
            <a:r>
              <a:t>FUENTES</a:t>
            </a:r>
          </a:p>
          <a:p xmlns:a="http://schemas.openxmlformats.org/drawingml/2006/main">
            <a:r>
              <a:t>Memoria, apartados 9.2, 9.5 y capítulos 12–13, pp. 57, 60 y 66–69. La validación con usuarios reales se plantea como siguiente paso, no como resultado realizado.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0:40. Tramo 17:40–18:20.</a:t>
            </a:r>
          </a:p>
          <a:p xmlns:a="http://schemas.openxmlformats.org/drawingml/2006/main">
            <a:r>
              <a:t/>
            </a:r>
          </a:p>
          <a:p xmlns:a="http://schemas.openxmlformats.org/drawingml/2006/main">
            <a:r>
              <a:t>TransitOps alcanza el objetivo de construir un núcleo operativo completo, mantener trazabilidad entre requisitos y pruebas y desplegar una versión reproducible. La aportación principal es haber relacionado las decisiones de cada fase con evidencias observables. Los incrementos verticales permitieron detectar pronto problemas de integración, y declarar las deudas hizo posible cerrarlas de forma verificable. El resultado incluye la aplicación y el proceso documentado que permite entenderla, probarla y evolucionarla. Muchas gracias. Quedo a disposición del tribunal para las preguntas.</a:t>
            </a:r>
          </a:p>
          <a:p xmlns:a="http://schemas.openxmlformats.org/drawingml/2006/main">
            <a:r>
              <a:t/>
            </a:r>
          </a:p>
          <a:p xmlns:a="http://schemas.openxmlformats.org/drawingml/2006/main">
            <a:r>
              <a:t>FUENTES</a:t>
            </a:r>
          </a:p>
          <a:p xmlns:a="http://schemas.openxmlformats.org/drawingml/2006/main">
            <a:r>
              <a:t>Memoria, capítulos 12–13, pp. 66–69.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Material para preguntas. La tabla resume la matriz de la memoria. El requisito transversal RF-13 aparece desde S1 y se aplica en todas las áreas. RF-04 recibió en S7 la extensión de asignación de contraseña asociada a RN-17. Todos los grupos enlazan con componente y evidencia, sin afirmar que el simple número de pruebas pruebe exhaustividad.</a:t>
            </a:r>
          </a:p>
          <a:p xmlns:a="http://schemas.openxmlformats.org/drawingml/2006/main">
            <a:r>
              <a:t/>
            </a:r>
          </a:p>
          <a:p xmlns:a="http://schemas.openxmlformats.org/drawingml/2006/main">
            <a:r>
              <a:t>FUENTES</a:t>
            </a:r>
          </a:p>
          <a:p xmlns:a="http://schemas.openxmlformats.org/drawingml/2006/main">
            <a:r>
              <a:t>Memoria, capítulo 10, pp. 61–62. docs/Requirements.md y docs/Roadmap.md.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Material para preguntas. La gráfica conserva los recuentos documentados al cierre de cada sprint. No representa porcentaje de cobertura ni una comparación de calidad entre capas. En S7, el valor adicional está en probar invalidación y carreras contra el motor real, además de los cuatro flujos E2E que no se suman a estas dos series.</a:t>
            </a:r>
          </a:p>
          <a:p xmlns:a="http://schemas.openxmlformats.org/drawingml/2006/main">
            <a:r>
              <a:t/>
            </a:r>
          </a:p>
          <a:p xmlns:a="http://schemas.openxmlformats.org/drawingml/2006/main">
            <a:r>
              <a:t>FUENTES</a:t>
            </a:r>
          </a:p>
          <a:p xmlns:a="http://schemas.openxmlformats.org/drawingml/2006/main">
            <a:r>
              <a:t>Memoria, capítulo 8, pp. 48–54. S1: 16/4, S2: 29/7, S3: 45/13, S4: 74/19, S5: 96/24, S6: 127/30, S7: 139/33, backend/frontend. S7 añade cuatro flujos E2E.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Material para preguntas. Esta es una valoración profesional hipotética, no gasto efectivo del autor ni una contabilidad de operación sostenida. La tarifa de veinte euros por hora es una hipótesis de la memoria. La amortización equivale a 1200 por 2,5 dividido entre 48 meses. Las partidas a cero corresponden a las condiciones de uso del proyecto. Energía y conectividad aparecen en costes indirectos, por lo que no debe interpretarse la infraestructura a cero como ausencia absoluta de coste operativo.</a:t>
            </a:r>
          </a:p>
          <a:p xmlns:a="http://schemas.openxmlformats.org/drawingml/2006/main">
            <a:r>
              <a:t/>
            </a:r>
          </a:p>
          <a:p xmlns:a="http://schemas.openxmlformats.org/drawingml/2006/main">
            <a:r>
              <a:t>FUENTES</a:t>
            </a:r>
          </a:p>
          <a:p xmlns:a="http://schemas.openxmlformats.org/drawingml/2006/main">
            <a:r>
              <a:t>Memoria, tabla 3.3 y apartado 3.4, pp. 11–13. Cálculo: 6000 + 62,50 + 0 + 0 + 75 = 6137,50 EUR.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Material para preguntas. Las decisiones se justifican por el dominio y la escala del proyecto. Una API modular limita la coordinación y conserva responsabilidades claras. EF Core facilita migraciones, sin impedir restricciones específicas del motor. Los eventos se guardan junto a la operación porque no hay necesidad de propagación entre servicios. TokenVersion sacrifica la validación puramente autocontenida del JWT a cambio de revocación en la siguiente petición. Ninguna elección demuestra superioridad universal de una tecnología.</a:t>
            </a:r>
          </a:p>
          <a:p xmlns:a="http://schemas.openxmlformats.org/drawingml/2006/main">
            <a:r>
              <a:t/>
            </a:r>
          </a:p>
          <a:p xmlns:a="http://schemas.openxmlformats.org/drawingml/2006/main">
            <a:r>
              <a:t>FUENTES</a:t>
            </a:r>
          </a:p>
          <a:p xmlns:a="http://schemas.openxmlformats.org/drawingml/2006/main">
            <a:r>
              <a:t>Memoria, capítulos 2, 5 y 6, pp. 4–8 y 22–33. docs/design/IntegrationArchitecture.md.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2a23f86234b474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7dabdb81aa2478d" /><Relationship Type="http://schemas.openxmlformats.org/officeDocument/2006/relationships/slideLayout" Target="/ppt/slideLayouts/slideLayout1.xml" Id="Rced6d725fc8a4bb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ed6d725fc8a4bb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66d9298a7c144c9" /><Relationship Type="http://schemas.openxmlformats.org/officeDocument/2006/relationships/image" Target="/ppt/media/image.png" Id="Rba8323f323de4276" /><Relationship Type="http://schemas.openxmlformats.org/officeDocument/2006/relationships/notesSlide" Target="/ppt/notesSlides/notesSlide1.xml" Id="Rd718423d8511460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96f1ecfa7964fd7" /><Relationship Type="http://schemas.openxmlformats.org/officeDocument/2006/relationships/notesSlide" Target="/ppt/notesSlides/notesSlide2.xml" Id="Refaacecae8c646c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e8a46730bf447cd" /><Relationship Type="http://schemas.openxmlformats.org/officeDocument/2006/relationships/notesSlide" Target="/ppt/notesSlides/notesSlide3.xml" Id="Rff2068a5de354d0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2e71bbc32284652" /><Relationship Type="http://schemas.openxmlformats.org/officeDocument/2006/relationships/notesSlide" Target="/ppt/notesSlides/notesSlide4.xml" Id="R159040d37762459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39b8418749e4e27" /><Relationship Type="http://schemas.openxmlformats.org/officeDocument/2006/relationships/chart" Target="/ppt/slides/charts/chart1.xml" Id="R7dcfa36efdcb4830" /><Relationship Type="http://schemas.openxmlformats.org/officeDocument/2006/relationships/notesSlide" Target="/ppt/notesSlides/notesSlide5.xml" Id="R4afbe4bff39a48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3cb888be0f5407a" /><Relationship Type="http://schemas.openxmlformats.org/officeDocument/2006/relationships/image" Target="/ppt/media/image2.png" Id="R80aef62808e3430a" /><Relationship Type="http://schemas.openxmlformats.org/officeDocument/2006/relationships/notesSlide" Target="/ppt/notesSlides/notesSlide6.xml" Id="Rdea3a33c4be4415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4c7ab3769e24f37" /><Relationship Type="http://schemas.openxmlformats.org/officeDocument/2006/relationships/image" Target="/ppt/media/image3.png" Id="Rcfc8f50a5fbd437d" /><Relationship Type="http://schemas.openxmlformats.org/officeDocument/2006/relationships/notesSlide" Target="/ppt/notesSlides/notesSlide7.xml" Id="R0f73742befb24b4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22dbeb129794c74" /><Relationship Type="http://schemas.openxmlformats.org/officeDocument/2006/relationships/image" Target="/ppt/media/image4.png" Id="R018209cba45d4d14" /><Relationship Type="http://schemas.openxmlformats.org/officeDocument/2006/relationships/notesSlide" Target="/ppt/notesSlides/notesSlide8.xml" Id="Rc9d0925f7f714a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12d7d159aea4c86" /><Relationship Type="http://schemas.openxmlformats.org/officeDocument/2006/relationships/image" Target="/ppt/media/image.jpeg" Id="R236b44fce4dc457d" /><Relationship Type="http://schemas.openxmlformats.org/officeDocument/2006/relationships/notesSlide" Target="/ppt/notesSlides/notesSlide9.xml" Id="R3de57548bdb342f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961ce5034224cad" /><Relationship Type="http://schemas.openxmlformats.org/officeDocument/2006/relationships/image" Target="/ppt/media/image2.jpeg" Id="R9491673cac9f457e" /><Relationship Type="http://schemas.openxmlformats.org/officeDocument/2006/relationships/notesSlide" Target="/ppt/notesSlides/notesSlide10.xml" Id="R48ede47337a143c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5209011c32a46ac" /><Relationship Type="http://schemas.openxmlformats.org/officeDocument/2006/relationships/notesSlide" Target="/ppt/notesSlides/notesSlide11.xml" Id="Rafebb634894e43d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74c2cdfd3b54aca" /><Relationship Type="http://schemas.openxmlformats.org/officeDocument/2006/relationships/notesSlide" Target="/ppt/notesSlides/notesSlide12.xml" Id="R7c9509d627b34cb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74eecfb4a30473a" /><Relationship Type="http://schemas.openxmlformats.org/officeDocument/2006/relationships/notesSlide" Target="/ppt/notesSlides/notesSlide13.xml" Id="R2b3bcefa3bb64b1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c0aff5083184f4b" /><Relationship Type="http://schemas.openxmlformats.org/officeDocument/2006/relationships/image" Target="/ppt/media/image5.png" Id="R97fea7522e424a0a" /><Relationship Type="http://schemas.openxmlformats.org/officeDocument/2006/relationships/notesSlide" Target="/ppt/notesSlides/notesSlide14.xml" Id="R3bdf7609c9604c7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f4eaca94b144e40" /><Relationship Type="http://schemas.openxmlformats.org/officeDocument/2006/relationships/image" Target="/ppt/media/image3.jpeg" Id="R752965a3a432494b" /><Relationship Type="http://schemas.openxmlformats.org/officeDocument/2006/relationships/notesSlide" Target="/ppt/notesSlides/notesSlide15.xml" Id="R96bbff1380f1433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a8496e8309944dc" /><Relationship Type="http://schemas.openxmlformats.org/officeDocument/2006/relationships/notesSlide" Target="/ppt/notesSlides/notesSlide16.xml" Id="R1394fe67f40e423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04ef2090f7d4fda" /><Relationship Type="http://schemas.openxmlformats.org/officeDocument/2006/relationships/notesSlide" Target="/ppt/notesSlides/notesSlide17.xml" Id="Red2fa045d1394a8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5dcef946bb042e0" /><Relationship Type="http://schemas.openxmlformats.org/officeDocument/2006/relationships/notesSlide" Target="/ppt/notesSlides/notesSlide18.xml" Id="Rf0ea737691ad453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f32c747e2bd4fcd" /><Relationship Type="http://schemas.openxmlformats.org/officeDocument/2006/relationships/notesSlide" Target="/ppt/notesSlides/notesSlide19.xml" Id="R21aa024e901846c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d45e3f7ad0c4a16" /><Relationship Type="http://schemas.openxmlformats.org/officeDocument/2006/relationships/chart" Target="/ppt/slides/charts/chart2.xml" Id="R45836c1a86714ea0" /><Relationship Type="http://schemas.openxmlformats.org/officeDocument/2006/relationships/notesSlide" Target="/ppt/notesSlides/notesSlide20.xml" Id="R49faf3ea25fb4a4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c10a1c637f44b79" /><Relationship Type="http://schemas.openxmlformats.org/officeDocument/2006/relationships/notesSlide" Target="/ppt/notesSlides/notesSlide21.xml" Id="R8c7a343705974ee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5a2305375824ef8" /><Relationship Type="http://schemas.openxmlformats.org/officeDocument/2006/relationships/notesSlide" Target="/ppt/notesSlides/notesSlide22.xml" Id="Refd78df83af5427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Horas planificadas</c:v>
          </c:tx>
          <c:spPr>
            <a:solidFill xmlns:a="http://schemas.openxmlformats.org/drawingml/2006/main">
              <a:srgbClr val="2156A5"/>
            </a:solidFill>
          </c:spPr>
          <c:cat>
            <c:strRef>
              <c:f>'Chart Data'!$A$2:$A$5</c:f>
              <c:strCache>
                <c:ptCount val="4"/>
                <c:pt idx="0">
                  <c:v>Memoria</c:v>
                </c:pt>
                <c:pt idx="1">
                  <c:v>Pruebas y despliegue</c:v>
                </c:pt>
                <c:pt idx="2">
                  <c:v>Implementación</c:v>
                </c:pt>
                <c:pt idx="3">
                  <c:v>Análisis y diseño</c:v>
                </c:pt>
              </c:strCache>
            </c:strRef>
          </c:cat>
          <c:val>
            <c:numRef>
              <c:f>'Chart Data'!$B$2:$B$5</c:f>
              <c:numCache>
                <c:formatCode>General</c:formatCode>
                <c:ptCount val="4"/>
                <c:pt idx="0">
                  <c:v>25</c:v>
                </c:pt>
                <c:pt idx="1">
                  <c:v>65</c:v>
                </c:pt>
                <c:pt idx="2">
                  <c:v>140</c:v>
                </c:pt>
                <c:pt idx="3">
                  <c:v>70</c:v>
                </c:pt>
              </c:numCache>
            </c:numRef>
          </c:val>
        </c:ser>
        <c:dLbls>
          <c:txPr>
            <a:bodyPr xmlns:a="http://schemas.openxmlformats.org/drawingml/2006/main" anchorCtr="1"/>
            <a:lstStyle xmlns:a="http://schemas.openxmlformats.org/drawingml/2006/main"/>
            <a:p xmlns:a="http://schemas.openxmlformats.org/drawingml/2006/main">
              <a:pPr>
                <a:defRPr sz="1875" b="1">
                  <a:solidFill>
                    <a:srgbClr val="14263D"/>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4263D"/>
                </a:solidFill>
                <a:latin typeface="Arial"/>
                <a:ea typeface="Arial"/>
                <a:cs typeface="Arial"/>
              </a:defRPr>
            </a:pPr>
          </a:p>
        </c:txPr>
        <c:crossAx val="48672768"/>
      </c:catAx>
      <c:valAx>
        <c:axId val="48672768"/>
        <c:scaling>
          <c:orientation val="minMax"/>
          <c:max val="170"/>
          <c:min val="0"/>
        </c:scaling>
        <c:delete val="0"/>
        <c:axPos val="b"/>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ser>
          <c:idx val="0"/>
          <c:order val="0"/>
          <c:tx>
            <c:v>Backend</c:v>
          </c:tx>
          <c:spPr>
            <a:ln xmlns:a="http://schemas.openxmlformats.org/drawingml/2006/main" w="38100">
              <a:solidFill>
                <a:srgbClr val="2156A5"/>
              </a:solidFill>
            </a:ln>
          </c:spPr>
          <c:marker>
            <c:symbol val="circle"/>
            <c:size val="7"/>
            <c:spPr>
              <a:solidFill xmlns:a="http://schemas.openxmlformats.org/drawingml/2006/main">
                <a:srgbClr val="2156A5"/>
              </a:solidFill>
            </c:spPr>
          </c:marker>
          <c:cat>
            <c:strRef>
              <c:f>'Chart Data'!$A$2:$A$8</c:f>
              <c:strCache>
                <c:ptCount val="7"/>
                <c:pt idx="0">
                  <c:v>S1</c:v>
                </c:pt>
                <c:pt idx="1">
                  <c:v>S2</c:v>
                </c:pt>
                <c:pt idx="2">
                  <c:v>S3</c:v>
                </c:pt>
                <c:pt idx="3">
                  <c:v>S4</c:v>
                </c:pt>
                <c:pt idx="4">
                  <c:v>S5</c:v>
                </c:pt>
                <c:pt idx="5">
                  <c:v>S6</c:v>
                </c:pt>
                <c:pt idx="6">
                  <c:v>S7</c:v>
                </c:pt>
              </c:strCache>
            </c:strRef>
          </c:cat>
          <c:val>
            <c:numRef>
              <c:f>'Chart Data'!$B$2:$B$8</c:f>
              <c:numCache>
                <c:formatCode>General</c:formatCode>
                <c:ptCount val="7"/>
                <c:pt idx="0">
                  <c:v>16</c:v>
                </c:pt>
                <c:pt idx="1">
                  <c:v>29</c:v>
                </c:pt>
                <c:pt idx="2">
                  <c:v>45</c:v>
                </c:pt>
                <c:pt idx="3">
                  <c:v>74</c:v>
                </c:pt>
                <c:pt idx="4">
                  <c:v>96</c:v>
                </c:pt>
                <c:pt idx="5">
                  <c:v>127</c:v>
                </c:pt>
                <c:pt idx="6">
                  <c:v>139</c:v>
                </c:pt>
              </c:numCache>
            </c:numRef>
          </c:val>
        </c:ser>
        <c:ser>
          <c:idx val="1"/>
          <c:order val="1"/>
          <c:tx>
            <c:v>Frontend</c:v>
          </c:tx>
          <c:spPr>
            <a:ln xmlns:a="http://schemas.openxmlformats.org/drawingml/2006/main" w="38100">
              <a:solidFill>
                <a:srgbClr val="C0007F"/>
              </a:solidFill>
            </a:ln>
          </c:spPr>
          <c:marker>
            <c:symbol val="circle"/>
            <c:size val="7"/>
            <c:spPr>
              <a:solidFill xmlns:a="http://schemas.openxmlformats.org/drawingml/2006/main">
                <a:srgbClr val="C0007F"/>
              </a:solidFill>
            </c:spPr>
          </c:marker>
          <c:cat>
            <c:strRef>
              <c:f>'Chart Data'!$C$2:$C$8</c:f>
              <c:strCache>
                <c:ptCount val="7"/>
                <c:pt idx="0">
                  <c:v>S1</c:v>
                </c:pt>
                <c:pt idx="1">
                  <c:v>S2</c:v>
                </c:pt>
                <c:pt idx="2">
                  <c:v>S3</c:v>
                </c:pt>
                <c:pt idx="3">
                  <c:v>S4</c:v>
                </c:pt>
                <c:pt idx="4">
                  <c:v>S5</c:v>
                </c:pt>
                <c:pt idx="5">
                  <c:v>S6</c:v>
                </c:pt>
                <c:pt idx="6">
                  <c:v>S7</c:v>
                </c:pt>
              </c:strCache>
            </c:strRef>
          </c:cat>
          <c:val>
            <c:numRef>
              <c:f>'Chart Data'!$D$2:$D$8</c:f>
              <c:numCache>
                <c:formatCode>General</c:formatCode>
                <c:ptCount val="7"/>
                <c:pt idx="0">
                  <c:v>4</c:v>
                </c:pt>
                <c:pt idx="1">
                  <c:v>7</c:v>
                </c:pt>
                <c:pt idx="2">
                  <c:v>13</c:v>
                </c:pt>
                <c:pt idx="3">
                  <c:v>19</c:v>
                </c:pt>
                <c:pt idx="4">
                  <c:v>24</c:v>
                </c:pt>
                <c:pt idx="5">
                  <c:v>30</c:v>
                </c:pt>
                <c:pt idx="6">
                  <c:v>33</c:v>
                </c:pt>
              </c:numCache>
            </c:numRef>
          </c:val>
        </c:ser>
        <c:dLbls>
          <c:txPr>
            <a:bodyPr xmlns:a="http://schemas.openxmlformats.org/drawingml/2006/main" anchorCtr="1"/>
            <a:lstStyle xmlns:a="http://schemas.openxmlformats.org/drawingml/2006/main"/>
            <a:p xmlns:a="http://schemas.openxmlformats.org/drawingml/2006/main">
              <a:pPr>
                <a:defRPr sz="1650">
                  <a:solidFill>
                    <a:srgbClr val="14263D"/>
                  </a:solidFill>
                  <a:latin typeface="Arial"/>
                  <a:ea typeface="Arial"/>
                  <a:cs typeface="Arial"/>
                </a:defRPr>
              </a:pPr>
            </a:p>
          </c:txPr>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9DFE7"/>
            </a:solidFill>
          </a:ln>
        </c:spPr>
        <c:txPr>
          <a:bodyPr xmlns:a="http://schemas.openxmlformats.org/drawingml/2006/main" anchorCtr="1"/>
          <a:lstStyle xmlns:a="http://schemas.openxmlformats.org/drawingml/2006/main"/>
          <a:p xmlns:a="http://schemas.openxmlformats.org/drawingml/2006/main">
            <a:pPr>
              <a:defRPr sz="1725">
                <a:solidFill>
                  <a:srgbClr val="14263D"/>
                </a:solidFill>
                <a:latin typeface="Arial"/>
                <a:ea typeface="Arial"/>
                <a:cs typeface="Arial"/>
              </a:defRPr>
            </a:pPr>
          </a:p>
        </c:txPr>
        <c:crossAx val="48672768"/>
      </c:catAx>
      <c:valAx>
        <c:axId val="48672768"/>
        <c:scaling>
          <c:orientation val="minMax"/>
          <c:max val="160"/>
          <c:min val="0"/>
        </c:scaling>
        <c:delete val="0"/>
        <c:axPos val="l"/>
        <c:majorGridlines>
          <c:spPr>
            <a:ln xmlns:a="http://schemas.openxmlformats.org/drawingml/2006/main" w="9525">
              <a:solidFill>
                <a:srgbClr val="D9DFE7"/>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36174"/>
                </a:solidFill>
                <a:latin typeface="Arial"/>
                <a:ea typeface="Arial"/>
                <a:cs typeface="Arial"/>
              </a:defRPr>
            </a:pPr>
          </a:p>
        </c:txPr>
        <c:crossAx val="48650112"/>
        <c:crossBetween val="between"/>
        <c:majorUnit val="4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725">
              <a:solidFill>
                <a:srgbClr val="14263D"/>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a8323f323de4276"/>
          <a:stretch xmlns:a="http://schemas.openxmlformats.org/drawingml/2006/main"/>
        </p:blipFill>
        <p:spPr>
          <a:xfrm xmlns:a="http://schemas.openxmlformats.org/drawingml/2006/main">
            <a:off x="609600" y="412006"/>
            <a:ext cx="4095750" cy="528538"/>
          </a:xfrm>
          <a:prstGeom xmlns:a="http://schemas.openxmlformats.org/drawingml/2006/main" prst="rect">
            <a:avLst/>
          </a:prstGeom>
        </p:spPr>
      </p:pic>
      <p:sp>
        <p:nvSpPr>
          <p:cNvPr id="2" name="TransitOps">
            <a:extLst xmlns:a="http://schemas.openxmlformats.org/drawingml/2006/main">
              <a:ext uri="{FF2B5EF4-FFF2-40B4-BE49-F238E27FC236}">
                <a16:creationId xmlns:a16="http://schemas.microsoft.com/office/drawing/2014/main" id="{76B0194B-FF4A-47C8-90CA-C1B497738111}"/>
              </a:ext>
            </a:extLst>
          </p:cNvPr>
          <p:cNvSpPr>
            <a:spLocks xmlns:a="http://schemas.openxmlformats.org/drawingml/2006/main" noGrp="1"/>
          </p:cNvSpPr>
          <p:nvPr/>
        </p:nvSpPr>
        <p:spPr>
          <a:xfrm xmlns:a="http://schemas.openxmlformats.org/drawingml/2006/main">
            <a:off x="609600" y="1666875"/>
            <a:ext cx="10572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600" b="1">
                <a:solidFill>
                  <a:srgbClr val="14263D"/>
                </a:solidFill>
                <a:latin typeface="Arial"/>
                <a:ea typeface="Arial"/>
                <a:cs typeface="Arial"/>
              </a:defRPr>
            </a:pPr>
            <a:r>
              <a:rPr sz="6600" b="1">
                <a:solidFill>
                  <a:srgbClr val="14263D"/>
                </a:solidFill>
                <a:latin typeface="Arial"/>
                <a:ea typeface="Arial"/>
                <a:cs typeface="Arial"/>
              </a:rPr>
              <a:t>TransitOps</a:t>
            </a:r>
          </a:p>
        </p:txBody>
      </p:sp>
      <p:sp>
        <p:nvSpPr>
          <p:cNvPr id="3" name="Diseño y desarrollo de una aplicación&#10;de gestión de transpor">
            <a:extLst xmlns:a="http://schemas.openxmlformats.org/drawingml/2006/main">
              <a:ext uri="{FF2B5EF4-FFF2-40B4-BE49-F238E27FC236}">
                <a16:creationId xmlns:a16="http://schemas.microsoft.com/office/drawing/2014/main" id="{F8166C13-B968-43C2-B8E0-EBE066F2E387}"/>
              </a:ext>
            </a:extLst>
          </p:cNvPr>
          <p:cNvSpPr>
            <a:spLocks xmlns:a="http://schemas.openxmlformats.org/drawingml/2006/main" noGrp="1"/>
          </p:cNvSpPr>
          <p:nvPr/>
        </p:nvSpPr>
        <p:spPr>
          <a:xfrm xmlns:a="http://schemas.openxmlformats.org/drawingml/2006/main">
            <a:off x="638175" y="2914650"/>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000" b="0">
                <a:solidFill>
                  <a:srgbClr val="14263D"/>
                </a:solidFill>
                <a:latin typeface="Arial"/>
                <a:ea typeface="Arial"/>
                <a:cs typeface="Arial"/>
              </a:defRPr>
            </a:pPr>
            <a:r>
              <a:rPr sz="3000" b="0">
                <a:solidFill>
                  <a:srgbClr val="14263D"/>
                </a:solidFill>
                <a:latin typeface="Arial"/>
                <a:ea typeface="Arial"/>
                <a:cs typeface="Arial"/>
              </a:rPr>
              <a:t>Diseño y desarrollo de una aplicación</a:t>
            </a:r>
          </a:p>
          <a:p xmlns:a="http://schemas.openxmlformats.org/drawingml/2006/main">
            <a:pPr algn="l">
              <a:defRPr sz="3000" b="0">
                <a:solidFill>
                  <a:srgbClr val="14263D"/>
                </a:solidFill>
                <a:latin typeface="Arial"/>
                <a:ea typeface="Arial"/>
                <a:cs typeface="Arial"/>
              </a:defRPr>
            </a:pPr>
            <a:r>
              <a:rPr sz="3000" b="0">
                <a:solidFill>
                  <a:srgbClr val="14263D"/>
                </a:solidFill>
                <a:latin typeface="Arial"/>
                <a:ea typeface="Arial"/>
                <a:cs typeface="Arial"/>
              </a:rPr>
              <a:t>de gestión de transportes</a:t>
            </a:r>
          </a:p>
        </p:txBody>
      </p:sp>
      <p:sp>
        <p:nvSpPr>
          <p:cNvPr id="4" name="Ciclo de vida completo del software">
            <a:extLst xmlns:a="http://schemas.openxmlformats.org/drawingml/2006/main">
              <a:ext uri="{FF2B5EF4-FFF2-40B4-BE49-F238E27FC236}">
                <a16:creationId xmlns:a16="http://schemas.microsoft.com/office/drawing/2014/main" id="{72C17235-1AFE-4C13-A5B8-EBCADA7FC3D5}"/>
              </a:ext>
            </a:extLst>
          </p:cNvPr>
          <p:cNvSpPr>
            <a:spLocks xmlns:a="http://schemas.openxmlformats.org/drawingml/2006/main" noGrp="1"/>
          </p:cNvSpPr>
          <p:nvPr/>
        </p:nvSpPr>
        <p:spPr>
          <a:xfrm xmlns:a="http://schemas.openxmlformats.org/drawingml/2006/main">
            <a:off x="638175" y="4095750"/>
            <a:ext cx="1047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C0007F"/>
                </a:solidFill>
                <a:latin typeface="Arial"/>
                <a:ea typeface="Arial"/>
                <a:cs typeface="Arial"/>
              </a:defRPr>
            </a:pPr>
            <a:r>
              <a:rPr sz="2550" b="1">
                <a:solidFill>
                  <a:srgbClr val="C0007F"/>
                </a:solidFill>
                <a:latin typeface="Arial"/>
                <a:ea typeface="Arial"/>
                <a:cs typeface="Arial"/>
              </a:rPr>
              <a:t>Ciclo de vida completo del software</a:t>
            </a:r>
          </a:p>
        </p:txBody>
      </p:sp>
      <p:sp>
        <p:nvSpPr>
          <p:cNvPr id="5" name="Pablo Manzanares López">
            <a:extLst xmlns:a="http://schemas.openxmlformats.org/drawingml/2006/main">
              <a:ext uri="{FF2B5EF4-FFF2-40B4-BE49-F238E27FC236}">
                <a16:creationId xmlns:a16="http://schemas.microsoft.com/office/drawing/2014/main" id="{5DBB5EB9-F6C5-4596-A0B5-E62359A60DF1}"/>
              </a:ext>
            </a:extLst>
          </p:cNvPr>
          <p:cNvSpPr>
            <a:spLocks xmlns:a="http://schemas.openxmlformats.org/drawingml/2006/main" noGrp="1"/>
          </p:cNvSpPr>
          <p:nvPr/>
        </p:nvSpPr>
        <p:spPr>
          <a:xfrm xmlns:a="http://schemas.openxmlformats.org/drawingml/2006/main">
            <a:off x="638175" y="5238750"/>
            <a:ext cx="552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14263D"/>
                </a:solidFill>
                <a:latin typeface="Arial"/>
                <a:ea typeface="Arial"/>
                <a:cs typeface="Arial"/>
              </a:defRPr>
            </a:pPr>
            <a:r>
              <a:rPr sz="1950" b="1">
                <a:solidFill>
                  <a:srgbClr val="14263D"/>
                </a:solidFill>
                <a:latin typeface="Arial"/>
                <a:ea typeface="Arial"/>
                <a:cs typeface="Arial"/>
              </a:rPr>
              <a:t>Pablo Manzanares López</a:t>
            </a:r>
          </a:p>
        </p:txBody>
      </p:sp>
      <p:sp>
        <p:nvSpPr>
          <p:cNvPr id="6" name="Dirección: Paula María Castro Castro">
            <a:extLst xmlns:a="http://schemas.openxmlformats.org/drawingml/2006/main">
              <a:ext uri="{FF2B5EF4-FFF2-40B4-BE49-F238E27FC236}">
                <a16:creationId xmlns:a16="http://schemas.microsoft.com/office/drawing/2014/main" id="{B078CCA2-B569-4A05-916D-3D0BB618E988}"/>
              </a:ext>
            </a:extLst>
          </p:cNvPr>
          <p:cNvSpPr>
            <a:spLocks xmlns:a="http://schemas.openxmlformats.org/drawingml/2006/main" noGrp="1"/>
          </p:cNvSpPr>
          <p:nvPr/>
        </p:nvSpPr>
        <p:spPr>
          <a:xfrm xmlns:a="http://schemas.openxmlformats.org/drawingml/2006/main">
            <a:off x="638175" y="5648325"/>
            <a:ext cx="666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36174"/>
                </a:solidFill>
                <a:latin typeface="Arial"/>
                <a:ea typeface="Arial"/>
                <a:cs typeface="Arial"/>
              </a:defRPr>
            </a:pPr>
            <a:r>
              <a:rPr sz="1650" b="0">
                <a:solidFill>
                  <a:srgbClr val="536174"/>
                </a:solidFill>
                <a:latin typeface="Arial"/>
                <a:ea typeface="Arial"/>
                <a:cs typeface="Arial"/>
              </a:rPr>
              <a:t>Dirección: Paula María Castro Castro</a:t>
            </a:r>
          </a:p>
        </p:txBody>
      </p:sp>
      <p:sp>
        <p:nvSpPr>
          <p:cNvPr id="7" name="Grado en Ingeniería Informática&#10;Mención en Ingeniería del So">
            <a:extLst xmlns:a="http://schemas.openxmlformats.org/drawingml/2006/main">
              <a:ext uri="{FF2B5EF4-FFF2-40B4-BE49-F238E27FC236}">
                <a16:creationId xmlns:a16="http://schemas.microsoft.com/office/drawing/2014/main" id="{CFC60B85-9AF8-4BBA-8C3A-F908615B1F01}"/>
              </a:ext>
            </a:extLst>
          </p:cNvPr>
          <p:cNvSpPr>
            <a:spLocks xmlns:a="http://schemas.openxmlformats.org/drawingml/2006/main" noGrp="1"/>
          </p:cNvSpPr>
          <p:nvPr/>
        </p:nvSpPr>
        <p:spPr>
          <a:xfrm xmlns:a="http://schemas.openxmlformats.org/drawingml/2006/main">
            <a:off x="7858125" y="5267325"/>
            <a:ext cx="3733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575" b="0">
                <a:solidFill>
                  <a:srgbClr val="536174"/>
                </a:solidFill>
                <a:latin typeface="Arial"/>
                <a:ea typeface="Arial"/>
                <a:cs typeface="Arial"/>
              </a:defRPr>
            </a:pPr>
            <a:r>
              <a:rPr sz="1575" b="0">
                <a:solidFill>
                  <a:srgbClr val="536174"/>
                </a:solidFill>
                <a:latin typeface="Arial"/>
                <a:ea typeface="Arial"/>
                <a:cs typeface="Arial"/>
              </a:rPr>
              <a:t>Grado en Ingeniería Informática</a:t>
            </a:r>
          </a:p>
          <a:p xmlns:a="http://schemas.openxmlformats.org/drawingml/2006/main">
            <a:pPr algn="r">
              <a:defRPr sz="1575" b="0">
                <a:solidFill>
                  <a:srgbClr val="536174"/>
                </a:solidFill>
                <a:latin typeface="Arial"/>
                <a:ea typeface="Arial"/>
                <a:cs typeface="Arial"/>
              </a:defRPr>
            </a:pPr>
            <a:r>
              <a:rPr sz="1575" b="0">
                <a:solidFill>
                  <a:srgbClr val="536174"/>
                </a:solidFill>
                <a:latin typeface="Arial"/>
                <a:ea typeface="Arial"/>
                <a:cs typeface="Arial"/>
              </a:rPr>
              <a:t>Mención en Ingeniería del Software</a:t>
            </a:r>
          </a:p>
        </p:txBody>
      </p:sp>
      <p:sp>
        <p:nvSpPr>
          <p:cNvPr id="8" name="Facultad de Informática · Septiembre de 2026">
            <a:extLst xmlns:a="http://schemas.openxmlformats.org/drawingml/2006/main">
              <a:ext uri="{FF2B5EF4-FFF2-40B4-BE49-F238E27FC236}">
                <a16:creationId xmlns:a16="http://schemas.microsoft.com/office/drawing/2014/main" id="{BD4FE35E-CDD8-4C3D-BB85-6775E2DC1F34}"/>
              </a:ext>
            </a:extLst>
          </p:cNvPr>
          <p:cNvSpPr>
            <a:spLocks xmlns:a="http://schemas.openxmlformats.org/drawingml/2006/main" noGrp="1"/>
          </p:cNvSpPr>
          <p:nvPr/>
        </p:nvSpPr>
        <p:spPr>
          <a:xfrm xmlns:a="http://schemas.openxmlformats.org/drawingml/2006/main">
            <a:off x="638175" y="64198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536174"/>
                </a:solidFill>
                <a:latin typeface="Arial"/>
                <a:ea typeface="Arial"/>
                <a:cs typeface="Arial"/>
              </a:defRPr>
            </a:pPr>
            <a:r>
              <a:rPr sz="1275" b="0">
                <a:solidFill>
                  <a:srgbClr val="536174"/>
                </a:solidFill>
                <a:latin typeface="Arial"/>
                <a:ea typeface="Arial"/>
                <a:cs typeface="Arial"/>
              </a:rPr>
              <a:t>Facultad de Informática · Septiembre de 2026</a:t>
            </a:r>
          </a:p>
        </p:txBody>
      </p:sp>
    </p:spTree>
    <p:extLst>
      <p:ext uri="{BB962C8B-B14F-4D97-AF65-F5344CB8AC3E}">
        <p14:creationId xmlns:p14="http://schemas.microsoft.com/office/powerpoint/2010/main" val="1899750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l problema operativo">
            <a:extLst xmlns:a="http://schemas.openxmlformats.org/drawingml/2006/main">
              <a:ext uri="{FF2B5EF4-FFF2-40B4-BE49-F238E27FC236}">
                <a16:creationId xmlns:a16="http://schemas.microsoft.com/office/drawing/2014/main" id="{3F0DACD8-B6F5-466D-9B34-46525758F54F}"/>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El problema operativo</a:t>
            </a:r>
          </a:p>
        </p:txBody>
      </p:sp>
      <p:sp>
        <p:nvSpPr>
          <p:cNvPr id="2" name="02">
            <a:extLst xmlns:a="http://schemas.openxmlformats.org/drawingml/2006/main">
              <a:ext uri="{FF2B5EF4-FFF2-40B4-BE49-F238E27FC236}">
                <a16:creationId xmlns:a16="http://schemas.microsoft.com/office/drawing/2014/main" id="{47FED254-D7BB-4CB4-8F3F-A4B13CC05AC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02</a:t>
            </a:r>
          </a:p>
        </p:txBody>
      </p:sp>
      <p:sp>
        <p:nvSpPr>
          <p:cNvPr id="3" name="CASO DE PARTIDA">
            <a:extLst xmlns:a="http://schemas.openxmlformats.org/drawingml/2006/main">
              <a:ext uri="{FF2B5EF4-FFF2-40B4-BE49-F238E27FC236}">
                <a16:creationId xmlns:a16="http://schemas.microsoft.com/office/drawing/2014/main" id="{0E8A8B2B-FCA3-4A0C-90FE-56736727462D}"/>
              </a:ext>
            </a:extLst>
          </p:cNvPr>
          <p:cNvSpPr>
            <a:spLocks xmlns:a="http://schemas.openxmlformats.org/drawingml/2006/main" noGrp="1"/>
          </p:cNvSpPr>
          <p:nvPr/>
        </p:nvSpPr>
        <p:spPr>
          <a:xfrm xmlns:a="http://schemas.openxmlformats.org/drawingml/2006/main">
            <a:off x="609600" y="1628775"/>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CASO DE PARTIDA</a:t>
            </a:r>
          </a:p>
        </p:txBody>
      </p:sp>
      <p:sp>
        <p:nvSpPr>
          <p:cNvPr id="4" name="Coordinar envíos con&#10;información repartida entre&#10;hojas, mens">
            <a:extLst xmlns:a="http://schemas.openxmlformats.org/drawingml/2006/main">
              <a:ext uri="{FF2B5EF4-FFF2-40B4-BE49-F238E27FC236}">
                <a16:creationId xmlns:a16="http://schemas.microsoft.com/office/drawing/2014/main" id="{63E46CC8-FACA-4686-87E2-CB507A78F336}"/>
              </a:ext>
            </a:extLst>
          </p:cNvPr>
          <p:cNvSpPr>
            <a:spLocks xmlns:a="http://schemas.openxmlformats.org/drawingml/2006/main" noGrp="1"/>
          </p:cNvSpPr>
          <p:nvPr/>
        </p:nvSpPr>
        <p:spPr>
          <a:xfrm xmlns:a="http://schemas.openxmlformats.org/drawingml/2006/main">
            <a:off x="609600" y="2162175"/>
            <a:ext cx="6334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925" b="0">
                <a:solidFill>
                  <a:srgbClr val="14263D"/>
                </a:solidFill>
                <a:latin typeface="Arial"/>
                <a:ea typeface="Arial"/>
                <a:cs typeface="Arial"/>
              </a:defRPr>
            </a:pPr>
            <a:r>
              <a:rPr sz="2925" b="0">
                <a:solidFill>
                  <a:srgbClr val="14263D"/>
                </a:solidFill>
                <a:latin typeface="Arial"/>
                <a:ea typeface="Arial"/>
                <a:cs typeface="Arial"/>
              </a:rPr>
              <a:t>Coordinar envíos con</a:t>
            </a:r>
          </a:p>
          <a:p xmlns:a="http://schemas.openxmlformats.org/drawingml/2006/main">
            <a:pPr algn="l">
              <a:defRPr sz="2925" b="0">
                <a:solidFill>
                  <a:srgbClr val="14263D"/>
                </a:solidFill>
                <a:latin typeface="Arial"/>
                <a:ea typeface="Arial"/>
                <a:cs typeface="Arial"/>
              </a:defRPr>
            </a:pPr>
            <a:r>
              <a:rPr sz="2925" b="0">
                <a:solidFill>
                  <a:srgbClr val="14263D"/>
                </a:solidFill>
                <a:latin typeface="Arial"/>
                <a:ea typeface="Arial"/>
                <a:cs typeface="Arial"/>
              </a:rPr>
              <a:t>información repartida entre</a:t>
            </a:r>
          </a:p>
          <a:p xmlns:a="http://schemas.openxmlformats.org/drawingml/2006/main">
            <a:pPr algn="l">
              <a:defRPr sz="2925" b="0">
                <a:solidFill>
                  <a:srgbClr val="14263D"/>
                </a:solidFill>
                <a:latin typeface="Arial"/>
                <a:ea typeface="Arial"/>
                <a:cs typeface="Arial"/>
              </a:defRPr>
            </a:pPr>
            <a:r>
              <a:rPr sz="2925" b="0">
                <a:solidFill>
                  <a:srgbClr val="14263D"/>
                </a:solidFill>
                <a:latin typeface="Arial"/>
                <a:ea typeface="Arial"/>
                <a:cs typeface="Arial"/>
              </a:rPr>
              <a:t>hojas, mensajes y llamadas</a:t>
            </a:r>
          </a:p>
        </p:txBody>
      </p:sp>
      <p:sp>
        <p:nvSpPr>
          <p:cNvPr id="5" name="Disponibilidad incierta">
            <a:extLst xmlns:a="http://schemas.openxmlformats.org/drawingml/2006/main">
              <a:ext uri="{FF2B5EF4-FFF2-40B4-BE49-F238E27FC236}">
                <a16:creationId xmlns:a16="http://schemas.microsoft.com/office/drawing/2014/main" id="{1D751436-E467-4840-AE66-E8D18D357207}"/>
              </a:ext>
            </a:extLst>
          </p:cNvPr>
          <p:cNvSpPr>
            <a:spLocks xmlns:a="http://schemas.openxmlformats.org/drawingml/2006/main" noGrp="1"/>
          </p:cNvSpPr>
          <p:nvPr/>
        </p:nvSpPr>
        <p:spPr>
          <a:xfrm xmlns:a="http://schemas.openxmlformats.org/drawingml/2006/main">
            <a:off x="7572375" y="17526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Disponibilidad incierta</a:t>
            </a:r>
          </a:p>
        </p:txBody>
      </p:sp>
      <p:sp>
        <p:nvSpPr>
          <p:cNvPr id="6" name="Un vehículo o conductor puede&#10;quedar reservado dos veces.">
            <a:extLst xmlns:a="http://schemas.openxmlformats.org/drawingml/2006/main">
              <a:ext uri="{FF2B5EF4-FFF2-40B4-BE49-F238E27FC236}">
                <a16:creationId xmlns:a16="http://schemas.microsoft.com/office/drawing/2014/main" id="{89E63B85-BD8E-40F1-B9F5-75723F499BCA}"/>
              </a:ext>
            </a:extLst>
          </p:cNvPr>
          <p:cNvSpPr>
            <a:spLocks xmlns:a="http://schemas.openxmlformats.org/drawingml/2006/main" noGrp="1"/>
          </p:cNvSpPr>
          <p:nvPr/>
        </p:nvSpPr>
        <p:spPr>
          <a:xfrm xmlns:a="http://schemas.openxmlformats.org/drawingml/2006/main">
            <a:off x="7572375" y="2171700"/>
            <a:ext cx="4000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Un vehículo o conductor puede</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quedar reservado dos veces.</a:t>
            </a:r>
          </a:p>
        </p:txBody>
      </p:sp>
      <p:sp>
        <p:nvSpPr>
          <p:cNvPr id="7" name="Historia incompleta">
            <a:extLst xmlns:a="http://schemas.openxmlformats.org/drawingml/2006/main">
              <a:ext uri="{FF2B5EF4-FFF2-40B4-BE49-F238E27FC236}">
                <a16:creationId xmlns:a16="http://schemas.microsoft.com/office/drawing/2014/main" id="{F55A0D4C-BB6D-40B1-BAB9-E1DBE7DE9E7E}"/>
              </a:ext>
            </a:extLst>
          </p:cNvPr>
          <p:cNvSpPr>
            <a:spLocks xmlns:a="http://schemas.openxmlformats.org/drawingml/2006/main" noGrp="1"/>
          </p:cNvSpPr>
          <p:nvPr/>
        </p:nvSpPr>
        <p:spPr>
          <a:xfrm xmlns:a="http://schemas.openxmlformats.org/drawingml/2006/main">
            <a:off x="7572375" y="3667125"/>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Historia incompleta</a:t>
            </a:r>
          </a:p>
        </p:txBody>
      </p:sp>
      <p:sp>
        <p:nvSpPr>
          <p:cNvPr id="8" name="Reconstruir una incidencia exige&#10;buscar qué pasó y quién act">
            <a:extLst xmlns:a="http://schemas.openxmlformats.org/drawingml/2006/main">
              <a:ext uri="{FF2B5EF4-FFF2-40B4-BE49-F238E27FC236}">
                <a16:creationId xmlns:a16="http://schemas.microsoft.com/office/drawing/2014/main" id="{5B0674D3-1F6B-41A0-8314-59B54A596488}"/>
              </a:ext>
            </a:extLst>
          </p:cNvPr>
          <p:cNvSpPr>
            <a:spLocks xmlns:a="http://schemas.openxmlformats.org/drawingml/2006/main" noGrp="1"/>
          </p:cNvSpPr>
          <p:nvPr/>
        </p:nvSpPr>
        <p:spPr>
          <a:xfrm xmlns:a="http://schemas.openxmlformats.org/drawingml/2006/main">
            <a:off x="7572375" y="4086225"/>
            <a:ext cx="4000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Reconstruir una incidencia exige</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buscar qué pasó y quién actuó.</a:t>
            </a:r>
          </a:p>
        </p:txBody>
      </p:sp>
      <p:sp>
        <p:nvSpPr>
          <p:cNvPr id="9" name="Una aplicación común para la operación diaria">
            <a:extLst xmlns:a="http://schemas.openxmlformats.org/drawingml/2006/main">
              <a:ext uri="{FF2B5EF4-FFF2-40B4-BE49-F238E27FC236}">
                <a16:creationId xmlns:a16="http://schemas.microsoft.com/office/drawing/2014/main" id="{59B563A9-0DC2-488E-AC3D-5256233C0111}"/>
              </a:ext>
            </a:extLst>
          </p:cNvPr>
          <p:cNvSpPr>
            <a:spLocks xmlns:a="http://schemas.openxmlformats.org/drawingml/2006/main" noGrp="1"/>
          </p:cNvSpPr>
          <p:nvPr/>
        </p:nvSpPr>
        <p:spPr>
          <a:xfrm xmlns:a="http://schemas.openxmlformats.org/drawingml/2006/main">
            <a:off x="609600" y="5276850"/>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2156A5"/>
                </a:solidFill>
                <a:latin typeface="Arial"/>
                <a:ea typeface="Arial"/>
                <a:cs typeface="Arial"/>
              </a:defRPr>
            </a:pPr>
            <a:r>
              <a:rPr sz="2325" b="0">
                <a:solidFill>
                  <a:srgbClr val="2156A5"/>
                </a:solidFill>
                <a:latin typeface="Arial"/>
                <a:ea typeface="Arial"/>
                <a:cs typeface="Arial"/>
              </a:rPr>
              <a:t>Una aplicación común para la operación diaria</a:t>
            </a:r>
          </a:p>
        </p:txBody>
      </p:sp>
      <p:sp>
        <p:nvSpPr>
          <p:cNvPr id="10" name="Caso ficticio de pyme de transporte. Elicitación mediante en">
            <a:extLst xmlns:a="http://schemas.openxmlformats.org/drawingml/2006/main">
              <a:ext uri="{FF2B5EF4-FFF2-40B4-BE49-F238E27FC236}">
                <a16:creationId xmlns:a16="http://schemas.microsoft.com/office/drawing/2014/main" id="{E841AF68-C77F-4E31-8C44-318A93302A8C}"/>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Caso ficticio de pyme de transporte. Elicitación mediante entrevista simulada. Memoria, pp. 1–3 y 15.</a:t>
            </a:r>
          </a:p>
        </p:txBody>
      </p:sp>
    </p:spTree>
    <p:extLst>
      <p:ext uri="{BB962C8B-B14F-4D97-AF65-F5344CB8AC3E}">
        <p14:creationId xmlns:p14="http://schemas.microsoft.com/office/powerpoint/2010/main" val="13753569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bjetivo y alcance">
            <a:extLst xmlns:a="http://schemas.openxmlformats.org/drawingml/2006/main">
              <a:ext uri="{FF2B5EF4-FFF2-40B4-BE49-F238E27FC236}">
                <a16:creationId xmlns:a16="http://schemas.microsoft.com/office/drawing/2014/main" id="{CE2CFC8B-66AA-4BE6-B7BE-A383CF3FD215}"/>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Objetivo y alcance</a:t>
            </a:r>
          </a:p>
        </p:txBody>
      </p:sp>
      <p:sp>
        <p:nvSpPr>
          <p:cNvPr id="2" name="03">
            <a:extLst xmlns:a="http://schemas.openxmlformats.org/drawingml/2006/main">
              <a:ext uri="{FF2B5EF4-FFF2-40B4-BE49-F238E27FC236}">
                <a16:creationId xmlns:a16="http://schemas.microsoft.com/office/drawing/2014/main" id="{852A9437-CE13-44C7-9BCF-F048E46F461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03</a:t>
            </a:r>
          </a:p>
        </p:txBody>
      </p:sp>
      <p:sp>
        <p:nvSpPr>
          <p:cNvPr id="3" name="Construir una aplicación mantenible y demostrar su ciclo de ">
            <a:extLst xmlns:a="http://schemas.openxmlformats.org/drawingml/2006/main">
              <a:ext uri="{FF2B5EF4-FFF2-40B4-BE49-F238E27FC236}">
                <a16:creationId xmlns:a16="http://schemas.microsoft.com/office/drawing/2014/main" id="{18B188EB-7DF3-4BAC-98A5-BFF8DFEB3B44}"/>
              </a:ext>
            </a:extLst>
          </p:cNvPr>
          <p:cNvSpPr>
            <a:spLocks xmlns:a="http://schemas.openxmlformats.org/drawingml/2006/main" noGrp="1"/>
          </p:cNvSpPr>
          <p:nvPr/>
        </p:nvSpPr>
        <p:spPr>
          <a:xfrm xmlns:a="http://schemas.openxmlformats.org/drawingml/2006/main">
            <a:off x="609600" y="150495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0">
                <a:solidFill>
                  <a:srgbClr val="14263D"/>
                </a:solidFill>
                <a:latin typeface="Arial"/>
                <a:ea typeface="Arial"/>
                <a:cs typeface="Arial"/>
              </a:defRPr>
            </a:pPr>
            <a:r>
              <a:rPr sz="2550" b="0">
                <a:solidFill>
                  <a:srgbClr val="14263D"/>
                </a:solidFill>
                <a:latin typeface="Arial"/>
                <a:ea typeface="Arial"/>
                <a:cs typeface="Arial"/>
              </a:rPr>
              <a:t>Construir una aplicación mantenible y demostrar su ciclo de vida completo</a:t>
            </a:r>
          </a:p>
        </p:txBody>
      </p:sp>
      <p:sp>
        <p:nvSpPr>
          <p:cNvPr id="4" name="Operación interna">
            <a:extLst xmlns:a="http://schemas.openxmlformats.org/drawingml/2006/main">
              <a:ext uri="{FF2B5EF4-FFF2-40B4-BE49-F238E27FC236}">
                <a16:creationId xmlns:a16="http://schemas.microsoft.com/office/drawing/2014/main" id="{9CD40A79-BF50-48F2-AA03-A2036FCA0F8E}"/>
              </a:ext>
            </a:extLst>
          </p:cNvPr>
          <p:cNvSpPr>
            <a:spLocks xmlns:a="http://schemas.openxmlformats.org/drawingml/2006/main" noGrp="1"/>
          </p:cNvSpPr>
          <p:nvPr/>
        </p:nvSpPr>
        <p:spPr>
          <a:xfrm xmlns:a="http://schemas.openxmlformats.org/drawingml/2006/main">
            <a:off x="609600" y="2809875"/>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Operación interna</a:t>
            </a:r>
          </a:p>
        </p:txBody>
      </p:sp>
      <p:sp>
        <p:nvSpPr>
          <p:cNvPr id="5" name="Catálogos y envíos&#10;Asignación y estados&#10;Eventos e incidencia">
            <a:extLst xmlns:a="http://schemas.openxmlformats.org/drawingml/2006/main">
              <a:ext uri="{FF2B5EF4-FFF2-40B4-BE49-F238E27FC236}">
                <a16:creationId xmlns:a16="http://schemas.microsoft.com/office/drawing/2014/main" id="{10922D1E-80B1-4D24-8A97-4AC5C523C628}"/>
              </a:ext>
            </a:extLst>
          </p:cNvPr>
          <p:cNvSpPr>
            <a:spLocks xmlns:a="http://schemas.openxmlformats.org/drawingml/2006/main" noGrp="1"/>
          </p:cNvSpPr>
          <p:nvPr/>
        </p:nvSpPr>
        <p:spPr>
          <a:xfrm xmlns:a="http://schemas.openxmlformats.org/drawingml/2006/main">
            <a:off x="609600" y="3295650"/>
            <a:ext cx="51435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Catálogos y envíos</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Asignación y estados</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Eventos e incidencias</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Usuarios e indicadores</a:t>
            </a:r>
          </a:p>
        </p:txBody>
      </p:sp>
      <p:sp>
        <p:nvSpPr>
          <p:cNvPr id="6" name="14">
            <a:extLst xmlns:a="http://schemas.openxmlformats.org/drawingml/2006/main">
              <a:ext uri="{FF2B5EF4-FFF2-40B4-BE49-F238E27FC236}">
                <a16:creationId xmlns:a16="http://schemas.microsoft.com/office/drawing/2014/main" id="{EA2CBCC5-C842-431B-BFDA-DDED0AC5ADF1}"/>
              </a:ext>
            </a:extLst>
          </p:cNvPr>
          <p:cNvSpPr>
            <a:spLocks xmlns:a="http://schemas.openxmlformats.org/drawingml/2006/main" noGrp="1"/>
          </p:cNvSpPr>
          <p:nvPr/>
        </p:nvSpPr>
        <p:spPr>
          <a:xfrm xmlns:a="http://schemas.openxmlformats.org/drawingml/2006/main">
            <a:off x="6772275" y="2771775"/>
            <a:ext cx="20669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700" b="1">
                <a:solidFill>
                  <a:srgbClr val="C0007F"/>
                </a:solidFill>
                <a:latin typeface="Arial"/>
                <a:ea typeface="Arial"/>
                <a:cs typeface="Arial"/>
              </a:defRPr>
            </a:pPr>
            <a:r>
              <a:rPr sz="5700" b="1">
                <a:solidFill>
                  <a:srgbClr val="C0007F"/>
                </a:solidFill>
                <a:latin typeface="Arial"/>
                <a:ea typeface="Arial"/>
                <a:cs typeface="Arial"/>
              </a:rPr>
              <a:t>14</a:t>
            </a:r>
          </a:p>
        </p:txBody>
      </p:sp>
      <p:sp>
        <p:nvSpPr>
          <p:cNvPr id="7" name="requisitos funcionales">
            <a:extLst xmlns:a="http://schemas.openxmlformats.org/drawingml/2006/main">
              <a:ext uri="{FF2B5EF4-FFF2-40B4-BE49-F238E27FC236}">
                <a16:creationId xmlns:a16="http://schemas.microsoft.com/office/drawing/2014/main" id="{54D4EFAB-30B3-43A5-848A-368E2BF0315A}"/>
              </a:ext>
            </a:extLst>
          </p:cNvPr>
          <p:cNvSpPr>
            <a:spLocks xmlns:a="http://schemas.openxmlformats.org/drawingml/2006/main" noGrp="1"/>
          </p:cNvSpPr>
          <p:nvPr/>
        </p:nvSpPr>
        <p:spPr>
          <a:xfrm xmlns:a="http://schemas.openxmlformats.org/drawingml/2006/main">
            <a:off x="6772275" y="3810000"/>
            <a:ext cx="20669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requisitos funcionales</a:t>
            </a:r>
          </a:p>
        </p:txBody>
      </p:sp>
      <p:sp>
        <p:nvSpPr>
          <p:cNvPr id="8" name="17">
            <a:extLst xmlns:a="http://schemas.openxmlformats.org/drawingml/2006/main">
              <a:ext uri="{FF2B5EF4-FFF2-40B4-BE49-F238E27FC236}">
                <a16:creationId xmlns:a16="http://schemas.microsoft.com/office/drawing/2014/main" id="{357DC9C2-EE0D-4101-8622-2211393339B4}"/>
              </a:ext>
            </a:extLst>
          </p:cNvPr>
          <p:cNvSpPr>
            <a:spLocks xmlns:a="http://schemas.openxmlformats.org/drawingml/2006/main" noGrp="1"/>
          </p:cNvSpPr>
          <p:nvPr/>
        </p:nvSpPr>
        <p:spPr>
          <a:xfrm xmlns:a="http://schemas.openxmlformats.org/drawingml/2006/main">
            <a:off x="9401175" y="2771775"/>
            <a:ext cx="2190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700" b="1">
                <a:solidFill>
                  <a:srgbClr val="C0007F"/>
                </a:solidFill>
                <a:latin typeface="Arial"/>
                <a:ea typeface="Arial"/>
                <a:cs typeface="Arial"/>
              </a:defRPr>
            </a:pPr>
            <a:r>
              <a:rPr sz="5700" b="1">
                <a:solidFill>
                  <a:srgbClr val="C0007F"/>
                </a:solidFill>
                <a:latin typeface="Arial"/>
                <a:ea typeface="Arial"/>
                <a:cs typeface="Arial"/>
              </a:rPr>
              <a:t>17</a:t>
            </a:r>
          </a:p>
        </p:txBody>
      </p:sp>
      <p:sp>
        <p:nvSpPr>
          <p:cNvPr id="9" name="reglas de negocio">
            <a:extLst xmlns:a="http://schemas.openxmlformats.org/drawingml/2006/main">
              <a:ext uri="{FF2B5EF4-FFF2-40B4-BE49-F238E27FC236}">
                <a16:creationId xmlns:a16="http://schemas.microsoft.com/office/drawing/2014/main" id="{3AC37BC1-5B6A-440E-86A0-E846C6350C1F}"/>
              </a:ext>
            </a:extLst>
          </p:cNvPr>
          <p:cNvSpPr>
            <a:spLocks xmlns:a="http://schemas.openxmlformats.org/drawingml/2006/main" noGrp="1"/>
          </p:cNvSpPr>
          <p:nvPr/>
        </p:nvSpPr>
        <p:spPr>
          <a:xfrm xmlns:a="http://schemas.openxmlformats.org/drawingml/2006/main">
            <a:off x="9401175" y="381000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reglas de negocio</a:t>
            </a:r>
          </a:p>
        </p:txBody>
      </p:sp>
      <p:sp>
        <p:nvSpPr>
          <p:cNvPr id="10" name="Operador y administrador">
            <a:extLst xmlns:a="http://schemas.openxmlformats.org/drawingml/2006/main">
              <a:ext uri="{FF2B5EF4-FFF2-40B4-BE49-F238E27FC236}">
                <a16:creationId xmlns:a16="http://schemas.microsoft.com/office/drawing/2014/main" id="{F8A3E52B-034E-4E3A-877F-8A2F3699CF16}"/>
              </a:ext>
            </a:extLst>
          </p:cNvPr>
          <p:cNvSpPr>
            <a:spLocks xmlns:a="http://schemas.openxmlformats.org/drawingml/2006/main" noGrp="1"/>
          </p:cNvSpPr>
          <p:nvPr/>
        </p:nvSpPr>
        <p:spPr>
          <a:xfrm xmlns:a="http://schemas.openxmlformats.org/drawingml/2006/main">
            <a:off x="609600" y="5438775"/>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2156A5"/>
                </a:solidFill>
                <a:latin typeface="Arial"/>
                <a:ea typeface="Arial"/>
                <a:cs typeface="Arial"/>
              </a:defRPr>
            </a:pPr>
            <a:r>
              <a:rPr sz="1950" b="1">
                <a:solidFill>
                  <a:srgbClr val="2156A5"/>
                </a:solidFill>
                <a:latin typeface="Arial"/>
                <a:ea typeface="Arial"/>
                <a:cs typeface="Arial"/>
              </a:rPr>
              <a:t>Operador y administrador</a:t>
            </a:r>
          </a:p>
        </p:txBody>
      </p:sp>
      <p:sp>
        <p:nvSpPr>
          <p:cNvPr id="11" name="Fuera del alcance: rutas, GPS, facturación y acceso externo">
            <a:extLst xmlns:a="http://schemas.openxmlformats.org/drawingml/2006/main">
              <a:ext uri="{FF2B5EF4-FFF2-40B4-BE49-F238E27FC236}">
                <a16:creationId xmlns:a16="http://schemas.microsoft.com/office/drawing/2014/main" id="{1D0CB32E-63E2-4CBB-8925-A9D3A2156783}"/>
              </a:ext>
            </a:extLst>
          </p:cNvPr>
          <p:cNvSpPr>
            <a:spLocks xmlns:a="http://schemas.openxmlformats.org/drawingml/2006/main" noGrp="1"/>
          </p:cNvSpPr>
          <p:nvPr/>
        </p:nvSpPr>
        <p:spPr>
          <a:xfrm xmlns:a="http://schemas.openxmlformats.org/drawingml/2006/main">
            <a:off x="6772275" y="5029200"/>
            <a:ext cx="471487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536174"/>
                </a:solidFill>
                <a:latin typeface="Arial"/>
                <a:ea typeface="Arial"/>
                <a:cs typeface="Arial"/>
              </a:defRPr>
            </a:pPr>
            <a:r>
              <a:rPr sz="1875" b="0">
                <a:solidFill>
                  <a:srgbClr val="536174"/>
                </a:solidFill>
                <a:latin typeface="Arial"/>
                <a:ea typeface="Arial"/>
                <a:cs typeface="Arial"/>
              </a:rPr>
              <a:t>Fuera del alcance: rutas, GPS, facturación y acceso externo</a:t>
            </a:r>
          </a:p>
        </p:txBody>
      </p:sp>
      <p:sp>
        <p:nvSpPr>
          <p:cNvPr id="12" name="6 requisitos no funcionales y 4 casos de uso completos. Memo">
            <a:extLst xmlns:a="http://schemas.openxmlformats.org/drawingml/2006/main">
              <a:ext uri="{FF2B5EF4-FFF2-40B4-BE49-F238E27FC236}">
                <a16:creationId xmlns:a16="http://schemas.microsoft.com/office/drawing/2014/main" id="{A93C1F4E-C464-4152-B959-EA567F99483E}"/>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6 requisitos no funcionales y 4 casos de uso completos. Memoria, pp. 2–3 y 15–21.</a:t>
            </a:r>
          </a:p>
        </p:txBody>
      </p:sp>
    </p:spTree>
    <p:extLst>
      <p:ext uri="{BB962C8B-B14F-4D97-AF65-F5344CB8AC3E}">
        <p14:creationId xmlns:p14="http://schemas.microsoft.com/office/powerpoint/2010/main" val="18737071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sarrollo por incrementos verticales">
            <a:extLst xmlns:a="http://schemas.openxmlformats.org/drawingml/2006/main">
              <a:ext uri="{FF2B5EF4-FFF2-40B4-BE49-F238E27FC236}">
                <a16:creationId xmlns:a16="http://schemas.microsoft.com/office/drawing/2014/main" id="{49E3DF24-48A5-4063-81BC-19FDDDF6D287}"/>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Desarrollo por incrementos verticales</a:t>
            </a:r>
          </a:p>
        </p:txBody>
      </p:sp>
      <p:sp>
        <p:nvSpPr>
          <p:cNvPr id="2" name="04">
            <a:extLst xmlns:a="http://schemas.openxmlformats.org/drawingml/2006/main">
              <a:ext uri="{FF2B5EF4-FFF2-40B4-BE49-F238E27FC236}">
                <a16:creationId xmlns:a16="http://schemas.microsoft.com/office/drawing/2014/main" id="{82537DA2-5ABA-48C7-939C-7BF6D956334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04</a:t>
            </a:r>
          </a:p>
        </p:txBody>
      </p:sp>
      <p:sp>
        <p:nvSpPr>
          <p:cNvPr id="3" name="Cada capacidad incorpora datos, API, interfaz y pruebas">
            <a:extLst xmlns:a="http://schemas.openxmlformats.org/drawingml/2006/main">
              <a:ext uri="{FF2B5EF4-FFF2-40B4-BE49-F238E27FC236}">
                <a16:creationId xmlns:a16="http://schemas.microsoft.com/office/drawing/2014/main" id="{24DE7636-8382-474C-AEBD-4E6A7A0B9D5E}"/>
              </a:ext>
            </a:extLst>
          </p:cNvPr>
          <p:cNvSpPr>
            <a:spLocks xmlns:a="http://schemas.openxmlformats.org/drawingml/2006/main" noGrp="1"/>
          </p:cNvSpPr>
          <p:nvPr/>
        </p:nvSpPr>
        <p:spPr>
          <a:xfrm xmlns:a="http://schemas.openxmlformats.org/drawingml/2006/main">
            <a:off x="609600" y="1438275"/>
            <a:ext cx="108204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536174"/>
                </a:solidFill>
                <a:latin typeface="Arial"/>
                <a:ea typeface="Arial"/>
                <a:cs typeface="Arial"/>
              </a:defRPr>
            </a:pPr>
            <a:r>
              <a:rPr sz="2175" b="0">
                <a:solidFill>
                  <a:srgbClr val="536174"/>
                </a:solidFill>
                <a:latin typeface="Arial"/>
                <a:ea typeface="Arial"/>
                <a:cs typeface="Arial"/>
              </a:rPr>
              <a:t>Cada capacidad incorpora datos, API, interfaz y pruebas</a:t>
            </a:r>
          </a:p>
        </p:txBody>
      </p:sp>
      <p:graphicFrame>
        <p:nvGraphicFramePr>
          <p:cNvPr id="12" name=""/>
          <p:cNvGraphicFramePr/>
          <p:nvPr/>
        </p:nvGraphicFramePr>
        <p:xfrm>
          <a:off xmlns:a="http://schemas.openxmlformats.org/drawingml/2006/main" x="609600" y="2105025"/>
          <a:ext xmlns:a="http://schemas.openxmlformats.org/drawingml/2006/main" cx="7077075" cy="3733800"/>
        </p:xfrm>
        <a:graphic xmlns:a="http://schemas.openxmlformats.org/drawingml/2006/main">
          <a:graphicData uri="http://schemas.openxmlformats.org/drawingml/2006/table">
            <a:tbl>
              <a:tblPr firstRow="0" bandRow="0"/>
              <a:tblGrid>
                <a:gridCol w="1552575"/>
                <a:gridCol w="5524500"/>
              </a:tblGrid>
              <a:tr h="533400">
                <a:tc>
                  <a:txBody>
                    <a:bodyPr>
                      <a:noAutofit/>
                    </a:bodyPr>
                    <a:lstStyle/>
                    <a:p>
                      <a:r>
                        <a:rPr sz="1800" b="1">
                          <a:solidFill>
                            <a:srgbClr val="FFFFFF"/>
                          </a:solidFill>
                          <a:latin typeface="Arial"/>
                          <a:ea typeface="Arial"/>
                          <a:cs typeface="Arial"/>
                        </a:rPr>
                        <a:t>Sprint</a:t>
                      </a:r>
                    </a:p>
                  </a:txBody>
                  <a:tcPr marL="152400" marR="152400" marT="114300" marB="95250" anchor="ctr">
                    <a:solidFill>
                      <a:srgbClr val="14263D"/>
                    </a:solidFill>
                  </a:tcPr>
                </a:tc>
                <a:tc>
                  <a:txBody>
                    <a:bodyPr>
                      <a:noAutofit/>
                    </a:bodyPr>
                    <a:lstStyle/>
                    <a:p>
                      <a:r>
                        <a:rPr sz="1800" b="1">
                          <a:solidFill>
                            <a:srgbClr val="FFFFFF"/>
                          </a:solidFill>
                          <a:latin typeface="Arial"/>
                          <a:ea typeface="Arial"/>
                          <a:cs typeface="Arial"/>
                        </a:rPr>
                        <a:t>Resultado integrado</a:t>
                      </a:r>
                    </a:p>
                  </a:txBody>
                  <a:tcPr marL="152400" marR="152400" marT="114300" marB="95250" anchor="ctr">
                    <a:solidFill>
                      <a:srgbClr val="14263D"/>
                    </a:solidFill>
                  </a:tcPr>
                </a:tc>
              </a:tr>
              <a:tr h="533400">
                <a:tc>
                  <a:txBody>
                    <a:bodyPr>
                      <a:noAutofit/>
                    </a:bodyPr>
                    <a:lstStyle/>
                    <a:p>
                      <a:r>
                        <a:rPr sz="1800" b="0">
                          <a:solidFill>
                            <a:srgbClr val="14263D"/>
                          </a:solidFill>
                          <a:latin typeface="Arial"/>
                          <a:ea typeface="Arial"/>
                          <a:cs typeface="Arial"/>
                        </a:rPr>
                        <a:t>S1</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Esqueleto autenticado</a:t>
                      </a:r>
                    </a:p>
                  </a:txBody>
                  <a:tcPr marL="152400" marR="152400" marT="114300" marB="95250" anchor="ctr">
                    <a:solidFill>
                      <a:srgbClr val="FFFFFF"/>
                    </a:solidFill>
                  </a:tcPr>
                </a:tc>
              </a:tr>
              <a:tr h="533400">
                <a:tc>
                  <a:txBody>
                    <a:bodyPr>
                      <a:noAutofit/>
                    </a:bodyPr>
                    <a:lstStyle/>
                    <a:p>
                      <a:r>
                        <a:rPr sz="1800" b="0">
                          <a:solidFill>
                            <a:srgbClr val="14263D"/>
                          </a:solidFill>
                          <a:latin typeface="Arial"/>
                          <a:ea typeface="Arial"/>
                          <a:cs typeface="Arial"/>
                        </a:rPr>
                        <a:t>S2–S3</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Catálogos, envíos y filtros</a:t>
                      </a:r>
                    </a:p>
                  </a:txBody>
                  <a:tcPr marL="152400" marR="152400" marT="114300" marB="95250" anchor="ctr">
                    <a:solidFill>
                      <a:srgbClr val="FFFFFF"/>
                    </a:solidFill>
                  </a:tcPr>
                </a:tc>
              </a:tr>
              <a:tr h="533400">
                <a:tc>
                  <a:txBody>
                    <a:bodyPr>
                      <a:noAutofit/>
                    </a:bodyPr>
                    <a:lstStyle/>
                    <a:p>
                      <a:r>
                        <a:rPr sz="1800" b="0">
                          <a:solidFill>
                            <a:srgbClr val="14263D"/>
                          </a:solidFill>
                          <a:latin typeface="Arial"/>
                          <a:ea typeface="Arial"/>
                          <a:cs typeface="Arial"/>
                        </a:rPr>
                        <a:t>S4–S5</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Asignación, estados e historial</a:t>
                      </a:r>
                    </a:p>
                  </a:txBody>
                  <a:tcPr marL="152400" marR="152400" marT="114300" marB="95250" anchor="ctr">
                    <a:solidFill>
                      <a:srgbClr val="FFFFFF"/>
                    </a:solidFill>
                  </a:tcPr>
                </a:tc>
              </a:tr>
              <a:tr h="533400">
                <a:tc>
                  <a:txBody>
                    <a:bodyPr>
                      <a:noAutofit/>
                    </a:bodyPr>
                    <a:lstStyle/>
                    <a:p>
                      <a:r>
                        <a:rPr sz="1800" b="0">
                          <a:solidFill>
                            <a:srgbClr val="14263D"/>
                          </a:solidFill>
                          <a:latin typeface="Arial"/>
                          <a:ea typeface="Arial"/>
                          <a:cs typeface="Arial"/>
                        </a:rPr>
                        <a:t>S6</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Usuarios, contraseñas e indicadores</a:t>
                      </a:r>
                    </a:p>
                  </a:txBody>
                  <a:tcPr marL="152400" marR="152400" marT="114300" marB="95250" anchor="ctr">
                    <a:solidFill>
                      <a:srgbClr val="FFFFFF"/>
                    </a:solidFill>
                  </a:tcPr>
                </a:tc>
              </a:tr>
              <a:tr h="533400">
                <a:tc>
                  <a:txBody>
                    <a:bodyPr>
                      <a:noAutofit/>
                    </a:bodyPr>
                    <a:lstStyle/>
                    <a:p>
                      <a:r>
                        <a:rPr sz="1800" b="0">
                          <a:solidFill>
                            <a:srgbClr val="14263D"/>
                          </a:solidFill>
                          <a:latin typeface="Arial"/>
                          <a:ea typeface="Arial"/>
                          <a:cs typeface="Arial"/>
                        </a:rPr>
                        <a:t>S7</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Concurrencia, sesión, sistema y despliegue</a:t>
                      </a:r>
                    </a:p>
                  </a:txBody>
                  <a:tcPr marL="152400" marR="152400" marT="114300" marB="95250" anchor="ctr">
                    <a:solidFill>
                      <a:srgbClr val="FFFFFF"/>
                    </a:solidFill>
                  </a:tcPr>
                </a:tc>
              </a:tr>
              <a:tr h="533400">
                <a:tc>
                  <a:txBody>
                    <a:bodyPr>
                      <a:noAutofit/>
                    </a:bodyPr>
                    <a:lstStyle/>
                    <a:p>
                      <a:r>
                        <a:rPr sz="1800" b="0">
                          <a:solidFill>
                            <a:srgbClr val="14263D"/>
                          </a:solidFill>
                          <a:latin typeface="Arial"/>
                          <a:ea typeface="Arial"/>
                          <a:cs typeface="Arial"/>
                        </a:rPr>
                        <a:t>S8</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Cierre documental y defensa</a:t>
                      </a:r>
                    </a:p>
                  </a:txBody>
                  <a:tcPr marL="152400" marR="152400" marT="114300" marB="95250" anchor="ctr">
                    <a:solidFill>
                      <a:srgbClr val="FFFFFF"/>
                    </a:solidFill>
                  </a:tcPr>
                </a:tc>
              </a:tr>
            </a:tbl>
          </a:graphicData>
        </a:graphic>
      </p:graphicFrame>
      <p:sp>
        <p:nvSpPr>
          <p:cNvPr id="5" name="Cierre de cada incremento">
            <a:extLst xmlns:a="http://schemas.openxmlformats.org/drawingml/2006/main">
              <a:ext uri="{FF2B5EF4-FFF2-40B4-BE49-F238E27FC236}">
                <a16:creationId xmlns:a16="http://schemas.microsoft.com/office/drawing/2014/main" id="{49F5AD84-2929-4CB7-BF03-D0B643B287BF}"/>
              </a:ext>
            </a:extLst>
          </p:cNvPr>
          <p:cNvSpPr>
            <a:spLocks xmlns:a="http://schemas.openxmlformats.org/drawingml/2006/main" noGrp="1"/>
          </p:cNvSpPr>
          <p:nvPr/>
        </p:nvSpPr>
        <p:spPr>
          <a:xfrm xmlns:a="http://schemas.openxmlformats.org/drawingml/2006/main">
            <a:off x="8258175" y="219075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Cierre de cada incremento</a:t>
            </a:r>
          </a:p>
        </p:txBody>
      </p:sp>
      <p:sp>
        <p:nvSpPr>
          <p:cNvPr id="6" name="Flujo utilizable&#10;Pruebas y compilación&#10;Evidencia documentada">
            <a:extLst xmlns:a="http://schemas.openxmlformats.org/drawingml/2006/main">
              <a:ext uri="{FF2B5EF4-FFF2-40B4-BE49-F238E27FC236}">
                <a16:creationId xmlns:a16="http://schemas.microsoft.com/office/drawing/2014/main" id="{72B36B5E-FFED-46AB-B57F-A6852AB036F0}"/>
              </a:ext>
            </a:extLst>
          </p:cNvPr>
          <p:cNvSpPr>
            <a:spLocks xmlns:a="http://schemas.openxmlformats.org/drawingml/2006/main" noGrp="1"/>
          </p:cNvSpPr>
          <p:nvPr/>
        </p:nvSpPr>
        <p:spPr>
          <a:xfrm xmlns:a="http://schemas.openxmlformats.org/drawingml/2006/main">
            <a:off x="8258175" y="2752725"/>
            <a:ext cx="33051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Flujo utilizable</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Pruebas y compilación</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Evidencia documentada</a:t>
            </a:r>
          </a:p>
        </p:txBody>
      </p:sp>
      <p:sp>
        <p:nvSpPr>
          <p:cNvPr id="7" name="Diseño conceptual completo.&#10;Implementación progresiva.">
            <a:extLst xmlns:a="http://schemas.openxmlformats.org/drawingml/2006/main">
              <a:ext uri="{FF2B5EF4-FFF2-40B4-BE49-F238E27FC236}">
                <a16:creationId xmlns:a16="http://schemas.microsoft.com/office/drawing/2014/main" id="{BEBB5006-A844-494E-8041-AA397FE04AB3}"/>
              </a:ext>
            </a:extLst>
          </p:cNvPr>
          <p:cNvSpPr>
            <a:spLocks xmlns:a="http://schemas.openxmlformats.org/drawingml/2006/main" noGrp="1"/>
          </p:cNvSpPr>
          <p:nvPr/>
        </p:nvSpPr>
        <p:spPr>
          <a:xfrm xmlns:a="http://schemas.openxmlformats.org/drawingml/2006/main">
            <a:off x="8258175" y="4810125"/>
            <a:ext cx="3286125"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2156A5"/>
                </a:solidFill>
                <a:latin typeface="Arial"/>
                <a:ea typeface="Arial"/>
                <a:cs typeface="Arial"/>
              </a:defRPr>
            </a:pPr>
            <a:r>
              <a:rPr sz="2025" b="0">
                <a:solidFill>
                  <a:srgbClr val="2156A5"/>
                </a:solidFill>
                <a:latin typeface="Arial"/>
                <a:ea typeface="Arial"/>
                <a:cs typeface="Arial"/>
              </a:rPr>
              <a:t>Diseño conceptual completo.</a:t>
            </a:r>
          </a:p>
          <a:p xmlns:a="http://schemas.openxmlformats.org/drawingml/2006/main">
            <a:pPr algn="l">
              <a:defRPr sz="2025" b="0">
                <a:solidFill>
                  <a:srgbClr val="2156A5"/>
                </a:solidFill>
                <a:latin typeface="Arial"/>
                <a:ea typeface="Arial"/>
                <a:cs typeface="Arial"/>
              </a:defRPr>
            </a:pPr>
            <a:r>
              <a:rPr sz="2025" b="0">
                <a:solidFill>
                  <a:srgbClr val="2156A5"/>
                </a:solidFill>
                <a:latin typeface="Arial"/>
                <a:ea typeface="Arial"/>
                <a:cs typeface="Arial"/>
              </a:rPr>
              <a:t>Implementación progresiva.</a:t>
            </a:r>
          </a:p>
        </p:txBody>
      </p:sp>
      <p:sp>
        <p:nvSpPr>
          <p:cNvPr id="8" name="Proceso iterativo e incremental adaptado a un proyecto indiv">
            <a:extLst xmlns:a="http://schemas.openxmlformats.org/drawingml/2006/main">
              <a:ext uri="{FF2B5EF4-FFF2-40B4-BE49-F238E27FC236}">
                <a16:creationId xmlns:a16="http://schemas.microsoft.com/office/drawing/2014/main" id="{F5B6A4FA-6E5C-43DA-8223-2C3DAAAE7B74}"/>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Proceso iterativo e incremental adaptado a un proyecto individual. Memoria, pp. 9–14.</a:t>
            </a:r>
          </a:p>
        </p:txBody>
      </p:sp>
    </p:spTree>
    <p:extLst>
      <p:ext uri="{BB962C8B-B14F-4D97-AF65-F5344CB8AC3E}">
        <p14:creationId xmlns:p14="http://schemas.microsoft.com/office/powerpoint/2010/main" val="12629361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Planificación y coste estimado">
            <a:extLst xmlns:a="http://schemas.openxmlformats.org/drawingml/2006/main">
              <a:ext uri="{FF2B5EF4-FFF2-40B4-BE49-F238E27FC236}">
                <a16:creationId xmlns:a16="http://schemas.microsoft.com/office/drawing/2014/main" id="{F1C96B59-6AA4-40FE-BD6B-C79EF8260177}"/>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Planificación y coste estimado</a:t>
            </a:r>
          </a:p>
        </p:txBody>
      </p:sp>
      <p:sp>
        <p:nvSpPr>
          <p:cNvPr id="2" name="05">
            <a:extLst xmlns:a="http://schemas.openxmlformats.org/drawingml/2006/main">
              <a:ext uri="{FF2B5EF4-FFF2-40B4-BE49-F238E27FC236}">
                <a16:creationId xmlns:a16="http://schemas.microsoft.com/office/drawing/2014/main" id="{A3943828-DF56-43BB-9DF6-92BF0663291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05</a:t>
            </a:r>
          </a:p>
        </p:txBody>
      </p:sp>
      <p:sp>
        <p:nvSpPr>
          <p:cNvPr id="3" name="300 h">
            <a:extLst xmlns:a="http://schemas.openxmlformats.org/drawingml/2006/main">
              <a:ext uri="{FF2B5EF4-FFF2-40B4-BE49-F238E27FC236}">
                <a16:creationId xmlns:a16="http://schemas.microsoft.com/office/drawing/2014/main" id="{DC27448A-069E-4911-AB0F-8B8027EBF7F9}"/>
              </a:ext>
            </a:extLst>
          </p:cNvPr>
          <p:cNvSpPr>
            <a:spLocks xmlns:a="http://schemas.openxmlformats.org/drawingml/2006/main" noGrp="1"/>
          </p:cNvSpPr>
          <p:nvPr/>
        </p:nvSpPr>
        <p:spPr>
          <a:xfrm xmlns:a="http://schemas.openxmlformats.org/drawingml/2006/main">
            <a:off x="609600" y="1581150"/>
            <a:ext cx="3143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700" b="1">
                <a:solidFill>
                  <a:srgbClr val="C0007F"/>
                </a:solidFill>
                <a:latin typeface="Arial"/>
                <a:ea typeface="Arial"/>
                <a:cs typeface="Arial"/>
              </a:defRPr>
            </a:pPr>
            <a:r>
              <a:rPr sz="5700" b="1">
                <a:solidFill>
                  <a:srgbClr val="C0007F"/>
                </a:solidFill>
                <a:latin typeface="Arial"/>
                <a:ea typeface="Arial"/>
                <a:cs typeface="Arial"/>
              </a:rPr>
              <a:t>300 h</a:t>
            </a:r>
          </a:p>
        </p:txBody>
      </p:sp>
      <p:sp>
        <p:nvSpPr>
          <p:cNvPr id="4" name="dedicación planificada">
            <a:extLst xmlns:a="http://schemas.openxmlformats.org/drawingml/2006/main">
              <a:ext uri="{FF2B5EF4-FFF2-40B4-BE49-F238E27FC236}">
                <a16:creationId xmlns:a16="http://schemas.microsoft.com/office/drawing/2014/main" id="{38E993C7-23F1-4D33-87F4-E90F9ABB25F4}"/>
              </a:ext>
            </a:extLst>
          </p:cNvPr>
          <p:cNvSpPr>
            <a:spLocks xmlns:a="http://schemas.openxmlformats.org/drawingml/2006/main" noGrp="1"/>
          </p:cNvSpPr>
          <p:nvPr/>
        </p:nvSpPr>
        <p:spPr>
          <a:xfrm xmlns:a="http://schemas.openxmlformats.org/drawingml/2006/main">
            <a:off x="609600" y="2619375"/>
            <a:ext cx="3143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dedicación planificada</a:t>
            </a:r>
          </a:p>
        </p:txBody>
      </p:sp>
      <p:sp>
        <p:nvSpPr>
          <p:cNvPr id="5" name="10 semanas efectivas">
            <a:extLst xmlns:a="http://schemas.openxmlformats.org/drawingml/2006/main">
              <a:ext uri="{FF2B5EF4-FFF2-40B4-BE49-F238E27FC236}">
                <a16:creationId xmlns:a16="http://schemas.microsoft.com/office/drawing/2014/main" id="{04161C7F-D0A4-4BF7-9FA7-D350D6B94EE2}"/>
              </a:ext>
            </a:extLst>
          </p:cNvPr>
          <p:cNvSpPr>
            <a:spLocks xmlns:a="http://schemas.openxmlformats.org/drawingml/2006/main" noGrp="1"/>
          </p:cNvSpPr>
          <p:nvPr/>
        </p:nvSpPr>
        <p:spPr>
          <a:xfrm xmlns:a="http://schemas.openxmlformats.org/drawingml/2006/main">
            <a:off x="609600" y="37147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2156A5"/>
                </a:solidFill>
                <a:latin typeface="Arial"/>
                <a:ea typeface="Arial"/>
                <a:cs typeface="Arial"/>
              </a:defRPr>
            </a:pPr>
            <a:r>
              <a:rPr sz="1725" b="1">
                <a:solidFill>
                  <a:srgbClr val="2156A5"/>
                </a:solidFill>
                <a:latin typeface="Arial"/>
                <a:ea typeface="Arial"/>
                <a:cs typeface="Arial"/>
              </a:rPr>
              <a:t>10 semanas efectivas</a:t>
            </a:r>
          </a:p>
        </p:txBody>
      </p:sp>
      <p:sp>
        <p:nvSpPr>
          <p:cNvPr id="6" name="6.137,50 €">
            <a:extLst xmlns:a="http://schemas.openxmlformats.org/drawingml/2006/main">
              <a:ext uri="{FF2B5EF4-FFF2-40B4-BE49-F238E27FC236}">
                <a16:creationId xmlns:a16="http://schemas.microsoft.com/office/drawing/2014/main" id="{C090966F-3FA8-4A5A-BB1B-62547CBD8019}"/>
              </a:ext>
            </a:extLst>
          </p:cNvPr>
          <p:cNvSpPr>
            <a:spLocks xmlns:a="http://schemas.openxmlformats.org/drawingml/2006/main" noGrp="1"/>
          </p:cNvSpPr>
          <p:nvPr/>
        </p:nvSpPr>
        <p:spPr>
          <a:xfrm xmlns:a="http://schemas.openxmlformats.org/drawingml/2006/main">
            <a:off x="609600" y="4448175"/>
            <a:ext cx="36957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675" b="1">
                <a:solidFill>
                  <a:srgbClr val="14263D"/>
                </a:solidFill>
                <a:latin typeface="Arial"/>
                <a:ea typeface="Arial"/>
                <a:cs typeface="Arial"/>
              </a:defRPr>
            </a:pPr>
            <a:r>
              <a:rPr sz="3675" b="1">
                <a:solidFill>
                  <a:srgbClr val="14263D"/>
                </a:solidFill>
                <a:latin typeface="Arial"/>
                <a:ea typeface="Arial"/>
                <a:cs typeface="Arial"/>
              </a:rPr>
              <a:t>6.137,50 €</a:t>
            </a:r>
          </a:p>
        </p:txBody>
      </p:sp>
      <p:sp>
        <p:nvSpPr>
          <p:cNvPr id="7" name="Valoración profesional estimada">
            <a:extLst xmlns:a="http://schemas.openxmlformats.org/drawingml/2006/main">
              <a:ext uri="{FF2B5EF4-FFF2-40B4-BE49-F238E27FC236}">
                <a16:creationId xmlns:a16="http://schemas.microsoft.com/office/drawing/2014/main" id="{405E1E3A-307E-4C92-913E-50DD467E73F5}"/>
              </a:ext>
            </a:extLst>
          </p:cNvPr>
          <p:cNvSpPr>
            <a:spLocks xmlns:a="http://schemas.openxmlformats.org/drawingml/2006/main" noGrp="1"/>
          </p:cNvSpPr>
          <p:nvPr/>
        </p:nvSpPr>
        <p:spPr>
          <a:xfrm xmlns:a="http://schemas.openxmlformats.org/drawingml/2006/main">
            <a:off x="609600" y="5219700"/>
            <a:ext cx="3762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536174"/>
                </a:solidFill>
                <a:latin typeface="Arial"/>
                <a:ea typeface="Arial"/>
                <a:cs typeface="Arial"/>
              </a:defRPr>
            </a:pPr>
            <a:r>
              <a:rPr sz="1800" b="0">
                <a:solidFill>
                  <a:srgbClr val="536174"/>
                </a:solidFill>
                <a:latin typeface="Arial"/>
                <a:ea typeface="Arial"/>
                <a:cs typeface="Arial"/>
              </a:rPr>
              <a:t>Valoración profesional estimada</a:t>
            </a:r>
          </a:p>
        </p:txBody>
      </p:sp>
      <p:graphicFrame>
        <p:nvGraphicFramePr>
          <p:cNvPr id="17" name="Chart"/>
          <p:cNvGraphicFramePr/>
          <p:nvPr/>
        </p:nvGraphicFramePr>
        <p:xfrm>
          <a:off xmlns:a="http://schemas.openxmlformats.org/drawingml/2006/main" x="4391025" y="1657350"/>
          <a:ext xmlns:a="http://schemas.openxmlformats.org/drawingml/2006/main" cx="7191375" cy="4143375"/>
        </p:xfrm>
        <a:graphic xmlns:a="http://schemas.openxmlformats.org/drawingml/2006/main">
          <a:graphicData uri="http://schemas.openxmlformats.org/drawingml/2006/chart">
            <c:chart xmlns:r="http://schemas.openxmlformats.org/officeDocument/2006/relationships" xmlns:c="http://schemas.openxmlformats.org/drawingml/2006/chart" r:id="R7dcfa36efdcb4830"/>
          </a:graphicData>
        </a:graphic>
      </p:graphicFrame>
      <p:sp>
        <p:nvSpPr>
          <p:cNvPr id="9" name="Estimaciones de la memoria, no mediciones de dedicación ni g">
            <a:extLst xmlns:a="http://schemas.openxmlformats.org/drawingml/2006/main">
              <a:ext uri="{FF2B5EF4-FFF2-40B4-BE49-F238E27FC236}">
                <a16:creationId xmlns:a16="http://schemas.microsoft.com/office/drawing/2014/main" id="{BAFBEB08-F145-4C33-A118-113AB8D6796A}"/>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Estimaciones de la memoria, no mediciones de dedicación ni gasto real. Tablas 3.2–3.3, pp. 12–13.</a:t>
            </a:r>
          </a:p>
        </p:txBody>
      </p:sp>
    </p:spTree>
    <p:extLst>
      <p:ext uri="{BB962C8B-B14F-4D97-AF65-F5344CB8AC3E}">
        <p14:creationId xmlns:p14="http://schemas.microsoft.com/office/powerpoint/2010/main" val="197704453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rquitectura e integración">
            <a:extLst xmlns:a="http://schemas.openxmlformats.org/drawingml/2006/main">
              <a:ext uri="{FF2B5EF4-FFF2-40B4-BE49-F238E27FC236}">
                <a16:creationId xmlns:a16="http://schemas.microsoft.com/office/drawing/2014/main" id="{D45C59BE-441E-4223-9834-0E9F35685695}"/>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Arquitectura e integración</a:t>
            </a:r>
          </a:p>
        </p:txBody>
      </p:sp>
      <p:sp>
        <p:nvSpPr>
          <p:cNvPr id="2" name="06">
            <a:extLst xmlns:a="http://schemas.openxmlformats.org/drawingml/2006/main">
              <a:ext uri="{FF2B5EF4-FFF2-40B4-BE49-F238E27FC236}">
                <a16:creationId xmlns:a16="http://schemas.microsoft.com/office/drawing/2014/main" id="{4F231213-0D24-41E3-978B-A87F151F83F5}"/>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06</a:t>
            </a:r>
          </a:p>
        </p:txBody>
      </p:sp>
      <p:sp>
        <p:nvSpPr>
          <p:cNvPr id="3" name="React + TypeScript     ASP.NET Core / .NET 10     PostgreSQL">
            <a:extLst xmlns:a="http://schemas.openxmlformats.org/drawingml/2006/main">
              <a:ext uri="{FF2B5EF4-FFF2-40B4-BE49-F238E27FC236}">
                <a16:creationId xmlns:a16="http://schemas.microsoft.com/office/drawing/2014/main" id="{FBF08E67-C675-4E55-B6C5-C6603A25C2DD}"/>
              </a:ext>
            </a:extLst>
          </p:cNvPr>
          <p:cNvSpPr>
            <a:spLocks xmlns:a="http://schemas.openxmlformats.org/drawingml/2006/main" noGrp="1"/>
          </p:cNvSpPr>
          <p:nvPr/>
        </p:nvSpPr>
        <p:spPr>
          <a:xfrm xmlns:a="http://schemas.openxmlformats.org/drawingml/2006/main">
            <a:off x="609600" y="14382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2156A5"/>
                </a:solidFill>
                <a:latin typeface="Arial"/>
                <a:ea typeface="Arial"/>
                <a:cs typeface="Arial"/>
              </a:defRPr>
            </a:pPr>
            <a:r>
              <a:rPr sz="2025" b="0">
                <a:solidFill>
                  <a:srgbClr val="2156A5"/>
                </a:solidFill>
                <a:latin typeface="Arial"/>
                <a:ea typeface="Arial"/>
                <a:cs typeface="Arial"/>
              </a:rPr>
              <a:t>React + TypeScript     ASP.NET Core / .NET 10     PostgreSQL + EF Core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0aef62808e3430a"/>
          <a:stretch xmlns:a="http://schemas.openxmlformats.org/drawingml/2006/main"/>
        </p:blipFill>
        <p:spPr>
          <a:xfrm xmlns:a="http://schemas.openxmlformats.org/drawingml/2006/main">
            <a:off x="1873832" y="2133600"/>
            <a:ext cx="8444336" cy="3476625"/>
          </a:xfrm>
          <a:prstGeom xmlns:a="http://schemas.openxmlformats.org/drawingml/2006/main" prst="rect">
            <a:avLst/>
          </a:prstGeom>
        </p:spPr>
      </p:pic>
      <p:sp>
        <p:nvSpPr>
          <p:cNvPr id="5" name="La API concentra autorización y reglas. La SPA presenta la o">
            <a:extLst xmlns:a="http://schemas.openxmlformats.org/drawingml/2006/main">
              <a:ext uri="{FF2B5EF4-FFF2-40B4-BE49-F238E27FC236}">
                <a16:creationId xmlns:a16="http://schemas.microsoft.com/office/drawing/2014/main" id="{0BE77F88-701B-40FE-BB2A-FFCE02410618}"/>
              </a:ext>
            </a:extLst>
          </p:cNvPr>
          <p:cNvSpPr>
            <a:spLocks xmlns:a="http://schemas.openxmlformats.org/drawingml/2006/main" noGrp="1"/>
          </p:cNvSpPr>
          <p:nvPr/>
        </p:nvSpPr>
        <p:spPr>
          <a:xfrm xmlns:a="http://schemas.openxmlformats.org/drawingml/2006/main">
            <a:off x="609600" y="57054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La API concentra autorización y reglas. La SPA presenta la operación.</a:t>
            </a:r>
          </a:p>
        </p:txBody>
      </p:sp>
      <p:sp>
        <p:nvSpPr>
          <p:cNvPr id="6" name="Figura 5.1 de la memoria, p. 22. El JWT viaja en cookie Http">
            <a:extLst xmlns:a="http://schemas.openxmlformats.org/drawingml/2006/main">
              <a:ext uri="{FF2B5EF4-FFF2-40B4-BE49-F238E27FC236}">
                <a16:creationId xmlns:a16="http://schemas.microsoft.com/office/drawing/2014/main" id="{5E488808-0B22-4A59-AB3F-8179E0029277}"/>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Figura 5.1 de la memoria, p. 22. El JWT viaja en cookie HttpOnly desde el endurecimiento de S7.</a:t>
            </a:r>
          </a:p>
        </p:txBody>
      </p:sp>
    </p:spTree>
    <p:extLst>
      <p:ext uri="{BB962C8B-B14F-4D97-AF65-F5344CB8AC3E}">
        <p14:creationId xmlns:p14="http://schemas.microsoft.com/office/powerpoint/2010/main" val="54371805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Un modelo centrado en el envío">
            <a:extLst xmlns:a="http://schemas.openxmlformats.org/drawingml/2006/main">
              <a:ext uri="{FF2B5EF4-FFF2-40B4-BE49-F238E27FC236}">
                <a16:creationId xmlns:a16="http://schemas.microsoft.com/office/drawing/2014/main" id="{2A21E78F-61B0-467B-A822-F7E150112566}"/>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Un modelo centrado en el envío</a:t>
            </a:r>
          </a:p>
        </p:txBody>
      </p:sp>
      <p:sp>
        <p:nvSpPr>
          <p:cNvPr id="2" name="07">
            <a:extLst xmlns:a="http://schemas.openxmlformats.org/drawingml/2006/main">
              <a:ext uri="{FF2B5EF4-FFF2-40B4-BE49-F238E27FC236}">
                <a16:creationId xmlns:a16="http://schemas.microsoft.com/office/drawing/2014/main" id="{C24BF3A0-91C4-43BC-9A61-96B46A364D5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07</a:t>
            </a:r>
          </a:p>
        </p:txBody>
      </p:sp>
      <p:sp>
        <p:nvSpPr>
          <p:cNvPr id="3" name="Seis entidades con relaciones históricas preservadas">
            <a:extLst xmlns:a="http://schemas.openxmlformats.org/drawingml/2006/main">
              <a:ext uri="{FF2B5EF4-FFF2-40B4-BE49-F238E27FC236}">
                <a16:creationId xmlns:a16="http://schemas.microsoft.com/office/drawing/2014/main" id="{AF01D1BE-82D4-4227-ADFA-7882305C18C7}"/>
              </a:ext>
            </a:extLst>
          </p:cNvPr>
          <p:cNvSpPr>
            <a:spLocks xmlns:a="http://schemas.openxmlformats.org/drawingml/2006/main" noGrp="1"/>
          </p:cNvSpPr>
          <p:nvPr/>
        </p:nvSpPr>
        <p:spPr>
          <a:xfrm xmlns:a="http://schemas.openxmlformats.org/drawingml/2006/main">
            <a:off x="609600" y="144780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250" b="0">
                <a:solidFill>
                  <a:srgbClr val="536174"/>
                </a:solidFill>
                <a:latin typeface="Arial"/>
                <a:ea typeface="Arial"/>
                <a:cs typeface="Arial"/>
              </a:defRPr>
            </a:pPr>
            <a:r>
              <a:rPr sz="2250" b="0">
                <a:solidFill>
                  <a:srgbClr val="536174"/>
                </a:solidFill>
                <a:latin typeface="Arial"/>
                <a:ea typeface="Arial"/>
                <a:cs typeface="Arial"/>
              </a:rPr>
              <a:t>Seis entidades con relaciones históricas preservadas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fc8f50a5fbd437d"/>
          <a:stretch xmlns:a="http://schemas.openxmlformats.org/drawingml/2006/main"/>
        </p:blipFill>
        <p:spPr>
          <a:xfrm xmlns:a="http://schemas.openxmlformats.org/drawingml/2006/main">
            <a:off x="654167" y="2295525"/>
            <a:ext cx="10883665" cy="3514725"/>
          </a:xfrm>
          <a:prstGeom xmlns:a="http://schemas.openxmlformats.org/drawingml/2006/main" prst="rect">
            <a:avLst/>
          </a:prstGeom>
        </p:spPr>
      </p:pic>
      <p:sp>
        <p:nvSpPr>
          <p:cNvPr id="5" name="Baja lógica en catálogos y usuarios. Los eventos pertenecen ">
            <a:extLst xmlns:a="http://schemas.openxmlformats.org/drawingml/2006/main">
              <a:ext uri="{FF2B5EF4-FFF2-40B4-BE49-F238E27FC236}">
                <a16:creationId xmlns:a16="http://schemas.microsoft.com/office/drawing/2014/main" id="{81FBCD6B-51E2-40D9-B6B9-4445FE873DA8}"/>
              </a:ext>
            </a:extLst>
          </p:cNvPr>
          <p:cNvSpPr>
            <a:spLocks xmlns:a="http://schemas.openxmlformats.org/drawingml/2006/main" noGrp="1"/>
          </p:cNvSpPr>
          <p:nvPr/>
        </p:nvSpPr>
        <p:spPr>
          <a:xfrm xmlns:a="http://schemas.openxmlformats.org/drawingml/2006/main">
            <a:off x="609600" y="5762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2156A5"/>
                </a:solidFill>
                <a:latin typeface="Arial"/>
                <a:ea typeface="Arial"/>
                <a:cs typeface="Arial"/>
              </a:defRPr>
            </a:pPr>
            <a:r>
              <a:rPr sz="2025" b="0">
                <a:solidFill>
                  <a:srgbClr val="2156A5"/>
                </a:solidFill>
                <a:latin typeface="Arial"/>
                <a:ea typeface="Arial"/>
                <a:cs typeface="Arial"/>
              </a:rPr>
              <a:t>Baja lógica en catálogos y usuarios. Los eventos pertenecen al envío.</a:t>
            </a:r>
          </a:p>
        </p:txBody>
      </p:sp>
      <p:sp>
        <p:nvSpPr>
          <p:cNvPr id="6" name="Figura 5.2, p. 23. Esquema resumido de relaciones, sin todos">
            <a:extLst xmlns:a="http://schemas.openxmlformats.org/drawingml/2006/main">
              <a:ext uri="{FF2B5EF4-FFF2-40B4-BE49-F238E27FC236}">
                <a16:creationId xmlns:a16="http://schemas.microsoft.com/office/drawing/2014/main" id="{2887636D-EDAA-41AD-BCF5-C12C55264E38}"/>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Figura 5.2, p. 23. Esquema resumido de relaciones, sin todos los atributos e índices finales.</a:t>
            </a:r>
          </a:p>
        </p:txBody>
      </p:sp>
    </p:spTree>
    <p:extLst>
      <p:ext uri="{BB962C8B-B14F-4D97-AF65-F5344CB8AC3E}">
        <p14:creationId xmlns:p14="http://schemas.microsoft.com/office/powerpoint/2010/main" val="80387813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iclo de vida del envío">
            <a:extLst xmlns:a="http://schemas.openxmlformats.org/drawingml/2006/main">
              <a:ext uri="{FF2B5EF4-FFF2-40B4-BE49-F238E27FC236}">
                <a16:creationId xmlns:a16="http://schemas.microsoft.com/office/drawing/2014/main" id="{2AE1DF40-CD5E-4589-9A02-243F44768B1F}"/>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Ciclo de vida del envío</a:t>
            </a:r>
          </a:p>
        </p:txBody>
      </p:sp>
      <p:sp>
        <p:nvSpPr>
          <p:cNvPr id="2" name="08">
            <a:extLst xmlns:a="http://schemas.openxmlformats.org/drawingml/2006/main">
              <a:ext uri="{FF2B5EF4-FFF2-40B4-BE49-F238E27FC236}">
                <a16:creationId xmlns:a16="http://schemas.microsoft.com/office/drawing/2014/main" id="{F3E87F26-2ED7-4626-8965-2F7510A20C2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08</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018209cba45d4d14"/>
          <a:stretch xmlns:a="http://schemas.openxmlformats.org/drawingml/2006/main"/>
        </p:blipFill>
        <p:spPr>
          <a:xfrm xmlns:a="http://schemas.openxmlformats.org/drawingml/2006/main">
            <a:off x="1526577" y="1638300"/>
            <a:ext cx="9138845" cy="3209925"/>
          </a:xfrm>
          <a:prstGeom xmlns:a="http://schemas.openxmlformats.org/drawingml/2006/main" prst="rect">
            <a:avLst/>
          </a:prstGeom>
        </p:spPr>
      </p:pic>
      <p:sp>
        <p:nvSpPr>
          <p:cNvPr id="4" name="Asignación conjunta">
            <a:extLst xmlns:a="http://schemas.openxmlformats.org/drawingml/2006/main">
              <a:ext uri="{FF2B5EF4-FFF2-40B4-BE49-F238E27FC236}">
                <a16:creationId xmlns:a16="http://schemas.microsoft.com/office/drawing/2014/main" id="{53AB82F8-EA1B-482B-B156-86975566E3DA}"/>
              </a:ext>
            </a:extLst>
          </p:cNvPr>
          <p:cNvSpPr>
            <a:spLocks xmlns:a="http://schemas.openxmlformats.org/drawingml/2006/main" noGrp="1"/>
          </p:cNvSpPr>
          <p:nvPr/>
        </p:nvSpPr>
        <p:spPr>
          <a:xfrm xmlns:a="http://schemas.openxmlformats.org/drawingml/2006/main">
            <a:off x="609600" y="5172075"/>
            <a:ext cx="4667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Asignación conjunta</a:t>
            </a:r>
          </a:p>
        </p:txBody>
      </p:sp>
      <p:sp>
        <p:nvSpPr>
          <p:cNvPr id="5" name="Vehículo y conductor, solo en planificado.">
            <a:extLst xmlns:a="http://schemas.openxmlformats.org/drawingml/2006/main">
              <a:ext uri="{FF2B5EF4-FFF2-40B4-BE49-F238E27FC236}">
                <a16:creationId xmlns:a16="http://schemas.microsoft.com/office/drawing/2014/main" id="{8097B047-456C-463C-8357-9FF538EA5B08}"/>
              </a:ext>
            </a:extLst>
          </p:cNvPr>
          <p:cNvSpPr>
            <a:spLocks xmlns:a="http://schemas.openxmlformats.org/drawingml/2006/main" noGrp="1"/>
          </p:cNvSpPr>
          <p:nvPr/>
        </p:nvSpPr>
        <p:spPr>
          <a:xfrm xmlns:a="http://schemas.openxmlformats.org/drawingml/2006/main">
            <a:off x="609600" y="55911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Vehículo y conductor, solo en planificado.</a:t>
            </a:r>
          </a:p>
        </p:txBody>
      </p:sp>
      <p:sp>
        <p:nvSpPr>
          <p:cNvPr id="6" name="Fechas reales del servidor">
            <a:extLst xmlns:a="http://schemas.openxmlformats.org/drawingml/2006/main">
              <a:ext uri="{FF2B5EF4-FFF2-40B4-BE49-F238E27FC236}">
                <a16:creationId xmlns:a16="http://schemas.microsoft.com/office/drawing/2014/main" id="{F77E9A27-D4BE-4F7F-B02C-39BF6BE431B4}"/>
              </a:ext>
            </a:extLst>
          </p:cNvPr>
          <p:cNvSpPr>
            <a:spLocks xmlns:a="http://schemas.openxmlformats.org/drawingml/2006/main" noGrp="1"/>
          </p:cNvSpPr>
          <p:nvPr/>
        </p:nvSpPr>
        <p:spPr>
          <a:xfrm xmlns:a="http://schemas.openxmlformats.org/drawingml/2006/main">
            <a:off x="6543675" y="51720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Fechas reales del servidor</a:t>
            </a:r>
          </a:p>
        </p:txBody>
      </p:sp>
      <p:sp>
        <p:nvSpPr>
          <p:cNvPr id="7" name="Recogida al iniciar y entrega al finalizar, en UTC.">
            <a:extLst xmlns:a="http://schemas.openxmlformats.org/drawingml/2006/main">
              <a:ext uri="{FF2B5EF4-FFF2-40B4-BE49-F238E27FC236}">
                <a16:creationId xmlns:a16="http://schemas.microsoft.com/office/drawing/2014/main" id="{4558091D-F9D8-49B8-8EAB-33D68CE21182}"/>
              </a:ext>
            </a:extLst>
          </p:cNvPr>
          <p:cNvSpPr>
            <a:spLocks xmlns:a="http://schemas.openxmlformats.org/drawingml/2006/main" noGrp="1"/>
          </p:cNvSpPr>
          <p:nvPr/>
        </p:nvSpPr>
        <p:spPr>
          <a:xfrm xmlns:a="http://schemas.openxmlformats.org/drawingml/2006/main">
            <a:off x="6543675" y="5591175"/>
            <a:ext cx="49720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Recogida al iniciar y entrega al finalizar, en UTC.</a:t>
            </a:r>
          </a:p>
        </p:txBody>
      </p:sp>
      <p:sp>
        <p:nvSpPr>
          <p:cNvPr id="8" name="RF-09 y RF-10. Figura 6.1 y apartado 6.6 de la memoria, pp. ">
            <a:extLst xmlns:a="http://schemas.openxmlformats.org/drawingml/2006/main">
              <a:ext uri="{FF2B5EF4-FFF2-40B4-BE49-F238E27FC236}">
                <a16:creationId xmlns:a16="http://schemas.microsoft.com/office/drawing/2014/main" id="{462CC4F4-4772-4451-BB31-295BD01F0DB5}"/>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RF-09 y RF-10. Figura 6.1 y apartado 6.6 de la memoria, pp. 29–30.</a:t>
            </a:r>
          </a:p>
        </p:txBody>
      </p:sp>
    </p:spTree>
    <p:extLst>
      <p:ext uri="{BB962C8B-B14F-4D97-AF65-F5344CB8AC3E}">
        <p14:creationId xmlns:p14="http://schemas.microsoft.com/office/powerpoint/2010/main" val="214122313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Una regla visible en la interfaz">
            <a:extLst xmlns:a="http://schemas.openxmlformats.org/drawingml/2006/main">
              <a:ext uri="{FF2B5EF4-FFF2-40B4-BE49-F238E27FC236}">
                <a16:creationId xmlns:a16="http://schemas.microsoft.com/office/drawing/2014/main" id="{450C710D-8A4E-4749-B03C-23B93389FF40}"/>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Una regla visible en la interfaz</a:t>
            </a:r>
          </a:p>
        </p:txBody>
      </p:sp>
      <p:sp>
        <p:nvSpPr>
          <p:cNvPr id="2" name="09">
            <a:extLst xmlns:a="http://schemas.openxmlformats.org/drawingml/2006/main">
              <a:ext uri="{FF2B5EF4-FFF2-40B4-BE49-F238E27FC236}">
                <a16:creationId xmlns:a16="http://schemas.microsoft.com/office/drawing/2014/main" id="{C5674CF7-B89C-4458-8464-C63D48DD74F5}"/>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09</a:t>
            </a:r>
          </a:p>
        </p:txBody>
      </p:sp>
      <p:sp>
        <p:nvSpPr>
          <p:cNvPr id="3" name="La capacidad insuficiente genera una advertencia">
            <a:extLst xmlns:a="http://schemas.openxmlformats.org/drawingml/2006/main">
              <a:ext uri="{FF2B5EF4-FFF2-40B4-BE49-F238E27FC236}">
                <a16:creationId xmlns:a16="http://schemas.microsoft.com/office/drawing/2014/main" id="{B5C20F67-4DA1-4294-9F18-9D3B0C298551}"/>
              </a:ext>
            </a:extLst>
          </p:cNvPr>
          <p:cNvSpPr>
            <a:spLocks xmlns:a="http://schemas.openxmlformats.org/drawingml/2006/main" noGrp="1"/>
          </p:cNvSpPr>
          <p:nvPr/>
        </p:nvSpPr>
        <p:spPr>
          <a:xfrm xmlns:a="http://schemas.openxmlformats.org/drawingml/2006/main">
            <a:off x="609600" y="1438275"/>
            <a:ext cx="1095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250" b="0">
                <a:solidFill>
                  <a:srgbClr val="536174"/>
                </a:solidFill>
                <a:latin typeface="Arial"/>
                <a:ea typeface="Arial"/>
                <a:cs typeface="Arial"/>
              </a:defRPr>
            </a:pPr>
            <a:r>
              <a:rPr sz="2250" b="0">
                <a:solidFill>
                  <a:srgbClr val="536174"/>
                </a:solidFill>
                <a:latin typeface="Arial"/>
                <a:ea typeface="Arial"/>
                <a:cs typeface="Arial"/>
              </a:rPr>
              <a:t>La capacidad insuficiente genera una advertencia</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236b44fce4dc457d"/>
          <a:srcRect xmlns:a="http://schemas.openxmlformats.org/drawingml/2006/main" l="5534" t="23174" r="6719" b="5478"/>
          <a:stretch xmlns:a="http://schemas.openxmlformats.org/drawingml/2006/main">
            <a:fillRect l="0" t="0" r="0" b="0"/>
          </a:stretch>
        </p:blipFill>
        <p:spPr>
          <a:xfrm xmlns:a="http://schemas.openxmlformats.org/drawingml/2006/main">
            <a:off x="609600" y="2200275"/>
            <a:ext cx="7886700" cy="3609975"/>
          </a:xfrm>
          <a:prstGeom xmlns:a="http://schemas.openxmlformats.org/drawingml/2006/main" prst="rect">
            <a:avLst/>
          </a:prstGeom>
        </p:spPr>
      </p:pic>
      <p:sp>
        <p:nvSpPr>
          <p:cNvPr id="5" name="RN-05">
            <a:extLst xmlns:a="http://schemas.openxmlformats.org/drawingml/2006/main">
              <a:ext uri="{FF2B5EF4-FFF2-40B4-BE49-F238E27FC236}">
                <a16:creationId xmlns:a16="http://schemas.microsoft.com/office/drawing/2014/main" id="{FF3D798C-1B64-420A-AE3B-0FF31364902C}"/>
              </a:ext>
            </a:extLst>
          </p:cNvPr>
          <p:cNvSpPr>
            <a:spLocks xmlns:a="http://schemas.openxmlformats.org/drawingml/2006/main" noGrp="1"/>
          </p:cNvSpPr>
          <p:nvPr/>
        </p:nvSpPr>
        <p:spPr>
          <a:xfrm xmlns:a="http://schemas.openxmlformats.org/drawingml/2006/main">
            <a:off x="9001125" y="2314575"/>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RN-05</a:t>
            </a:r>
          </a:p>
        </p:txBody>
      </p:sp>
      <p:sp>
        <p:nvSpPr>
          <p:cNvPr id="6" name="4.500 kg">
            <a:extLst xmlns:a="http://schemas.openxmlformats.org/drawingml/2006/main">
              <a:ext uri="{FF2B5EF4-FFF2-40B4-BE49-F238E27FC236}">
                <a16:creationId xmlns:a16="http://schemas.microsoft.com/office/drawing/2014/main" id="{78018BC2-17B9-40B7-9DB0-5818E81FFF56}"/>
              </a:ext>
            </a:extLst>
          </p:cNvPr>
          <p:cNvSpPr>
            <a:spLocks xmlns:a="http://schemas.openxmlformats.org/drawingml/2006/main" noGrp="1"/>
          </p:cNvSpPr>
          <p:nvPr/>
        </p:nvSpPr>
        <p:spPr>
          <a:xfrm xmlns:a="http://schemas.openxmlformats.org/drawingml/2006/main">
            <a:off x="9001125" y="2876550"/>
            <a:ext cx="257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150" b="1">
                <a:solidFill>
                  <a:srgbClr val="14263D"/>
                </a:solidFill>
                <a:latin typeface="Arial"/>
                <a:ea typeface="Arial"/>
                <a:cs typeface="Arial"/>
              </a:defRPr>
            </a:pPr>
            <a:r>
              <a:rPr sz="3150" b="1">
                <a:solidFill>
                  <a:srgbClr val="14263D"/>
                </a:solidFill>
                <a:latin typeface="Arial"/>
                <a:ea typeface="Arial"/>
                <a:cs typeface="Arial"/>
              </a:rPr>
              <a:t>4.500 kg</a:t>
            </a:r>
          </a:p>
        </p:txBody>
      </p:sp>
      <p:sp>
        <p:nvSpPr>
          <p:cNvPr id="7" name="carga estimada">
            <a:extLst xmlns:a="http://schemas.openxmlformats.org/drawingml/2006/main">
              <a:ext uri="{FF2B5EF4-FFF2-40B4-BE49-F238E27FC236}">
                <a16:creationId xmlns:a16="http://schemas.microsoft.com/office/drawing/2014/main" id="{C49FAB10-5B14-4BE9-B1E1-C1F511404F6C}"/>
              </a:ext>
            </a:extLst>
          </p:cNvPr>
          <p:cNvSpPr>
            <a:spLocks xmlns:a="http://schemas.openxmlformats.org/drawingml/2006/main" noGrp="1"/>
          </p:cNvSpPr>
          <p:nvPr/>
        </p:nvSpPr>
        <p:spPr>
          <a:xfrm xmlns:a="http://schemas.openxmlformats.org/drawingml/2006/main">
            <a:off x="9001125" y="3476625"/>
            <a:ext cx="2524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536174"/>
                </a:solidFill>
                <a:latin typeface="Arial"/>
                <a:ea typeface="Arial"/>
                <a:cs typeface="Arial"/>
              </a:defRPr>
            </a:pPr>
            <a:r>
              <a:rPr sz="1800" b="0">
                <a:solidFill>
                  <a:srgbClr val="536174"/>
                </a:solidFill>
                <a:latin typeface="Arial"/>
                <a:ea typeface="Arial"/>
                <a:cs typeface="Arial"/>
              </a:rPr>
              <a:t>carga estimada</a:t>
            </a:r>
          </a:p>
        </p:txBody>
      </p:sp>
      <p:sp>
        <p:nvSpPr>
          <p:cNvPr id="8" name="3.000 kg">
            <a:extLst xmlns:a="http://schemas.openxmlformats.org/drawingml/2006/main">
              <a:ext uri="{FF2B5EF4-FFF2-40B4-BE49-F238E27FC236}">
                <a16:creationId xmlns:a16="http://schemas.microsoft.com/office/drawing/2014/main" id="{B9FEB5C0-6024-4F75-B12A-7BCFCBB7E1A7}"/>
              </a:ext>
            </a:extLst>
          </p:cNvPr>
          <p:cNvSpPr>
            <a:spLocks xmlns:a="http://schemas.openxmlformats.org/drawingml/2006/main" noGrp="1"/>
          </p:cNvSpPr>
          <p:nvPr/>
        </p:nvSpPr>
        <p:spPr>
          <a:xfrm xmlns:a="http://schemas.openxmlformats.org/drawingml/2006/main">
            <a:off x="9001125" y="4086225"/>
            <a:ext cx="2571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150" b="1">
                <a:solidFill>
                  <a:srgbClr val="14263D"/>
                </a:solidFill>
                <a:latin typeface="Arial"/>
                <a:ea typeface="Arial"/>
                <a:cs typeface="Arial"/>
              </a:defRPr>
            </a:pPr>
            <a:r>
              <a:rPr sz="3150" b="1">
                <a:solidFill>
                  <a:srgbClr val="14263D"/>
                </a:solidFill>
                <a:latin typeface="Arial"/>
                <a:ea typeface="Arial"/>
                <a:cs typeface="Arial"/>
              </a:rPr>
              <a:t>3.000 kg</a:t>
            </a:r>
          </a:p>
        </p:txBody>
      </p:sp>
      <p:sp>
        <p:nvSpPr>
          <p:cNvPr id="9" name="capacidad registrada">
            <a:extLst xmlns:a="http://schemas.openxmlformats.org/drawingml/2006/main">
              <a:ext uri="{FF2B5EF4-FFF2-40B4-BE49-F238E27FC236}">
                <a16:creationId xmlns:a16="http://schemas.microsoft.com/office/drawing/2014/main" id="{A75CA0F3-6D8D-41EF-971D-9A4F1A51E240}"/>
              </a:ext>
            </a:extLst>
          </p:cNvPr>
          <p:cNvSpPr>
            <a:spLocks xmlns:a="http://schemas.openxmlformats.org/drawingml/2006/main" noGrp="1"/>
          </p:cNvSpPr>
          <p:nvPr/>
        </p:nvSpPr>
        <p:spPr>
          <a:xfrm xmlns:a="http://schemas.openxmlformats.org/drawingml/2006/main">
            <a:off x="9001125" y="4657725"/>
            <a:ext cx="25241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536174"/>
                </a:solidFill>
                <a:latin typeface="Arial"/>
                <a:ea typeface="Arial"/>
                <a:cs typeface="Arial"/>
              </a:defRPr>
            </a:pPr>
            <a:r>
              <a:rPr sz="1800" b="0">
                <a:solidFill>
                  <a:srgbClr val="536174"/>
                </a:solidFill>
                <a:latin typeface="Arial"/>
                <a:ea typeface="Arial"/>
                <a:cs typeface="Arial"/>
              </a:rPr>
              <a:t>capacidad registrada</a:t>
            </a:r>
          </a:p>
        </p:txBody>
      </p:sp>
      <p:sp>
        <p:nvSpPr>
          <p:cNvPr id="10" name="Asignación confirmada&#10;con aviso no bloqueante">
            <a:extLst xmlns:a="http://schemas.openxmlformats.org/drawingml/2006/main">
              <a:ext uri="{FF2B5EF4-FFF2-40B4-BE49-F238E27FC236}">
                <a16:creationId xmlns:a16="http://schemas.microsoft.com/office/drawing/2014/main" id="{8074DD33-B58C-4642-A879-842C9D1745D0}"/>
              </a:ext>
            </a:extLst>
          </p:cNvPr>
          <p:cNvSpPr>
            <a:spLocks xmlns:a="http://schemas.openxmlformats.org/drawingml/2006/main" noGrp="1"/>
          </p:cNvSpPr>
          <p:nvPr/>
        </p:nvSpPr>
        <p:spPr>
          <a:xfrm xmlns:a="http://schemas.openxmlformats.org/drawingml/2006/main">
            <a:off x="9001125" y="5457825"/>
            <a:ext cx="2571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2156A5"/>
                </a:solidFill>
                <a:latin typeface="Arial"/>
                <a:ea typeface="Arial"/>
                <a:cs typeface="Arial"/>
              </a:defRPr>
            </a:pPr>
            <a:r>
              <a:rPr sz="1800" b="0">
                <a:solidFill>
                  <a:srgbClr val="2156A5"/>
                </a:solidFill>
                <a:latin typeface="Arial"/>
                <a:ea typeface="Arial"/>
                <a:cs typeface="Arial"/>
              </a:rPr>
              <a:t>Asignación confirmada</a:t>
            </a:r>
          </a:p>
          <a:p xmlns:a="http://schemas.openxmlformats.org/drawingml/2006/main">
            <a:pPr algn="l">
              <a:defRPr sz="1800" b="0">
                <a:solidFill>
                  <a:srgbClr val="2156A5"/>
                </a:solidFill>
                <a:latin typeface="Arial"/>
                <a:ea typeface="Arial"/>
                <a:cs typeface="Arial"/>
              </a:defRPr>
            </a:pPr>
            <a:r>
              <a:rPr sz="1800" b="0">
                <a:solidFill>
                  <a:srgbClr val="2156A5"/>
                </a:solidFill>
                <a:latin typeface="Arial"/>
                <a:ea typeface="Arial"/>
                <a:cs typeface="Arial"/>
              </a:rPr>
              <a:t>con aviso no bloqueante</a:t>
            </a:r>
          </a:p>
        </p:txBody>
      </p:sp>
      <p:sp>
        <p:nvSpPr>
          <p:cNvPr id="11" name="Captura con datos de prueba del Sprint 4. Figura 7.5, p. 39.">
            <a:extLst xmlns:a="http://schemas.openxmlformats.org/drawingml/2006/main">
              <a:ext uri="{FF2B5EF4-FFF2-40B4-BE49-F238E27FC236}">
                <a16:creationId xmlns:a16="http://schemas.microsoft.com/office/drawing/2014/main" id="{F1064928-35EB-49CC-9AB2-9DF2E04CFF35}"/>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Captura con datos de prueba del Sprint 4. Figura 7.5, p. 39.</a:t>
            </a:r>
          </a:p>
        </p:txBody>
      </p:sp>
    </p:spTree>
    <p:extLst>
      <p:ext uri="{BB962C8B-B14F-4D97-AF65-F5344CB8AC3E}">
        <p14:creationId xmlns:p14="http://schemas.microsoft.com/office/powerpoint/2010/main" val="18231202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Historial inmutable y con autoría">
            <a:extLst xmlns:a="http://schemas.openxmlformats.org/drawingml/2006/main">
              <a:ext uri="{FF2B5EF4-FFF2-40B4-BE49-F238E27FC236}">
                <a16:creationId xmlns:a16="http://schemas.microsoft.com/office/drawing/2014/main" id="{5E104000-2558-4C31-BB25-7B87F9C7A19A}"/>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Historial inmutable y con autoría</a:t>
            </a:r>
          </a:p>
        </p:txBody>
      </p:sp>
      <p:sp>
        <p:nvSpPr>
          <p:cNvPr id="2" name="10">
            <a:extLst xmlns:a="http://schemas.openxmlformats.org/drawingml/2006/main">
              <a:ext uri="{FF2B5EF4-FFF2-40B4-BE49-F238E27FC236}">
                <a16:creationId xmlns:a16="http://schemas.microsoft.com/office/drawing/2014/main" id="{41A95106-568A-4788-A060-08688A0D780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10</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9491673cac9f457e"/>
          <a:srcRect xmlns:a="http://schemas.openxmlformats.org/drawingml/2006/main" l="6719" t="21910" r="27510" b="8708"/>
          <a:stretch xmlns:a="http://schemas.openxmlformats.org/drawingml/2006/main">
            <a:fillRect l="0" t="0" r="0" b="0"/>
          </a:stretch>
        </p:blipFill>
        <p:spPr>
          <a:xfrm xmlns:a="http://schemas.openxmlformats.org/drawingml/2006/main">
            <a:off x="609600" y="1628775"/>
            <a:ext cx="7381875" cy="4381500"/>
          </a:xfrm>
          <a:prstGeom xmlns:a="http://schemas.openxmlformats.org/drawingml/2006/main" prst="rect">
            <a:avLst/>
          </a:prstGeom>
        </p:spPr>
      </p:pic>
      <p:sp>
        <p:nvSpPr>
          <p:cNvPr id="4" name="Dos tiempos">
            <a:extLst xmlns:a="http://schemas.openxmlformats.org/drawingml/2006/main">
              <a:ext uri="{FF2B5EF4-FFF2-40B4-BE49-F238E27FC236}">
                <a16:creationId xmlns:a16="http://schemas.microsoft.com/office/drawing/2014/main" id="{DDCF5CD8-ECC6-464B-AD84-22957EFA7C3B}"/>
              </a:ext>
            </a:extLst>
          </p:cNvPr>
          <p:cNvSpPr>
            <a:spLocks xmlns:a="http://schemas.openxmlformats.org/drawingml/2006/main" noGrp="1"/>
          </p:cNvSpPr>
          <p:nvPr/>
        </p:nvSpPr>
        <p:spPr>
          <a:xfrm xmlns:a="http://schemas.openxmlformats.org/drawingml/2006/main">
            <a:off x="8496300" y="1676400"/>
            <a:ext cx="3067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Dos tiempos</a:t>
            </a:r>
          </a:p>
        </p:txBody>
      </p:sp>
      <p:sp>
        <p:nvSpPr>
          <p:cNvPr id="5" name="Cuándo ocurrió&#10;y cuándo se registró">
            <a:extLst xmlns:a="http://schemas.openxmlformats.org/drawingml/2006/main">
              <a:ext uri="{FF2B5EF4-FFF2-40B4-BE49-F238E27FC236}">
                <a16:creationId xmlns:a16="http://schemas.microsoft.com/office/drawing/2014/main" id="{4D63599F-2FAA-4DA2-877C-BB9DBBC41867}"/>
              </a:ext>
            </a:extLst>
          </p:cNvPr>
          <p:cNvSpPr>
            <a:spLocks xmlns:a="http://schemas.openxmlformats.org/drawingml/2006/main" noGrp="1"/>
          </p:cNvSpPr>
          <p:nvPr/>
        </p:nvSpPr>
        <p:spPr>
          <a:xfrm xmlns:a="http://schemas.openxmlformats.org/drawingml/2006/main">
            <a:off x="8496300" y="2095500"/>
            <a:ext cx="30575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Cuándo ocurrió</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y cuándo se registró</a:t>
            </a:r>
          </a:p>
        </p:txBody>
      </p:sp>
      <p:sp>
        <p:nvSpPr>
          <p:cNvPr id="6" name="Identidad autenticada">
            <a:extLst xmlns:a="http://schemas.openxmlformats.org/drawingml/2006/main">
              <a:ext uri="{FF2B5EF4-FFF2-40B4-BE49-F238E27FC236}">
                <a16:creationId xmlns:a16="http://schemas.microsoft.com/office/drawing/2014/main" id="{A44CF41B-49DF-48A7-92AC-5E37D5D781B6}"/>
              </a:ext>
            </a:extLst>
          </p:cNvPr>
          <p:cNvSpPr>
            <a:spLocks xmlns:a="http://schemas.openxmlformats.org/drawingml/2006/main" noGrp="1"/>
          </p:cNvSpPr>
          <p:nvPr/>
        </p:nvSpPr>
        <p:spPr>
          <a:xfrm xmlns:a="http://schemas.openxmlformats.org/drawingml/2006/main">
            <a:off x="8496300" y="3362325"/>
            <a:ext cx="3076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Identidad autenticada</a:t>
            </a:r>
          </a:p>
        </p:txBody>
      </p:sp>
      <p:sp>
        <p:nvSpPr>
          <p:cNvPr id="7" name="Autor obtenido del usuario&#10;que ejecuta la acción">
            <a:extLst xmlns:a="http://schemas.openxmlformats.org/drawingml/2006/main">
              <a:ext uri="{FF2B5EF4-FFF2-40B4-BE49-F238E27FC236}">
                <a16:creationId xmlns:a16="http://schemas.microsoft.com/office/drawing/2014/main" id="{DC6ADA05-170F-4F63-B149-53A5EB692992}"/>
              </a:ext>
            </a:extLst>
          </p:cNvPr>
          <p:cNvSpPr>
            <a:spLocks xmlns:a="http://schemas.openxmlformats.org/drawingml/2006/main" noGrp="1"/>
          </p:cNvSpPr>
          <p:nvPr/>
        </p:nvSpPr>
        <p:spPr>
          <a:xfrm xmlns:a="http://schemas.openxmlformats.org/drawingml/2006/main">
            <a:off x="8496300" y="3781425"/>
            <a:ext cx="30861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Autor obtenido del usuario</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que ejecuta la acción</a:t>
            </a:r>
          </a:p>
        </p:txBody>
      </p:sp>
      <p:sp>
        <p:nvSpPr>
          <p:cNvPr id="8" name="Una transacción">
            <a:extLst xmlns:a="http://schemas.openxmlformats.org/drawingml/2006/main">
              <a:ext uri="{FF2B5EF4-FFF2-40B4-BE49-F238E27FC236}">
                <a16:creationId xmlns:a16="http://schemas.microsoft.com/office/drawing/2014/main" id="{D87D59BD-4507-436D-AEDC-13EC0C6689F9}"/>
              </a:ext>
            </a:extLst>
          </p:cNvPr>
          <p:cNvSpPr>
            <a:spLocks xmlns:a="http://schemas.openxmlformats.org/drawingml/2006/main" noGrp="1"/>
          </p:cNvSpPr>
          <p:nvPr/>
        </p:nvSpPr>
        <p:spPr>
          <a:xfrm xmlns:a="http://schemas.openxmlformats.org/drawingml/2006/main">
            <a:off x="8496300" y="5048250"/>
            <a:ext cx="3095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Una transacción</a:t>
            </a:r>
          </a:p>
        </p:txBody>
      </p:sp>
      <p:sp>
        <p:nvSpPr>
          <p:cNvPr id="9" name="Operación y evento&#10;se confirman juntos">
            <a:extLst xmlns:a="http://schemas.openxmlformats.org/drawingml/2006/main">
              <a:ext uri="{FF2B5EF4-FFF2-40B4-BE49-F238E27FC236}">
                <a16:creationId xmlns:a16="http://schemas.microsoft.com/office/drawing/2014/main" id="{D5C42788-195B-4DFB-A621-A1D58904135C}"/>
              </a:ext>
            </a:extLst>
          </p:cNvPr>
          <p:cNvSpPr>
            <a:spLocks xmlns:a="http://schemas.openxmlformats.org/drawingml/2006/main" noGrp="1"/>
          </p:cNvSpPr>
          <p:nvPr/>
        </p:nvSpPr>
        <p:spPr>
          <a:xfrm xmlns:a="http://schemas.openxmlformats.org/drawingml/2006/main">
            <a:off x="8496300" y="5467350"/>
            <a:ext cx="30765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Operación y evento</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se confirman juntos</a:t>
            </a:r>
          </a:p>
        </p:txBody>
      </p:sp>
      <p:sp>
        <p:nvSpPr>
          <p:cNvPr id="10" name="Solo alta y consulta de eventos. Captura con datos de prueba">
            <a:extLst xmlns:a="http://schemas.openxmlformats.org/drawingml/2006/main">
              <a:ext uri="{FF2B5EF4-FFF2-40B4-BE49-F238E27FC236}">
                <a16:creationId xmlns:a16="http://schemas.microsoft.com/office/drawing/2014/main" id="{0992F96D-731F-4D90-B9FD-0799C39EB1D7}"/>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Solo alta y consulta de eventos. Captura con datos de prueba del Sprint 5. Memoria, pp. 30–32 y 42.</a:t>
            </a:r>
          </a:p>
        </p:txBody>
      </p:sp>
    </p:spTree>
    <p:extLst>
      <p:ext uri="{BB962C8B-B14F-4D97-AF65-F5344CB8AC3E}">
        <p14:creationId xmlns:p14="http://schemas.microsoft.com/office/powerpoint/2010/main" val="125659307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Garantías frente a la concurrencia">
            <a:extLst xmlns:a="http://schemas.openxmlformats.org/drawingml/2006/main">
              <a:ext uri="{FF2B5EF4-FFF2-40B4-BE49-F238E27FC236}">
                <a16:creationId xmlns:a16="http://schemas.microsoft.com/office/drawing/2014/main" id="{93EA4EBB-4D74-4011-87A6-BC665B8C2628}"/>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Garantías frente a la concurrencia</a:t>
            </a:r>
          </a:p>
        </p:txBody>
      </p:sp>
      <p:sp>
        <p:nvSpPr>
          <p:cNvPr id="2" name="11">
            <a:extLst xmlns:a="http://schemas.openxmlformats.org/drawingml/2006/main">
              <a:ext uri="{FF2B5EF4-FFF2-40B4-BE49-F238E27FC236}">
                <a16:creationId xmlns:a16="http://schemas.microsoft.com/office/drawing/2014/main" id="{80042D47-4470-4808-A2B8-42E2D4DE4FED}"/>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11</a:t>
            </a:r>
          </a:p>
        </p:txBody>
      </p:sp>
      <p:sp>
        <p:nvSpPr>
          <p:cNvPr id="3" name="Dos peticiones pueden observar a la vez un recurso libre">
            <a:extLst xmlns:a="http://schemas.openxmlformats.org/drawingml/2006/main">
              <a:ext uri="{FF2B5EF4-FFF2-40B4-BE49-F238E27FC236}">
                <a16:creationId xmlns:a16="http://schemas.microsoft.com/office/drawing/2014/main" id="{6882BBF8-ADD8-41A7-9792-A16C894ECEED}"/>
              </a:ext>
            </a:extLst>
          </p:cNvPr>
          <p:cNvSpPr>
            <a:spLocks xmlns:a="http://schemas.openxmlformats.org/drawingml/2006/main" noGrp="1"/>
          </p:cNvSpPr>
          <p:nvPr/>
        </p:nvSpPr>
        <p:spPr>
          <a:xfrm xmlns:a="http://schemas.openxmlformats.org/drawingml/2006/main">
            <a:off x="609600" y="1438275"/>
            <a:ext cx="10858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536174"/>
                </a:solidFill>
                <a:latin typeface="Arial"/>
                <a:ea typeface="Arial"/>
                <a:cs typeface="Arial"/>
              </a:defRPr>
            </a:pPr>
            <a:r>
              <a:rPr sz="2325" b="0">
                <a:solidFill>
                  <a:srgbClr val="536174"/>
                </a:solidFill>
                <a:latin typeface="Arial"/>
                <a:ea typeface="Arial"/>
                <a:cs typeface="Arial"/>
              </a:rPr>
              <a:t>Dos peticiones pueden observar a la vez un recurso libre</a:t>
            </a:r>
          </a:p>
        </p:txBody>
      </p:sp>
      <p:graphicFrame>
        <p:nvGraphicFramePr>
          <p:cNvPr id="10" name=""/>
          <p:cNvGraphicFramePr/>
          <p:nvPr/>
        </p:nvGraphicFramePr>
        <p:xfrm>
          <a:off xmlns:a="http://schemas.openxmlformats.org/drawingml/2006/main" x="609600" y="2533650"/>
          <a:ext xmlns:a="http://schemas.openxmlformats.org/drawingml/2006/main" cx="10972800" cy="2552700"/>
        </p:xfrm>
        <a:graphic xmlns:a="http://schemas.openxmlformats.org/drawingml/2006/main">
          <a:graphicData uri="http://schemas.openxmlformats.org/drawingml/2006/table">
            <a:tbl>
              <a:tblPr firstRow="0" bandRow="0"/>
              <a:tblGrid>
                <a:gridCol w="3105150"/>
                <a:gridCol w="4305300"/>
                <a:gridCol w="3562350"/>
              </a:tblGrid>
              <a:tr h="850900">
                <a:tc>
                  <a:txBody>
                    <a:bodyPr>
                      <a:noAutofit/>
                    </a:bodyPr>
                    <a:lstStyle/>
                    <a:p>
                      <a:r>
                        <a:rPr sz="1950" b="1">
                          <a:solidFill>
                            <a:srgbClr val="FFFFFF"/>
                          </a:solidFill>
                          <a:latin typeface="Arial"/>
                          <a:ea typeface="Arial"/>
                          <a:cs typeface="Arial"/>
                        </a:rPr>
                        <a:t>Invariante</a:t>
                      </a:r>
                    </a:p>
                  </a:txBody>
                  <a:tcPr marL="152400" marR="152400" marT="114300" marB="95250" anchor="ctr">
                    <a:solidFill>
                      <a:srgbClr val="14263D"/>
                    </a:solidFill>
                  </a:tcPr>
                </a:tc>
                <a:tc>
                  <a:txBody>
                    <a:bodyPr>
                      <a:noAutofit/>
                    </a:bodyPr>
                    <a:lstStyle/>
                    <a:p>
                      <a:r>
                        <a:rPr sz="1950" b="1">
                          <a:solidFill>
                            <a:srgbClr val="FFFFFF"/>
                          </a:solidFill>
                          <a:latin typeface="Arial"/>
                          <a:ea typeface="Arial"/>
                          <a:cs typeface="Arial"/>
                        </a:rPr>
                        <a:t>Garantía en PostgreSQL</a:t>
                      </a:r>
                    </a:p>
                  </a:txBody>
                  <a:tcPr marL="152400" marR="152400" marT="114300" marB="95250" anchor="ctr">
                    <a:solidFill>
                      <a:srgbClr val="14263D"/>
                    </a:solidFill>
                  </a:tcPr>
                </a:tc>
                <a:tc>
                  <a:txBody>
                    <a:bodyPr>
                      <a:noAutofit/>
                    </a:bodyPr>
                    <a:lstStyle/>
                    <a:p>
                      <a:r>
                        <a:rPr sz="1950" b="1">
                          <a:solidFill>
                            <a:srgbClr val="FFFFFF"/>
                          </a:solidFill>
                          <a:latin typeface="Arial"/>
                          <a:ea typeface="Arial"/>
                          <a:cs typeface="Arial"/>
                        </a:rPr>
                        <a:t>Resultado</a:t>
                      </a:r>
                    </a:p>
                  </a:txBody>
                  <a:tcPr marL="152400" marR="152400" marT="114300" marB="95250" anchor="ctr">
                    <a:solidFill>
                      <a:srgbClr val="14263D"/>
                    </a:solidFill>
                  </a:tcPr>
                </a:tc>
              </a:tr>
              <a:tr h="850900">
                <a:tc>
                  <a:txBody>
                    <a:bodyPr>
                      <a:noAutofit/>
                    </a:bodyPr>
                    <a:lstStyle/>
                    <a:p>
                      <a:r>
                        <a:rPr sz="1950" b="0">
                          <a:solidFill>
                            <a:srgbClr val="14263D"/>
                          </a:solidFill>
                          <a:latin typeface="Arial"/>
                          <a:ea typeface="Arial"/>
                          <a:cs typeface="Arial"/>
                        </a:rPr>
                        <a:t>Un recurso en un solo</a:t>
                      </a:r>
                    </a:p>
                    <a:p>
                      <a:r>
                        <a:rPr sz="1950" b="0">
                          <a:solidFill>
                            <a:srgbClr val="14263D"/>
                          </a:solidFill>
                          <a:latin typeface="Arial"/>
                          <a:ea typeface="Arial"/>
                          <a:cs typeface="Arial"/>
                        </a:rPr>
                        <a:t>envío abierto</a:t>
                      </a:r>
                    </a:p>
                  </a:txBody>
                  <a:tcPr marL="152400" marR="152400" marT="114300" marB="95250" anchor="ctr">
                    <a:solidFill>
                      <a:srgbClr val="FFFFFF"/>
                    </a:solidFill>
                  </a:tcPr>
                </a:tc>
                <a:tc>
                  <a:txBody>
                    <a:bodyPr>
                      <a:noAutofit/>
                    </a:bodyPr>
                    <a:lstStyle/>
                    <a:p>
                      <a:r>
                        <a:rPr sz="1950" b="0">
                          <a:solidFill>
                            <a:srgbClr val="14263D"/>
                          </a:solidFill>
                          <a:latin typeface="Arial"/>
                          <a:ea typeface="Arial"/>
                          <a:cs typeface="Arial"/>
                        </a:rPr>
                        <a:t>Índices únicos parciales</a:t>
                      </a:r>
                    </a:p>
                    <a:p>
                      <a:r>
                        <a:rPr sz="1950" b="0">
                          <a:solidFill>
                            <a:srgbClr val="14263D"/>
                          </a:solidFill>
                          <a:latin typeface="Arial"/>
                          <a:ea typeface="Arial"/>
                          <a:cs typeface="Arial"/>
                        </a:rPr>
                        <a:t>por vehículo y conductor</a:t>
                      </a:r>
                    </a:p>
                  </a:txBody>
                  <a:tcPr marL="152400" marR="152400" marT="114300" marB="95250" anchor="ctr">
                    <a:solidFill>
                      <a:srgbClr val="FFFFFF"/>
                    </a:solidFill>
                  </a:tcPr>
                </a:tc>
                <a:tc>
                  <a:txBody>
                    <a:bodyPr>
                      <a:noAutofit/>
                    </a:bodyPr>
                    <a:lstStyle/>
                    <a:p>
                      <a:r>
                        <a:rPr sz="1950" b="0">
                          <a:solidFill>
                            <a:srgbClr val="14263D"/>
                          </a:solidFill>
                          <a:latin typeface="Arial"/>
                          <a:ea typeface="Arial"/>
                          <a:cs typeface="Arial"/>
                        </a:rPr>
                        <a:t>La segunda reserva</a:t>
                      </a:r>
                    </a:p>
                    <a:p>
                      <a:r>
                        <a:rPr sz="1950" b="0">
                          <a:solidFill>
                            <a:srgbClr val="14263D"/>
                          </a:solidFill>
                          <a:latin typeface="Arial"/>
                          <a:ea typeface="Arial"/>
                          <a:cs typeface="Arial"/>
                        </a:rPr>
                        <a:t>recibe 409</a:t>
                      </a:r>
                    </a:p>
                  </a:txBody>
                  <a:tcPr marL="152400" marR="152400" marT="114300" marB="95250" anchor="ctr">
                    <a:solidFill>
                      <a:srgbClr val="FFFFFF"/>
                    </a:solidFill>
                  </a:tcPr>
                </a:tc>
              </a:tr>
              <a:tr h="850900">
                <a:tc>
                  <a:txBody>
                    <a:bodyPr>
                      <a:noAutofit/>
                    </a:bodyPr>
                    <a:lstStyle/>
                    <a:p>
                      <a:r>
                        <a:rPr sz="1950" b="0">
                          <a:solidFill>
                            <a:srgbClr val="14263D"/>
                          </a:solidFill>
                          <a:latin typeface="Arial"/>
                          <a:ea typeface="Arial"/>
                          <a:cs typeface="Arial"/>
                        </a:rPr>
                        <a:t>Al menos un</a:t>
                      </a:r>
                    </a:p>
                    <a:p>
                      <a:r>
                        <a:rPr sz="1950" b="0">
                          <a:solidFill>
                            <a:srgbClr val="14263D"/>
                          </a:solidFill>
                          <a:latin typeface="Arial"/>
                          <a:ea typeface="Arial"/>
                          <a:cs typeface="Arial"/>
                        </a:rPr>
                        <a:t>administrador activo</a:t>
                      </a:r>
                    </a:p>
                  </a:txBody>
                  <a:tcPr marL="152400" marR="152400" marT="114300" marB="95250" anchor="ctr">
                    <a:solidFill>
                      <a:srgbClr val="FFFFFF"/>
                    </a:solidFill>
                  </a:tcPr>
                </a:tc>
                <a:tc>
                  <a:txBody>
                    <a:bodyPr>
                      <a:noAutofit/>
                    </a:bodyPr>
                    <a:lstStyle/>
                    <a:p>
                      <a:r>
                        <a:rPr sz="1950" b="0">
                          <a:solidFill>
                            <a:srgbClr val="14263D"/>
                          </a:solidFill>
                          <a:latin typeface="Arial"/>
                          <a:ea typeface="Arial"/>
                          <a:cs typeface="Arial"/>
                        </a:rPr>
                        <a:t>Bloqueo transaccional</a:t>
                      </a:r>
                    </a:p>
                    <a:p>
                      <a:r>
                        <a:rPr sz="1950" b="0">
                          <a:solidFill>
                            <a:srgbClr val="14263D"/>
                          </a:solidFill>
                          <a:latin typeface="Arial"/>
                          <a:ea typeface="Arial"/>
                          <a:cs typeface="Arial"/>
                        </a:rPr>
                        <a:t>y reevaluación de la regla</a:t>
                      </a:r>
                    </a:p>
                  </a:txBody>
                  <a:tcPr marL="152400" marR="152400" marT="114300" marB="95250" anchor="ctr">
                    <a:solidFill>
                      <a:srgbClr val="FFFFFF"/>
                    </a:solidFill>
                  </a:tcPr>
                </a:tc>
                <a:tc>
                  <a:txBody>
                    <a:bodyPr>
                      <a:noAutofit/>
                    </a:bodyPr>
                    <a:lstStyle/>
                    <a:p>
                      <a:r>
                        <a:rPr sz="1950" b="0">
                          <a:solidFill>
                            <a:srgbClr val="14263D"/>
                          </a:solidFill>
                          <a:latin typeface="Arial"/>
                          <a:ea typeface="Arial"/>
                          <a:cs typeface="Arial"/>
                        </a:rPr>
                        <a:t>Una baja incompatible</a:t>
                      </a:r>
                    </a:p>
                    <a:p>
                      <a:r>
                        <a:rPr sz="1950" b="0">
                          <a:solidFill>
                            <a:srgbClr val="14263D"/>
                          </a:solidFill>
                          <a:latin typeface="Arial"/>
                          <a:ea typeface="Arial"/>
                          <a:cs typeface="Arial"/>
                        </a:rPr>
                        <a:t>recibe 409</a:t>
                      </a:r>
                    </a:p>
                  </a:txBody>
                  <a:tcPr marL="152400" marR="152400" marT="114300" marB="95250" anchor="ctr">
                    <a:solidFill>
                      <a:srgbClr val="FFFFFF"/>
                    </a:solidFill>
                  </a:tcPr>
                </a:tc>
              </a:tr>
            </a:tbl>
          </a:graphicData>
        </a:graphic>
      </p:graphicFrame>
      <p:sp>
        <p:nvSpPr>
          <p:cNvPr id="5" name="Pruebas simultáneas contra PostgreSQL real">
            <a:extLst xmlns:a="http://schemas.openxmlformats.org/drawingml/2006/main">
              <a:ext uri="{FF2B5EF4-FFF2-40B4-BE49-F238E27FC236}">
                <a16:creationId xmlns:a16="http://schemas.microsoft.com/office/drawing/2014/main" id="{A5A40AA7-EBD1-4527-A44F-7A377B9C4DC6}"/>
              </a:ext>
            </a:extLst>
          </p:cNvPr>
          <p:cNvSpPr>
            <a:spLocks xmlns:a="http://schemas.openxmlformats.org/drawingml/2006/main" noGrp="1"/>
          </p:cNvSpPr>
          <p:nvPr/>
        </p:nvSpPr>
        <p:spPr>
          <a:xfrm xmlns:a="http://schemas.openxmlformats.org/drawingml/2006/main">
            <a:off x="609600" y="5562600"/>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400" b="0">
                <a:solidFill>
                  <a:srgbClr val="2156A5"/>
                </a:solidFill>
                <a:latin typeface="Arial"/>
                <a:ea typeface="Arial"/>
                <a:cs typeface="Arial"/>
              </a:defRPr>
            </a:pPr>
            <a:r>
              <a:rPr sz="2400" b="0">
                <a:solidFill>
                  <a:srgbClr val="2156A5"/>
                </a:solidFill>
                <a:latin typeface="Arial"/>
                <a:ea typeface="Arial"/>
                <a:cs typeface="Arial"/>
              </a:rPr>
              <a:t>Pruebas simultáneas contra PostgreSQL real</a:t>
            </a:r>
          </a:p>
        </p:txBody>
      </p:sp>
      <p:sp>
        <p:nvSpPr>
          <p:cNvPr id="6" name="RN-04 y RN-12. Memoria, pp. 29–30, 32–33 y 52–54.">
            <a:extLst xmlns:a="http://schemas.openxmlformats.org/drawingml/2006/main">
              <a:ext uri="{FF2B5EF4-FFF2-40B4-BE49-F238E27FC236}">
                <a16:creationId xmlns:a16="http://schemas.microsoft.com/office/drawing/2014/main" id="{1FFFED5D-4431-44BE-BAC4-517DF6042EF7}"/>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RN-04 y RN-12. Memoria, pp. 29–30, 32–33 y 52–54.</a:t>
            </a:r>
          </a:p>
        </p:txBody>
      </p:sp>
    </p:spTree>
    <p:extLst>
      <p:ext uri="{BB962C8B-B14F-4D97-AF65-F5344CB8AC3E}">
        <p14:creationId xmlns:p14="http://schemas.microsoft.com/office/powerpoint/2010/main" val="50559396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esiones revocables y permisos efectivos">
            <a:extLst xmlns:a="http://schemas.openxmlformats.org/drawingml/2006/main">
              <a:ext uri="{FF2B5EF4-FFF2-40B4-BE49-F238E27FC236}">
                <a16:creationId xmlns:a16="http://schemas.microsoft.com/office/drawing/2014/main" id="{1CE6F0EB-B33F-45C5-9F77-38DCCBC99B4B}"/>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Sesiones revocables y permisos efectivos</a:t>
            </a:r>
          </a:p>
        </p:txBody>
      </p:sp>
      <p:sp>
        <p:nvSpPr>
          <p:cNvPr id="2" name="12">
            <a:extLst xmlns:a="http://schemas.openxmlformats.org/drawingml/2006/main">
              <a:ext uri="{FF2B5EF4-FFF2-40B4-BE49-F238E27FC236}">
                <a16:creationId xmlns:a16="http://schemas.microsoft.com/office/drawing/2014/main" id="{27B06B6D-4DD1-4AA1-AB0A-1D593B7ABE35}"/>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12</a:t>
            </a:r>
          </a:p>
        </p:txBody>
      </p:sp>
      <p:sp>
        <p:nvSpPr>
          <p:cNvPr id="3" name="Protección en el navegador">
            <a:extLst xmlns:a="http://schemas.openxmlformats.org/drawingml/2006/main">
              <a:ext uri="{FF2B5EF4-FFF2-40B4-BE49-F238E27FC236}">
                <a16:creationId xmlns:a16="http://schemas.microsoft.com/office/drawing/2014/main" id="{9EDC7666-2CF0-4B7C-B4E8-436779F9E793}"/>
              </a:ext>
            </a:extLst>
          </p:cNvPr>
          <p:cNvSpPr>
            <a:spLocks xmlns:a="http://schemas.openxmlformats.org/drawingml/2006/main" noGrp="1"/>
          </p:cNvSpPr>
          <p:nvPr/>
        </p:nvSpPr>
        <p:spPr>
          <a:xfrm xmlns:a="http://schemas.openxmlformats.org/drawingml/2006/main">
            <a:off x="609600" y="16192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Protección en el navegador</a:t>
            </a:r>
          </a:p>
        </p:txBody>
      </p:sp>
      <p:sp>
        <p:nvSpPr>
          <p:cNvPr id="4" name="Cookie HttpOnly&#10;SameSite=Strict&#10;Secure fuera de desarrollo">
            <a:extLst xmlns:a="http://schemas.openxmlformats.org/drawingml/2006/main">
              <a:ext uri="{FF2B5EF4-FFF2-40B4-BE49-F238E27FC236}">
                <a16:creationId xmlns:a16="http://schemas.microsoft.com/office/drawing/2014/main" id="{E3E2A7B5-FE7B-4FCA-923C-F859E10F91C8}"/>
              </a:ext>
            </a:extLst>
          </p:cNvPr>
          <p:cNvSpPr>
            <a:spLocks xmlns:a="http://schemas.openxmlformats.org/drawingml/2006/main" noGrp="1"/>
          </p:cNvSpPr>
          <p:nvPr/>
        </p:nvSpPr>
        <p:spPr>
          <a:xfrm xmlns:a="http://schemas.openxmlformats.org/drawingml/2006/main">
            <a:off x="609600" y="2171700"/>
            <a:ext cx="523875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475" b="0">
                <a:solidFill>
                  <a:srgbClr val="14263D"/>
                </a:solidFill>
                <a:latin typeface="Arial"/>
                <a:ea typeface="Arial"/>
                <a:cs typeface="Arial"/>
              </a:defRPr>
            </a:pPr>
            <a:r>
              <a:rPr sz="2475" b="0">
                <a:solidFill>
                  <a:srgbClr val="14263D"/>
                </a:solidFill>
                <a:latin typeface="Arial"/>
                <a:ea typeface="Arial"/>
                <a:cs typeface="Arial"/>
              </a:rPr>
              <a:t>Cookie HttpOnly</a:t>
            </a:r>
          </a:p>
          <a:p xmlns:a="http://schemas.openxmlformats.org/drawingml/2006/main">
            <a:pPr algn="l">
              <a:defRPr sz="2475" b="0">
                <a:solidFill>
                  <a:srgbClr val="14263D"/>
                </a:solidFill>
                <a:latin typeface="Arial"/>
                <a:ea typeface="Arial"/>
                <a:cs typeface="Arial"/>
              </a:defRPr>
            </a:pPr>
            <a:r>
              <a:rPr sz="2475" b="0">
                <a:solidFill>
                  <a:srgbClr val="14263D"/>
                </a:solidFill>
                <a:latin typeface="Arial"/>
                <a:ea typeface="Arial"/>
                <a:cs typeface="Arial"/>
              </a:rPr>
              <a:t>SameSite=Strict</a:t>
            </a:r>
          </a:p>
          <a:p xmlns:a="http://schemas.openxmlformats.org/drawingml/2006/main">
            <a:pPr algn="l">
              <a:defRPr sz="2475" b="0">
                <a:solidFill>
                  <a:srgbClr val="14263D"/>
                </a:solidFill>
                <a:latin typeface="Arial"/>
                <a:ea typeface="Arial"/>
                <a:cs typeface="Arial"/>
              </a:defRPr>
            </a:pPr>
            <a:r>
              <a:rPr sz="2475" b="0">
                <a:solidFill>
                  <a:srgbClr val="14263D"/>
                </a:solidFill>
                <a:latin typeface="Arial"/>
                <a:ea typeface="Arial"/>
                <a:cs typeface="Arial"/>
              </a:rPr>
              <a:t>Secure fuera de desarrollo</a:t>
            </a:r>
          </a:p>
        </p:txBody>
      </p:sp>
      <p:sp>
        <p:nvSpPr>
          <p:cNvPr id="5" name="La SPA recupera su identidad&#10;mediante /auth/me.">
            <a:extLst xmlns:a="http://schemas.openxmlformats.org/drawingml/2006/main">
              <a:ext uri="{FF2B5EF4-FFF2-40B4-BE49-F238E27FC236}">
                <a16:creationId xmlns:a16="http://schemas.microsoft.com/office/drawing/2014/main" id="{DCD7D901-C02A-4953-B2DF-4BAE60BF807E}"/>
              </a:ext>
            </a:extLst>
          </p:cNvPr>
          <p:cNvSpPr>
            <a:spLocks xmlns:a="http://schemas.openxmlformats.org/drawingml/2006/main" noGrp="1"/>
          </p:cNvSpPr>
          <p:nvPr/>
        </p:nvSpPr>
        <p:spPr>
          <a:xfrm xmlns:a="http://schemas.openxmlformats.org/drawingml/2006/main">
            <a:off x="609600" y="4638675"/>
            <a:ext cx="51435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536174"/>
                </a:solidFill>
                <a:latin typeface="Arial"/>
                <a:ea typeface="Arial"/>
                <a:cs typeface="Arial"/>
              </a:defRPr>
            </a:pPr>
            <a:r>
              <a:rPr sz="2100" b="0">
                <a:solidFill>
                  <a:srgbClr val="536174"/>
                </a:solidFill>
                <a:latin typeface="Arial"/>
                <a:ea typeface="Arial"/>
                <a:cs typeface="Arial"/>
              </a:rPr>
              <a:t>La SPA recupera su identidad</a:t>
            </a:r>
          </a:p>
          <a:p xmlns:a="http://schemas.openxmlformats.org/drawingml/2006/main">
            <a:pPr algn="l">
              <a:defRPr sz="2100" b="0">
                <a:solidFill>
                  <a:srgbClr val="536174"/>
                </a:solidFill>
                <a:latin typeface="Arial"/>
                <a:ea typeface="Arial"/>
                <a:cs typeface="Arial"/>
              </a:defRPr>
            </a:pPr>
            <a:r>
              <a:rPr sz="2100" b="0">
                <a:solidFill>
                  <a:srgbClr val="536174"/>
                </a:solidFill>
                <a:latin typeface="Arial"/>
                <a:ea typeface="Arial"/>
                <a:cs typeface="Arial"/>
              </a:rPr>
              <a:t>mediante /auth/me.</a:t>
            </a:r>
          </a:p>
        </p:txBody>
      </p:sp>
      <p:sp>
        <p:nvSpPr>
          <p:cNvPr id="6" name="Revocación en la siguiente petición">
            <a:extLst xmlns:a="http://schemas.openxmlformats.org/drawingml/2006/main">
              <a:ext uri="{FF2B5EF4-FFF2-40B4-BE49-F238E27FC236}">
                <a16:creationId xmlns:a16="http://schemas.microsoft.com/office/drawing/2014/main" id="{DD4F133E-38E4-44CB-8DAF-C0180DB55154}"/>
              </a:ext>
            </a:extLst>
          </p:cNvPr>
          <p:cNvSpPr>
            <a:spLocks xmlns:a="http://schemas.openxmlformats.org/drawingml/2006/main" noGrp="1"/>
          </p:cNvSpPr>
          <p:nvPr/>
        </p:nvSpPr>
        <p:spPr>
          <a:xfrm xmlns:a="http://schemas.openxmlformats.org/drawingml/2006/main">
            <a:off x="6496050" y="1619250"/>
            <a:ext cx="5095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Revocación en la siguiente petición</a:t>
            </a:r>
          </a:p>
        </p:txBody>
      </p:sp>
      <p:sp>
        <p:nvSpPr>
          <p:cNvPr id="7" name="Contraseña, rol o activación&#10;cambian TokenVersion.">
            <a:extLst xmlns:a="http://schemas.openxmlformats.org/drawingml/2006/main">
              <a:ext uri="{FF2B5EF4-FFF2-40B4-BE49-F238E27FC236}">
                <a16:creationId xmlns:a16="http://schemas.microsoft.com/office/drawing/2014/main" id="{99343BB9-DFA8-4AD5-8A81-34E934085A32}"/>
              </a:ext>
            </a:extLst>
          </p:cNvPr>
          <p:cNvSpPr>
            <a:spLocks xmlns:a="http://schemas.openxmlformats.org/drawingml/2006/main" noGrp="1"/>
          </p:cNvSpPr>
          <p:nvPr/>
        </p:nvSpPr>
        <p:spPr>
          <a:xfrm xmlns:a="http://schemas.openxmlformats.org/drawingml/2006/main">
            <a:off x="6496050" y="2171700"/>
            <a:ext cx="50863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400" b="0">
                <a:solidFill>
                  <a:srgbClr val="14263D"/>
                </a:solidFill>
                <a:latin typeface="Arial"/>
                <a:ea typeface="Arial"/>
                <a:cs typeface="Arial"/>
              </a:defRPr>
            </a:pPr>
            <a:r>
              <a:rPr sz="2400" b="0">
                <a:solidFill>
                  <a:srgbClr val="14263D"/>
                </a:solidFill>
                <a:latin typeface="Arial"/>
                <a:ea typeface="Arial"/>
                <a:cs typeface="Arial"/>
              </a:rPr>
              <a:t>Contraseña, rol o activación</a:t>
            </a:r>
          </a:p>
          <a:p xmlns:a="http://schemas.openxmlformats.org/drawingml/2006/main">
            <a:pPr algn="l">
              <a:defRPr sz="2400" b="0">
                <a:solidFill>
                  <a:srgbClr val="14263D"/>
                </a:solidFill>
                <a:latin typeface="Arial"/>
                <a:ea typeface="Arial"/>
                <a:cs typeface="Arial"/>
              </a:defRPr>
            </a:pPr>
            <a:r>
              <a:rPr sz="2400" b="0">
                <a:solidFill>
                  <a:srgbClr val="14263D"/>
                </a:solidFill>
                <a:latin typeface="Arial"/>
                <a:ea typeface="Arial"/>
                <a:cs typeface="Arial"/>
              </a:rPr>
              <a:t>cambian TokenVersion.</a:t>
            </a:r>
          </a:p>
        </p:txBody>
      </p:sp>
      <p:sp>
        <p:nvSpPr>
          <p:cNvPr id="8" name="La API comprueba cuenta activa&#10;y versión en cada petición&#10;pr">
            <a:extLst xmlns:a="http://schemas.openxmlformats.org/drawingml/2006/main">
              <a:ext uri="{FF2B5EF4-FFF2-40B4-BE49-F238E27FC236}">
                <a16:creationId xmlns:a16="http://schemas.microsoft.com/office/drawing/2014/main" id="{4AE62C2E-9994-4143-AABE-28E0531E247F}"/>
              </a:ext>
            </a:extLst>
          </p:cNvPr>
          <p:cNvSpPr>
            <a:spLocks xmlns:a="http://schemas.openxmlformats.org/drawingml/2006/main" noGrp="1"/>
          </p:cNvSpPr>
          <p:nvPr/>
        </p:nvSpPr>
        <p:spPr>
          <a:xfrm xmlns:a="http://schemas.openxmlformats.org/drawingml/2006/main">
            <a:off x="6496050" y="3619500"/>
            <a:ext cx="50863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14263D"/>
                </a:solidFill>
                <a:latin typeface="Arial"/>
                <a:ea typeface="Arial"/>
                <a:cs typeface="Arial"/>
              </a:defRPr>
            </a:pPr>
            <a:r>
              <a:rPr sz="2175" b="0">
                <a:solidFill>
                  <a:srgbClr val="14263D"/>
                </a:solidFill>
                <a:latin typeface="Arial"/>
                <a:ea typeface="Arial"/>
                <a:cs typeface="Arial"/>
              </a:rPr>
              <a:t>La API comprueba cuenta activa</a:t>
            </a:r>
          </a:p>
          <a:p xmlns:a="http://schemas.openxmlformats.org/drawingml/2006/main">
            <a:pPr algn="l">
              <a:defRPr sz="2175" b="0">
                <a:solidFill>
                  <a:srgbClr val="14263D"/>
                </a:solidFill>
                <a:latin typeface="Arial"/>
                <a:ea typeface="Arial"/>
                <a:cs typeface="Arial"/>
              </a:defRPr>
            </a:pPr>
            <a:r>
              <a:rPr sz="2175" b="0">
                <a:solidFill>
                  <a:srgbClr val="14263D"/>
                </a:solidFill>
                <a:latin typeface="Arial"/>
                <a:ea typeface="Arial"/>
                <a:cs typeface="Arial"/>
              </a:rPr>
              <a:t>y versión en cada petición</a:t>
            </a:r>
          </a:p>
          <a:p xmlns:a="http://schemas.openxmlformats.org/drawingml/2006/main">
            <a:pPr algn="l">
              <a:defRPr sz="2175" b="0">
                <a:solidFill>
                  <a:srgbClr val="14263D"/>
                </a:solidFill>
                <a:latin typeface="Arial"/>
                <a:ea typeface="Arial"/>
                <a:cs typeface="Arial"/>
              </a:defRPr>
            </a:pPr>
            <a:r>
              <a:rPr sz="2175" b="0">
                <a:solidFill>
                  <a:srgbClr val="14263D"/>
                </a:solidFill>
                <a:latin typeface="Arial"/>
                <a:ea typeface="Arial"/>
                <a:cs typeface="Arial"/>
              </a:rPr>
              <a:t>protegida.</a:t>
            </a:r>
          </a:p>
        </p:txBody>
      </p:sp>
      <p:sp>
        <p:nvSpPr>
          <p:cNvPr id="9" name="Coste: una lectura de usuario por petición">
            <a:extLst xmlns:a="http://schemas.openxmlformats.org/drawingml/2006/main">
              <a:ext uri="{FF2B5EF4-FFF2-40B4-BE49-F238E27FC236}">
                <a16:creationId xmlns:a16="http://schemas.microsoft.com/office/drawing/2014/main" id="{0EB11E41-72C7-472B-9321-9D1A11AEBD97}"/>
              </a:ext>
            </a:extLst>
          </p:cNvPr>
          <p:cNvSpPr>
            <a:spLocks xmlns:a="http://schemas.openxmlformats.org/drawingml/2006/main" noGrp="1"/>
          </p:cNvSpPr>
          <p:nvPr/>
        </p:nvSpPr>
        <p:spPr>
          <a:xfrm xmlns:a="http://schemas.openxmlformats.org/drawingml/2006/main">
            <a:off x="6496050" y="5419725"/>
            <a:ext cx="50577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2156A5"/>
                </a:solidFill>
                <a:latin typeface="Arial"/>
                <a:ea typeface="Arial"/>
                <a:cs typeface="Arial"/>
              </a:defRPr>
            </a:pPr>
            <a:r>
              <a:rPr sz="1875" b="0">
                <a:solidFill>
                  <a:srgbClr val="2156A5"/>
                </a:solidFill>
                <a:latin typeface="Arial"/>
                <a:ea typeface="Arial"/>
                <a:cs typeface="Arial"/>
              </a:rPr>
              <a:t>Coste: una lectura de usuario por petición</a:t>
            </a:r>
          </a:p>
        </p:txBody>
      </p:sp>
      <p:sp>
        <p:nvSpPr>
          <p:cNvPr id="10" name="La autorización efectiva reside en la API. Mismo origen y Sa">
            <a:extLst xmlns:a="http://schemas.openxmlformats.org/drawingml/2006/main">
              <a:ext uri="{FF2B5EF4-FFF2-40B4-BE49-F238E27FC236}">
                <a16:creationId xmlns:a16="http://schemas.microsoft.com/office/drawing/2014/main" id="{1B65D3B3-0DE5-4C7F-9BBB-82984EEFB3BF}"/>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La autorización efectiva reside en la API. Mismo origen y SameSite mitigan CSRF. Memoria, pp. 25–27.</a:t>
            </a:r>
          </a:p>
        </p:txBody>
      </p:sp>
    </p:spTree>
    <p:extLst>
      <p:ext uri="{BB962C8B-B14F-4D97-AF65-F5344CB8AC3E}">
        <p14:creationId xmlns:p14="http://schemas.microsoft.com/office/powerpoint/2010/main" val="11385444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Validación en varias capas">
            <a:extLst xmlns:a="http://schemas.openxmlformats.org/drawingml/2006/main">
              <a:ext uri="{FF2B5EF4-FFF2-40B4-BE49-F238E27FC236}">
                <a16:creationId xmlns:a16="http://schemas.microsoft.com/office/drawing/2014/main" id="{73B2DC3B-0901-4236-8322-6D5D0D201569}"/>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Validación en varias capas</a:t>
            </a:r>
          </a:p>
        </p:txBody>
      </p:sp>
      <p:sp>
        <p:nvSpPr>
          <p:cNvPr id="2" name="13">
            <a:extLst xmlns:a="http://schemas.openxmlformats.org/drawingml/2006/main">
              <a:ext uri="{FF2B5EF4-FFF2-40B4-BE49-F238E27FC236}">
                <a16:creationId xmlns:a16="http://schemas.microsoft.com/office/drawing/2014/main" id="{89CDE7AE-DDB6-4C91-B0DC-4068B7740C6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13</a:t>
            </a:r>
          </a:p>
        </p:txBody>
      </p:sp>
      <p:sp>
        <p:nvSpPr>
          <p:cNvPr id="3" name="139">
            <a:extLst xmlns:a="http://schemas.openxmlformats.org/drawingml/2006/main">
              <a:ext uri="{FF2B5EF4-FFF2-40B4-BE49-F238E27FC236}">
                <a16:creationId xmlns:a16="http://schemas.microsoft.com/office/drawing/2014/main" id="{9B2C662C-A979-4502-A5BE-AFD6E251D063}"/>
              </a:ext>
            </a:extLst>
          </p:cNvPr>
          <p:cNvSpPr>
            <a:spLocks xmlns:a="http://schemas.openxmlformats.org/drawingml/2006/main" noGrp="1"/>
          </p:cNvSpPr>
          <p:nvPr/>
        </p:nvSpPr>
        <p:spPr>
          <a:xfrm xmlns:a="http://schemas.openxmlformats.org/drawingml/2006/main">
            <a:off x="609600" y="1447800"/>
            <a:ext cx="29146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700" b="1">
                <a:solidFill>
                  <a:srgbClr val="C0007F"/>
                </a:solidFill>
                <a:latin typeface="Arial"/>
                <a:ea typeface="Arial"/>
                <a:cs typeface="Arial"/>
              </a:defRPr>
            </a:pPr>
            <a:r>
              <a:rPr sz="5700" b="1">
                <a:solidFill>
                  <a:srgbClr val="C0007F"/>
                </a:solidFill>
                <a:latin typeface="Arial"/>
                <a:ea typeface="Arial"/>
                <a:cs typeface="Arial"/>
              </a:rPr>
              <a:t>139</a:t>
            </a:r>
          </a:p>
        </p:txBody>
      </p:sp>
      <p:sp>
        <p:nvSpPr>
          <p:cNvPr id="4" name="pruebas backend&#10;xUnit">
            <a:extLst xmlns:a="http://schemas.openxmlformats.org/drawingml/2006/main">
              <a:ext uri="{FF2B5EF4-FFF2-40B4-BE49-F238E27FC236}">
                <a16:creationId xmlns:a16="http://schemas.microsoft.com/office/drawing/2014/main" id="{345858BA-8C9D-40D1-AABB-0CA056B5C508}"/>
              </a:ext>
            </a:extLst>
          </p:cNvPr>
          <p:cNvSpPr>
            <a:spLocks xmlns:a="http://schemas.openxmlformats.org/drawingml/2006/main" noGrp="1"/>
          </p:cNvSpPr>
          <p:nvPr/>
        </p:nvSpPr>
        <p:spPr>
          <a:xfrm xmlns:a="http://schemas.openxmlformats.org/drawingml/2006/main">
            <a:off x="609600" y="2486025"/>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pruebas backend</a:t>
            </a:r>
          </a:p>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xUnit</a:t>
            </a:r>
          </a:p>
        </p:txBody>
      </p:sp>
      <p:sp>
        <p:nvSpPr>
          <p:cNvPr id="5" name="33">
            <a:extLst xmlns:a="http://schemas.openxmlformats.org/drawingml/2006/main">
              <a:ext uri="{FF2B5EF4-FFF2-40B4-BE49-F238E27FC236}">
                <a16:creationId xmlns:a16="http://schemas.microsoft.com/office/drawing/2014/main" id="{CF93EFE8-2FF3-49B8-BCCD-FFA504A49C74}"/>
              </a:ext>
            </a:extLst>
          </p:cNvPr>
          <p:cNvSpPr>
            <a:spLocks xmlns:a="http://schemas.openxmlformats.org/drawingml/2006/main" noGrp="1"/>
          </p:cNvSpPr>
          <p:nvPr/>
        </p:nvSpPr>
        <p:spPr>
          <a:xfrm xmlns:a="http://schemas.openxmlformats.org/drawingml/2006/main">
            <a:off x="4410075" y="1447800"/>
            <a:ext cx="29146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700" b="1">
                <a:solidFill>
                  <a:srgbClr val="C0007F"/>
                </a:solidFill>
                <a:latin typeface="Arial"/>
                <a:ea typeface="Arial"/>
                <a:cs typeface="Arial"/>
              </a:defRPr>
            </a:pPr>
            <a:r>
              <a:rPr sz="5700" b="1">
                <a:solidFill>
                  <a:srgbClr val="C0007F"/>
                </a:solidFill>
                <a:latin typeface="Arial"/>
                <a:ea typeface="Arial"/>
                <a:cs typeface="Arial"/>
              </a:rPr>
              <a:t>33</a:t>
            </a:r>
          </a:p>
        </p:txBody>
      </p:sp>
      <p:sp>
        <p:nvSpPr>
          <p:cNvPr id="6" name="pruebas frontend&#10;Vitest + RTL">
            <a:extLst xmlns:a="http://schemas.openxmlformats.org/drawingml/2006/main">
              <a:ext uri="{FF2B5EF4-FFF2-40B4-BE49-F238E27FC236}">
                <a16:creationId xmlns:a16="http://schemas.microsoft.com/office/drawing/2014/main" id="{64D97F9E-E0CD-4CB6-BD58-79265515065A}"/>
              </a:ext>
            </a:extLst>
          </p:cNvPr>
          <p:cNvSpPr>
            <a:spLocks xmlns:a="http://schemas.openxmlformats.org/drawingml/2006/main" noGrp="1"/>
          </p:cNvSpPr>
          <p:nvPr/>
        </p:nvSpPr>
        <p:spPr>
          <a:xfrm xmlns:a="http://schemas.openxmlformats.org/drawingml/2006/main">
            <a:off x="4410075" y="2486025"/>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pruebas frontend</a:t>
            </a:r>
          </a:p>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Vitest + RTL</a:t>
            </a:r>
          </a:p>
        </p:txBody>
      </p:sp>
      <p:sp>
        <p:nvSpPr>
          <p:cNvPr id="7" name="4">
            <a:extLst xmlns:a="http://schemas.openxmlformats.org/drawingml/2006/main">
              <a:ext uri="{FF2B5EF4-FFF2-40B4-BE49-F238E27FC236}">
                <a16:creationId xmlns:a16="http://schemas.microsoft.com/office/drawing/2014/main" id="{0F55FC69-2A15-4BEB-9BC0-C54A6B9AAA15}"/>
              </a:ext>
            </a:extLst>
          </p:cNvPr>
          <p:cNvSpPr>
            <a:spLocks xmlns:a="http://schemas.openxmlformats.org/drawingml/2006/main" noGrp="1"/>
          </p:cNvSpPr>
          <p:nvPr/>
        </p:nvSpPr>
        <p:spPr>
          <a:xfrm xmlns:a="http://schemas.openxmlformats.org/drawingml/2006/main">
            <a:off x="8210550" y="1447800"/>
            <a:ext cx="33718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700" b="1">
                <a:solidFill>
                  <a:srgbClr val="C0007F"/>
                </a:solidFill>
                <a:latin typeface="Arial"/>
                <a:ea typeface="Arial"/>
                <a:cs typeface="Arial"/>
              </a:defRPr>
            </a:pPr>
            <a:r>
              <a:rPr sz="5700" b="1">
                <a:solidFill>
                  <a:srgbClr val="C0007F"/>
                </a:solidFill>
                <a:latin typeface="Arial"/>
                <a:ea typeface="Arial"/>
                <a:cs typeface="Arial"/>
              </a:rPr>
              <a:t>4</a:t>
            </a:r>
          </a:p>
        </p:txBody>
      </p:sp>
      <p:sp>
        <p:nvSpPr>
          <p:cNvPr id="8" name="flujos de sistema&#10;Playwright">
            <a:extLst xmlns:a="http://schemas.openxmlformats.org/drawingml/2006/main">
              <a:ext uri="{FF2B5EF4-FFF2-40B4-BE49-F238E27FC236}">
                <a16:creationId xmlns:a16="http://schemas.microsoft.com/office/drawing/2014/main" id="{939C9E38-7107-4A30-81F3-4714908E55CB}"/>
              </a:ext>
            </a:extLst>
          </p:cNvPr>
          <p:cNvSpPr>
            <a:spLocks xmlns:a="http://schemas.openxmlformats.org/drawingml/2006/main" noGrp="1"/>
          </p:cNvSpPr>
          <p:nvPr/>
        </p:nvSpPr>
        <p:spPr>
          <a:xfrm xmlns:a="http://schemas.openxmlformats.org/drawingml/2006/main">
            <a:off x="8210550" y="2486025"/>
            <a:ext cx="33718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flujos de sistema</a:t>
            </a:r>
          </a:p>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Playwright</a:t>
            </a:r>
          </a:p>
        </p:txBody>
      </p:sp>
      <p:graphicFrame>
        <p:nvGraphicFramePr>
          <p:cNvPr id="19" name=""/>
          <p:cNvGraphicFramePr/>
          <p:nvPr/>
        </p:nvGraphicFramePr>
        <p:xfrm>
          <a:off xmlns:a="http://schemas.openxmlformats.org/drawingml/2006/main" x="609600" y="3771900"/>
          <a:ext xmlns:a="http://schemas.openxmlformats.org/drawingml/2006/main" cx="10972800" cy="2009775"/>
        </p:xfrm>
        <a:graphic xmlns:a="http://schemas.openxmlformats.org/drawingml/2006/main">
          <a:graphicData uri="http://schemas.openxmlformats.org/drawingml/2006/table">
            <a:tbl>
              <a:tblPr firstRow="0" bandRow="0"/>
              <a:tblGrid>
                <a:gridCol w="3333750"/>
                <a:gridCol w="7639050"/>
              </a:tblGrid>
              <a:tr h="502444">
                <a:tc>
                  <a:txBody>
                    <a:bodyPr>
                      <a:noAutofit/>
                    </a:bodyPr>
                    <a:lstStyle/>
                    <a:p>
                      <a:r>
                        <a:rPr sz="1800" b="1">
                          <a:solidFill>
                            <a:srgbClr val="FFFFFF"/>
                          </a:solidFill>
                          <a:latin typeface="Arial"/>
                          <a:ea typeface="Arial"/>
                          <a:cs typeface="Arial"/>
                        </a:rPr>
                        <a:t>Evidencia</a:t>
                      </a:r>
                    </a:p>
                  </a:txBody>
                  <a:tcPr marL="152400" marR="152400" marT="114300" marB="95250" anchor="ctr">
                    <a:solidFill>
                      <a:srgbClr val="14263D"/>
                    </a:solidFill>
                  </a:tcPr>
                </a:tc>
                <a:tc>
                  <a:txBody>
                    <a:bodyPr>
                      <a:noAutofit/>
                    </a:bodyPr>
                    <a:lstStyle/>
                    <a:p>
                      <a:r>
                        <a:rPr sz="1800" b="1">
                          <a:solidFill>
                            <a:srgbClr val="FFFFFF"/>
                          </a:solidFill>
                          <a:latin typeface="Arial"/>
                          <a:ea typeface="Arial"/>
                          <a:cs typeface="Arial"/>
                        </a:rPr>
                        <a:t>Qué comprueba</a:t>
                      </a:r>
                    </a:p>
                  </a:txBody>
                  <a:tcPr marL="152400" marR="152400" marT="114300" marB="95250" anchor="ctr">
                    <a:solidFill>
                      <a:srgbClr val="14263D"/>
                    </a:solidFill>
                  </a:tcPr>
                </a:tc>
              </a:tr>
              <a:tr h="502444">
                <a:tc>
                  <a:txBody>
                    <a:bodyPr>
                      <a:noAutofit/>
                    </a:bodyPr>
                    <a:lstStyle/>
                    <a:p>
                      <a:r>
                        <a:rPr sz="1800" b="0">
                          <a:solidFill>
                            <a:srgbClr val="14263D"/>
                          </a:solidFill>
                          <a:latin typeface="Arial"/>
                          <a:ea typeface="Arial"/>
                          <a:cs typeface="Arial"/>
                        </a:rPr>
                        <a:t>PostgreSQL real</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Restricciones y carreras de concurrencia</a:t>
                      </a:r>
                    </a:p>
                  </a:txBody>
                  <a:tcPr marL="152400" marR="152400" marT="114300" marB="95250" anchor="ctr">
                    <a:solidFill>
                      <a:srgbClr val="FFFFFF"/>
                    </a:solidFill>
                  </a:tcPr>
                </a:tc>
              </a:tr>
              <a:tr h="502444">
                <a:tc>
                  <a:txBody>
                    <a:bodyPr>
                      <a:noAutofit/>
                    </a:bodyPr>
                    <a:lstStyle/>
                    <a:p>
                      <a:r>
                        <a:rPr sz="1800" b="0">
                          <a:solidFill>
                            <a:srgbClr val="14263D"/>
                          </a:solidFill>
                          <a:latin typeface="Arial"/>
                          <a:ea typeface="Arial"/>
                          <a:cs typeface="Arial"/>
                        </a:rPr>
                        <a:t>CI sobre entorno limpio</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Compilación, suites y migraciones</a:t>
                      </a:r>
                    </a:p>
                  </a:txBody>
                  <a:tcPr marL="152400" marR="152400" marT="114300" marB="95250" anchor="ctr">
                    <a:solidFill>
                      <a:srgbClr val="FFFFFF"/>
                    </a:solidFill>
                  </a:tcPr>
                </a:tc>
              </a:tr>
              <a:tr h="502444">
                <a:tc>
                  <a:txBody>
                    <a:bodyPr>
                      <a:noAutofit/>
                    </a:bodyPr>
                    <a:lstStyle/>
                    <a:p>
                      <a:r>
                        <a:rPr sz="1800" b="0">
                          <a:solidFill>
                            <a:srgbClr val="14263D"/>
                          </a:solidFill>
                          <a:latin typeface="Arial"/>
                          <a:ea typeface="Arial"/>
                          <a:cs typeface="Arial"/>
                        </a:rPr>
                        <a:t>Inspección sobre HTTPS</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Cookie Secure y configuración desplegada</a:t>
                      </a:r>
                    </a:p>
                  </a:txBody>
                  <a:tcPr marL="152400" marR="152400" marT="114300" marB="95250" anchor="ctr">
                    <a:solidFill>
                      <a:srgbClr val="FFFFFF"/>
                    </a:solidFill>
                  </a:tcPr>
                </a:tc>
              </a:tr>
            </a:tbl>
          </a:graphicData>
        </a:graphic>
      </p:graphicFrame>
      <p:sp>
        <p:nvSpPr>
          <p:cNvPr id="10" name="Recuentos documentados en S7, no porcentajes de cobertura. S">
            <a:extLst xmlns:a="http://schemas.openxmlformats.org/drawingml/2006/main">
              <a:ext uri="{FF2B5EF4-FFF2-40B4-BE49-F238E27FC236}">
                <a16:creationId xmlns:a16="http://schemas.microsoft.com/office/drawing/2014/main" id="{9938701C-1E05-49EE-A5FE-7A1C9DE85879}"/>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Recuentos documentados en S7, no porcentajes de cobertura. Secure se verificó manualmente. Memoria, pp. 48–55.</a:t>
            </a:r>
          </a:p>
        </p:txBody>
      </p:sp>
    </p:spTree>
    <p:extLst>
      <p:ext uri="{BB962C8B-B14F-4D97-AF65-F5344CB8AC3E}">
        <p14:creationId xmlns:p14="http://schemas.microsoft.com/office/powerpoint/2010/main" val="143486798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Despliegue reproducible y ligero">
            <a:extLst xmlns:a="http://schemas.openxmlformats.org/drawingml/2006/main">
              <a:ext uri="{FF2B5EF4-FFF2-40B4-BE49-F238E27FC236}">
                <a16:creationId xmlns:a16="http://schemas.microsoft.com/office/drawing/2014/main" id="{9FC57087-F53E-4385-B612-54D4802CE963}"/>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Despliegue reproducible y ligero</a:t>
            </a:r>
          </a:p>
        </p:txBody>
      </p:sp>
      <p:sp>
        <p:nvSpPr>
          <p:cNvPr id="2" name="14">
            <a:extLst xmlns:a="http://schemas.openxmlformats.org/drawingml/2006/main">
              <a:ext uri="{FF2B5EF4-FFF2-40B4-BE49-F238E27FC236}">
                <a16:creationId xmlns:a16="http://schemas.microsoft.com/office/drawing/2014/main" id="{AA256E34-3ECE-47C1-9210-A13984D2D3F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14</a:t>
            </a:r>
          </a:p>
        </p:txBody>
      </p:sp>
      <p:graphicFrame>
        <p:nvGraphicFramePr>
          <p:cNvPr id="10" name=""/>
          <p:cNvGraphicFramePr/>
          <p:nvPr/>
        </p:nvGraphicFramePr>
        <p:xfrm>
          <a:off xmlns:a="http://schemas.openxmlformats.org/drawingml/2006/main" x="609600" y="1809750"/>
          <a:ext xmlns:a="http://schemas.openxmlformats.org/drawingml/2006/main" cx="6715125" cy="2533650"/>
        </p:xfrm>
        <a:graphic xmlns:a="http://schemas.openxmlformats.org/drawingml/2006/main">
          <a:graphicData uri="http://schemas.openxmlformats.org/drawingml/2006/table">
            <a:tbl>
              <a:tblPr firstRow="0" bandRow="0"/>
              <a:tblGrid>
                <a:gridCol w="2143125"/>
                <a:gridCol w="4572000"/>
              </a:tblGrid>
              <a:tr h="633413">
                <a:tc>
                  <a:txBody>
                    <a:bodyPr>
                      <a:noAutofit/>
                    </a:bodyPr>
                    <a:lstStyle/>
                    <a:p>
                      <a:r>
                        <a:rPr sz="1875" b="1">
                          <a:solidFill>
                            <a:srgbClr val="FFFFFF"/>
                          </a:solidFill>
                          <a:latin typeface="Arial"/>
                          <a:ea typeface="Arial"/>
                          <a:cs typeface="Arial"/>
                        </a:rPr>
                        <a:t>Entrega</a:t>
                      </a:r>
                    </a:p>
                  </a:txBody>
                  <a:tcPr marL="152400" marR="152400" marT="114300" marB="95250" anchor="ctr">
                    <a:solidFill>
                      <a:srgbClr val="14263D"/>
                    </a:solidFill>
                  </a:tcPr>
                </a:tc>
                <a:tc>
                  <a:txBody>
                    <a:bodyPr>
                      <a:noAutofit/>
                    </a:bodyPr>
                    <a:lstStyle/>
                    <a:p>
                      <a:r>
                        <a:rPr sz="1875" b="1">
                          <a:solidFill>
                            <a:srgbClr val="FFFFFF"/>
                          </a:solidFill>
                          <a:latin typeface="Arial"/>
                          <a:ea typeface="Arial"/>
                          <a:cs typeface="Arial"/>
                        </a:rPr>
                        <a:t>Responsabilidad</a:t>
                      </a:r>
                    </a:p>
                  </a:txBody>
                  <a:tcPr marL="152400" marR="152400" marT="114300" marB="95250" anchor="ctr">
                    <a:solidFill>
                      <a:srgbClr val="14263D"/>
                    </a:solidFill>
                  </a:tcPr>
                </a:tc>
              </a:tr>
              <a:tr h="633413">
                <a:tc>
                  <a:txBody>
                    <a:bodyPr>
                      <a:noAutofit/>
                    </a:bodyPr>
                    <a:lstStyle/>
                    <a:p>
                      <a:r>
                        <a:rPr sz="1875" b="0">
                          <a:solidFill>
                            <a:srgbClr val="14263D"/>
                          </a:solidFill>
                          <a:latin typeface="Arial"/>
                          <a:ea typeface="Arial"/>
                          <a:cs typeface="Arial"/>
                        </a:rPr>
                        <a:t>GitHub Actions</a:t>
                      </a:r>
                    </a:p>
                  </a:txBody>
                  <a:tcPr marL="152400" marR="152400" marT="114300" marB="95250" anchor="ctr">
                    <a:solidFill>
                      <a:srgbClr val="FFFFFF"/>
                    </a:solidFill>
                  </a:tcPr>
                </a:tc>
                <a:tc>
                  <a:txBody>
                    <a:bodyPr>
                      <a:noAutofit/>
                    </a:bodyPr>
                    <a:lstStyle/>
                    <a:p>
                      <a:r>
                        <a:rPr sz="1875" b="0">
                          <a:solidFill>
                            <a:srgbClr val="14263D"/>
                          </a:solidFill>
                          <a:latin typeface="Arial"/>
                          <a:ea typeface="Arial"/>
                          <a:cs typeface="Arial"/>
                        </a:rPr>
                        <a:t>Valida y publica API/web en GHCR</a:t>
                      </a:r>
                    </a:p>
                  </a:txBody>
                  <a:tcPr marL="152400" marR="152400" marT="114300" marB="95250" anchor="ctr">
                    <a:solidFill>
                      <a:srgbClr val="FFFFFF"/>
                    </a:solidFill>
                  </a:tcPr>
                </a:tc>
              </a:tr>
              <a:tr h="633413">
                <a:tc>
                  <a:txBody>
                    <a:bodyPr>
                      <a:noAutofit/>
                    </a:bodyPr>
                    <a:lstStyle/>
                    <a:p>
                      <a:r>
                        <a:rPr sz="1875" b="0">
                          <a:solidFill>
                            <a:srgbClr val="14263D"/>
                          </a:solidFill>
                          <a:latin typeface="Arial"/>
                          <a:ea typeface="Arial"/>
                          <a:cs typeface="Arial"/>
                        </a:rPr>
                        <a:t>VM Ubuntu</a:t>
                      </a:r>
                    </a:p>
                  </a:txBody>
                  <a:tcPr marL="152400" marR="152400" marT="114300" marB="95250" anchor="ctr">
                    <a:solidFill>
                      <a:srgbClr val="FFFFFF"/>
                    </a:solidFill>
                  </a:tcPr>
                </a:tc>
                <a:tc>
                  <a:txBody>
                    <a:bodyPr>
                      <a:noAutofit/>
                    </a:bodyPr>
                    <a:lstStyle/>
                    <a:p>
                      <a:r>
                        <a:rPr sz="1875" b="0">
                          <a:solidFill>
                            <a:srgbClr val="14263D"/>
                          </a:solidFill>
                          <a:latin typeface="Arial"/>
                          <a:ea typeface="Arial"/>
                          <a:cs typeface="Arial"/>
                        </a:rPr>
                        <a:t>Descarga imágenes y aplica Compose</a:t>
                      </a:r>
                    </a:p>
                  </a:txBody>
                  <a:tcPr marL="152400" marR="152400" marT="114300" marB="95250" anchor="ctr">
                    <a:solidFill>
                      <a:srgbClr val="FFFFFF"/>
                    </a:solidFill>
                  </a:tcPr>
                </a:tc>
              </a:tr>
              <a:tr h="633413">
                <a:tc>
                  <a:txBody>
                    <a:bodyPr>
                      <a:noAutofit/>
                    </a:bodyPr>
                    <a:lstStyle/>
                    <a:p>
                      <a:r>
                        <a:rPr sz="1875" b="0">
                          <a:solidFill>
                            <a:srgbClr val="14263D"/>
                          </a:solidFill>
                          <a:latin typeface="Arial"/>
                          <a:ea typeface="Arial"/>
                          <a:cs typeface="Arial"/>
                        </a:rPr>
                        <a:t>Script + systemd</a:t>
                      </a:r>
                    </a:p>
                  </a:txBody>
                  <a:tcPr marL="152400" marR="152400" marT="114300" marB="95250" anchor="ctr">
                    <a:solidFill>
                      <a:srgbClr val="FFFFFF"/>
                    </a:solidFill>
                  </a:tcPr>
                </a:tc>
                <a:tc>
                  <a:txBody>
                    <a:bodyPr>
                      <a:noAutofit/>
                    </a:bodyPr>
                    <a:lstStyle/>
                    <a:p>
                      <a:r>
                        <a:rPr sz="1875" b="0">
                          <a:solidFill>
                            <a:srgbClr val="14263D"/>
                          </a:solidFill>
                          <a:latin typeface="Arial"/>
                          <a:ea typeface="Arial"/>
                          <a:cs typeface="Arial"/>
                        </a:rPr>
                        <a:t>Comprueba salud, revisión y digest</a:t>
                      </a:r>
                    </a:p>
                  </a:txBody>
                  <a:tcPr marL="152400" marR="152400" marT="114300" marB="95250" anchor="ctr">
                    <a:solidFill>
                      <a:srgbClr val="FFFFFF"/>
                    </a:solidFill>
                  </a:tcPr>
                </a:tc>
              </a:tr>
            </a:tbl>
          </a:graphicData>
        </a:graphic>
      </p:graphicFrame>
      <p:sp>
        <p:nvSpPr>
          <p:cNvPr id="4" name="Acceso HTTPS temporal">
            <a:extLst xmlns:a="http://schemas.openxmlformats.org/drawingml/2006/main">
              <a:ext uri="{FF2B5EF4-FFF2-40B4-BE49-F238E27FC236}">
                <a16:creationId xmlns:a16="http://schemas.microsoft.com/office/drawing/2014/main" id="{C4FA7B7A-8E8B-488B-87C4-DA0B34E10518}"/>
              </a:ext>
            </a:extLst>
          </p:cNvPr>
          <p:cNvSpPr>
            <a:spLocks xmlns:a="http://schemas.openxmlformats.org/drawingml/2006/main" noGrp="1"/>
          </p:cNvSpPr>
          <p:nvPr/>
        </p:nvSpPr>
        <p:spPr>
          <a:xfrm xmlns:a="http://schemas.openxmlformats.org/drawingml/2006/main">
            <a:off x="609600" y="48958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Acceso HTTPS temporal</a:t>
            </a:r>
          </a:p>
        </p:txBody>
      </p:sp>
      <p:sp>
        <p:nvSpPr>
          <p:cNvPr id="5" name="Cuatro servicios. Sin puertos de contenedores&#10;publicados en ">
            <a:extLst xmlns:a="http://schemas.openxmlformats.org/drawingml/2006/main">
              <a:ext uri="{FF2B5EF4-FFF2-40B4-BE49-F238E27FC236}">
                <a16:creationId xmlns:a16="http://schemas.microsoft.com/office/drawing/2014/main" id="{171B2EFC-8389-4207-B356-4A48C6C99052}"/>
              </a:ext>
            </a:extLst>
          </p:cNvPr>
          <p:cNvSpPr>
            <a:spLocks xmlns:a="http://schemas.openxmlformats.org/drawingml/2006/main" noGrp="1"/>
          </p:cNvSpPr>
          <p:nvPr/>
        </p:nvSpPr>
        <p:spPr>
          <a:xfrm xmlns:a="http://schemas.openxmlformats.org/drawingml/2006/main">
            <a:off x="609600" y="5314950"/>
            <a:ext cx="684847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Cuatro servicios. Sin puertos de contenedores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publicados en el host. Túnel saliente.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97fea7522e424a0a"/>
          <a:stretch xmlns:a="http://schemas.openxmlformats.org/drawingml/2006/main"/>
        </p:blipFill>
        <p:spPr>
          <a:xfrm xmlns:a="http://schemas.openxmlformats.org/drawingml/2006/main">
            <a:off x="7991475" y="2583116"/>
            <a:ext cx="3524250" cy="2310893"/>
          </a:xfrm>
          <a:prstGeom xmlns:a="http://schemas.openxmlformats.org/drawingml/2006/main" prst="rect">
            <a:avLst/>
          </a:prstGeom>
        </p:spPr>
      </p:pic>
      <p:sp>
        <p:nvSpPr>
          <p:cNvPr id="7" name="Despliegue verificado en la memoria. E2E y publicación const">
            <a:extLst xmlns:a="http://schemas.openxmlformats.org/drawingml/2006/main">
              <a:ext uri="{FF2B5EF4-FFF2-40B4-BE49-F238E27FC236}">
                <a16:creationId xmlns:a16="http://schemas.microsoft.com/office/drawing/2014/main" id="{45815945-771F-4AFC-94EE-AFCDD9C5F2CA}"/>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Despliegue verificado en la memoria. E2E y publicación construyen imágenes distintas del mismo commit. Cap. 9.</a:t>
            </a:r>
          </a:p>
        </p:txBody>
      </p:sp>
    </p:spTree>
    <p:extLst>
      <p:ext uri="{BB962C8B-B14F-4D97-AF65-F5344CB8AC3E}">
        <p14:creationId xmlns:p14="http://schemas.microsoft.com/office/powerpoint/2010/main" val="129697298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sultado funcional integrado">
            <a:extLst xmlns:a="http://schemas.openxmlformats.org/drawingml/2006/main">
              <a:ext uri="{FF2B5EF4-FFF2-40B4-BE49-F238E27FC236}">
                <a16:creationId xmlns:a16="http://schemas.microsoft.com/office/drawing/2014/main" id="{AF9BE80D-A359-4703-833E-687D887DA71E}"/>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Resultado funcional integrado</a:t>
            </a:r>
          </a:p>
        </p:txBody>
      </p:sp>
      <p:sp>
        <p:nvSpPr>
          <p:cNvPr id="2" name="15">
            <a:extLst xmlns:a="http://schemas.openxmlformats.org/drawingml/2006/main">
              <a:ext uri="{FF2B5EF4-FFF2-40B4-BE49-F238E27FC236}">
                <a16:creationId xmlns:a16="http://schemas.microsoft.com/office/drawing/2014/main" id="{CE3B53C1-5832-44E3-B206-629B72550873}"/>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15</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752965a3a432494b"/>
          <a:srcRect xmlns:a="http://schemas.openxmlformats.org/drawingml/2006/main" l="5538" t="22518" r="5459" b="24667"/>
          <a:stretch xmlns:a="http://schemas.openxmlformats.org/drawingml/2006/main">
            <a:fillRect l="0" t="0" r="0" b="0"/>
          </a:stretch>
        </p:blipFill>
        <p:spPr>
          <a:xfrm xmlns:a="http://schemas.openxmlformats.org/drawingml/2006/main">
            <a:off x="609600" y="2133600"/>
            <a:ext cx="7810500" cy="3581400"/>
          </a:xfrm>
          <a:prstGeom xmlns:a="http://schemas.openxmlformats.org/drawingml/2006/main" prst="rect">
            <a:avLst/>
          </a:prstGeom>
        </p:spPr>
      </p:pic>
      <p:sp>
        <p:nvSpPr>
          <p:cNvPr id="4" name="RF-01 a RF-14">
            <a:extLst xmlns:a="http://schemas.openxmlformats.org/drawingml/2006/main">
              <a:ext uri="{FF2B5EF4-FFF2-40B4-BE49-F238E27FC236}">
                <a16:creationId xmlns:a16="http://schemas.microsoft.com/office/drawing/2014/main" id="{D73099A8-6C8D-4CF1-B419-71E1253995C9}"/>
              </a:ext>
            </a:extLst>
          </p:cNvPr>
          <p:cNvSpPr>
            <a:spLocks xmlns:a="http://schemas.openxmlformats.org/drawingml/2006/main" noGrp="1"/>
          </p:cNvSpPr>
          <p:nvPr/>
        </p:nvSpPr>
        <p:spPr>
          <a:xfrm xmlns:a="http://schemas.openxmlformats.org/drawingml/2006/main">
            <a:off x="8896350" y="1857375"/>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RF-01 a RF-14</a:t>
            </a:r>
          </a:p>
        </p:txBody>
      </p:sp>
      <p:sp>
        <p:nvSpPr>
          <p:cNvPr id="5" name="Integrados de&#10;extremo a extremo">
            <a:extLst xmlns:a="http://schemas.openxmlformats.org/drawingml/2006/main">
              <a:ext uri="{FF2B5EF4-FFF2-40B4-BE49-F238E27FC236}">
                <a16:creationId xmlns:a16="http://schemas.microsoft.com/office/drawing/2014/main" id="{9EEF62A6-EBA4-4785-A48B-20F216ECF16A}"/>
              </a:ext>
            </a:extLst>
          </p:cNvPr>
          <p:cNvSpPr>
            <a:spLocks xmlns:a="http://schemas.openxmlformats.org/drawingml/2006/main" noGrp="1"/>
          </p:cNvSpPr>
          <p:nvPr/>
        </p:nvSpPr>
        <p:spPr>
          <a:xfrm xmlns:a="http://schemas.openxmlformats.org/drawingml/2006/main">
            <a:off x="8896350" y="2333625"/>
            <a:ext cx="266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14263D"/>
                </a:solidFill>
                <a:latin typeface="Arial"/>
                <a:ea typeface="Arial"/>
                <a:cs typeface="Arial"/>
              </a:defRPr>
            </a:pPr>
            <a:r>
              <a:rPr sz="2325" b="0">
                <a:solidFill>
                  <a:srgbClr val="14263D"/>
                </a:solidFill>
                <a:latin typeface="Arial"/>
                <a:ea typeface="Arial"/>
                <a:cs typeface="Arial"/>
              </a:rPr>
              <a:t>Integrados de</a:t>
            </a:r>
          </a:p>
          <a:p xmlns:a="http://schemas.openxmlformats.org/drawingml/2006/main">
            <a:pPr algn="l">
              <a:defRPr sz="2325" b="0">
                <a:solidFill>
                  <a:srgbClr val="14263D"/>
                </a:solidFill>
                <a:latin typeface="Arial"/>
                <a:ea typeface="Arial"/>
                <a:cs typeface="Arial"/>
              </a:defRPr>
            </a:pPr>
            <a:r>
              <a:rPr sz="2325" b="0">
                <a:solidFill>
                  <a:srgbClr val="14263D"/>
                </a:solidFill>
                <a:latin typeface="Arial"/>
                <a:ea typeface="Arial"/>
                <a:cs typeface="Arial"/>
              </a:rPr>
              <a:t>extremo a extremo</a:t>
            </a:r>
          </a:p>
        </p:txBody>
      </p:sp>
      <p:sp>
        <p:nvSpPr>
          <p:cNvPr id="6" name="Indicadores con contexto">
            <a:extLst xmlns:a="http://schemas.openxmlformats.org/drawingml/2006/main">
              <a:ext uri="{FF2B5EF4-FFF2-40B4-BE49-F238E27FC236}">
                <a16:creationId xmlns:a16="http://schemas.microsoft.com/office/drawing/2014/main" id="{AC785EB3-B1C0-409A-A3F3-F440660A5656}"/>
              </a:ext>
            </a:extLst>
          </p:cNvPr>
          <p:cNvSpPr>
            <a:spLocks xmlns:a="http://schemas.openxmlformats.org/drawingml/2006/main" noGrp="1"/>
          </p:cNvSpPr>
          <p:nvPr/>
        </p:nvSpPr>
        <p:spPr>
          <a:xfrm xmlns:a="http://schemas.openxmlformats.org/drawingml/2006/main">
            <a:off x="8896350" y="38862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Indicadores con contexto</a:t>
            </a:r>
          </a:p>
        </p:txBody>
      </p:sp>
      <p:sp>
        <p:nvSpPr>
          <p:cNvPr id="7" name="Estado global de envíos.&#10;Actividad e incidencias&#10;por periodo">
            <a:extLst xmlns:a="http://schemas.openxmlformats.org/drawingml/2006/main">
              <a:ext uri="{FF2B5EF4-FFF2-40B4-BE49-F238E27FC236}">
                <a16:creationId xmlns:a16="http://schemas.microsoft.com/office/drawing/2014/main" id="{234CC317-1343-4FA3-812C-F7E3953E6F6F}"/>
              </a:ext>
            </a:extLst>
          </p:cNvPr>
          <p:cNvSpPr>
            <a:spLocks xmlns:a="http://schemas.openxmlformats.org/drawingml/2006/main" noGrp="1"/>
          </p:cNvSpPr>
          <p:nvPr/>
        </p:nvSpPr>
        <p:spPr>
          <a:xfrm xmlns:a="http://schemas.openxmlformats.org/drawingml/2006/main">
            <a:off x="8896350" y="4343400"/>
            <a:ext cx="2667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Estado global de envíos.</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Actividad e incidencias</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por periodo.</a:t>
            </a:r>
          </a:p>
        </p:txBody>
      </p:sp>
      <p:sp>
        <p:nvSpPr>
          <p:cNvPr id="8" name="Captura con datos de demostración del Sprint 6. Sin medición">
            <a:extLst xmlns:a="http://schemas.openxmlformats.org/drawingml/2006/main">
              <a:ext uri="{FF2B5EF4-FFF2-40B4-BE49-F238E27FC236}">
                <a16:creationId xmlns:a16="http://schemas.microsoft.com/office/drawing/2014/main" id="{08FFA7FC-7FC2-42DA-9BEB-879D0CC5A3CD}"/>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Captura con datos de demostración del Sprint 6. Sin medición de impacto empresarial. Memoria, pp. 33, 45 y 66–67.</a:t>
            </a:r>
          </a:p>
        </p:txBody>
      </p:sp>
    </p:spTree>
    <p:extLst>
      <p:ext uri="{BB962C8B-B14F-4D97-AF65-F5344CB8AC3E}">
        <p14:creationId xmlns:p14="http://schemas.microsoft.com/office/powerpoint/2010/main" val="7036191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La revisión documental detectó una carencia">
            <a:extLst xmlns:a="http://schemas.openxmlformats.org/drawingml/2006/main">
              <a:ext uri="{FF2B5EF4-FFF2-40B4-BE49-F238E27FC236}">
                <a16:creationId xmlns:a16="http://schemas.microsoft.com/office/drawing/2014/main" id="{37A416B7-074E-4859-8479-804FAA029295}"/>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La revisión documental detectó una carencia</a:t>
            </a:r>
          </a:p>
        </p:txBody>
      </p:sp>
      <p:sp>
        <p:nvSpPr>
          <p:cNvPr id="2" name="16">
            <a:extLst xmlns:a="http://schemas.openxmlformats.org/drawingml/2006/main">
              <a:ext uri="{FF2B5EF4-FFF2-40B4-BE49-F238E27FC236}">
                <a16:creationId xmlns:a16="http://schemas.microsoft.com/office/drawing/2014/main" id="{8E2FD43F-E9E3-4F71-83DF-BB28811A961E}"/>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16</a:t>
            </a:r>
          </a:p>
        </p:txBody>
      </p:sp>
      <p:sp>
        <p:nvSpPr>
          <p:cNvPr id="3" name="Necesidad en la entrevista">
            <a:extLst xmlns:a="http://schemas.openxmlformats.org/drawingml/2006/main">
              <a:ext uri="{FF2B5EF4-FFF2-40B4-BE49-F238E27FC236}">
                <a16:creationId xmlns:a16="http://schemas.microsoft.com/office/drawing/2014/main" id="{4549FAEC-02E6-40AC-B460-119869543EB1}"/>
              </a:ext>
            </a:extLst>
          </p:cNvPr>
          <p:cNvSpPr>
            <a:spLocks xmlns:a="http://schemas.openxmlformats.org/drawingml/2006/main" noGrp="1"/>
          </p:cNvSpPr>
          <p:nvPr/>
        </p:nvSpPr>
        <p:spPr>
          <a:xfrm xmlns:a="http://schemas.openxmlformats.org/drawingml/2006/main">
            <a:off x="609600" y="1609725"/>
            <a:ext cx="5191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Necesidad en la entrevista</a:t>
            </a:r>
          </a:p>
        </p:txBody>
      </p:sp>
      <p:sp>
        <p:nvSpPr>
          <p:cNvPr id="4" name="Reasignar una contraseña&#10;cuando alguien la olvida">
            <a:extLst xmlns:a="http://schemas.openxmlformats.org/drawingml/2006/main">
              <a:ext uri="{FF2B5EF4-FFF2-40B4-BE49-F238E27FC236}">
                <a16:creationId xmlns:a16="http://schemas.microsoft.com/office/drawing/2014/main" id="{9BCA3DBE-8FEC-4C4A-9EF7-ACD58E927784}"/>
              </a:ext>
            </a:extLst>
          </p:cNvPr>
          <p:cNvSpPr>
            <a:spLocks xmlns:a="http://schemas.openxmlformats.org/drawingml/2006/main" noGrp="1"/>
          </p:cNvSpPr>
          <p:nvPr/>
        </p:nvSpPr>
        <p:spPr>
          <a:xfrm xmlns:a="http://schemas.openxmlformats.org/drawingml/2006/main">
            <a:off x="609600" y="2133600"/>
            <a:ext cx="52101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625" b="0">
                <a:solidFill>
                  <a:srgbClr val="14263D"/>
                </a:solidFill>
                <a:latin typeface="Arial"/>
                <a:ea typeface="Arial"/>
                <a:cs typeface="Arial"/>
              </a:defRPr>
            </a:pPr>
            <a:r>
              <a:rPr sz="2625" b="0">
                <a:solidFill>
                  <a:srgbClr val="14263D"/>
                </a:solidFill>
                <a:latin typeface="Arial"/>
                <a:ea typeface="Arial"/>
                <a:cs typeface="Arial"/>
              </a:rPr>
              <a:t>Reasignar una contraseña</a:t>
            </a:r>
          </a:p>
          <a:p xmlns:a="http://schemas.openxmlformats.org/drawingml/2006/main">
            <a:pPr algn="l">
              <a:defRPr sz="2625" b="0">
                <a:solidFill>
                  <a:srgbClr val="14263D"/>
                </a:solidFill>
                <a:latin typeface="Arial"/>
                <a:ea typeface="Arial"/>
                <a:cs typeface="Arial"/>
              </a:defRPr>
            </a:pPr>
            <a:r>
              <a:rPr sz="2625" b="0">
                <a:solidFill>
                  <a:srgbClr val="14263D"/>
                </a:solidFill>
                <a:latin typeface="Arial"/>
                <a:ea typeface="Arial"/>
                <a:cs typeface="Arial"/>
              </a:rPr>
              <a:t>cuando alguien la olvida</a:t>
            </a:r>
          </a:p>
        </p:txBody>
      </p:sp>
      <p:sp>
        <p:nvSpPr>
          <p:cNvPr id="5" name="Carencia detectada en el manual">
            <a:extLst xmlns:a="http://schemas.openxmlformats.org/drawingml/2006/main">
              <a:ext uri="{FF2B5EF4-FFF2-40B4-BE49-F238E27FC236}">
                <a16:creationId xmlns:a16="http://schemas.microsoft.com/office/drawing/2014/main" id="{21FA7498-1C43-442D-A3F9-28D97C0CEC3E}"/>
              </a:ext>
            </a:extLst>
          </p:cNvPr>
          <p:cNvSpPr>
            <a:spLocks xmlns:a="http://schemas.openxmlformats.org/drawingml/2006/main" noGrp="1"/>
          </p:cNvSpPr>
          <p:nvPr/>
        </p:nvSpPr>
        <p:spPr>
          <a:xfrm xmlns:a="http://schemas.openxmlformats.org/drawingml/2006/main">
            <a:off x="609600" y="3762375"/>
            <a:ext cx="5191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Carencia detectada en el manual</a:t>
            </a:r>
          </a:p>
        </p:txBody>
      </p:sp>
      <p:sp>
        <p:nvSpPr>
          <p:cNvPr id="6" name="El autoservicio exigía&#10;la contraseña anterior.">
            <a:extLst xmlns:a="http://schemas.openxmlformats.org/drawingml/2006/main">
              <a:ext uri="{FF2B5EF4-FFF2-40B4-BE49-F238E27FC236}">
                <a16:creationId xmlns:a16="http://schemas.microsoft.com/office/drawing/2014/main" id="{981F148D-4778-467B-947B-6071DE2FD82C}"/>
              </a:ext>
            </a:extLst>
          </p:cNvPr>
          <p:cNvSpPr>
            <a:spLocks xmlns:a="http://schemas.openxmlformats.org/drawingml/2006/main" noGrp="1"/>
          </p:cNvSpPr>
          <p:nvPr/>
        </p:nvSpPr>
        <p:spPr>
          <a:xfrm xmlns:a="http://schemas.openxmlformats.org/drawingml/2006/main">
            <a:off x="609600" y="4286250"/>
            <a:ext cx="52101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400" b="0">
                <a:solidFill>
                  <a:srgbClr val="14263D"/>
                </a:solidFill>
                <a:latin typeface="Arial"/>
                <a:ea typeface="Arial"/>
                <a:cs typeface="Arial"/>
              </a:defRPr>
            </a:pPr>
            <a:r>
              <a:rPr sz="2400" b="0">
                <a:solidFill>
                  <a:srgbClr val="14263D"/>
                </a:solidFill>
                <a:latin typeface="Arial"/>
                <a:ea typeface="Arial"/>
                <a:cs typeface="Arial"/>
              </a:rPr>
              <a:t>El autoservicio exigía</a:t>
            </a:r>
          </a:p>
          <a:p xmlns:a="http://schemas.openxmlformats.org/drawingml/2006/main">
            <a:pPr algn="l">
              <a:defRPr sz="2400" b="0">
                <a:solidFill>
                  <a:srgbClr val="14263D"/>
                </a:solidFill>
                <a:latin typeface="Arial"/>
                <a:ea typeface="Arial"/>
                <a:cs typeface="Arial"/>
              </a:defRPr>
            </a:pPr>
            <a:r>
              <a:rPr sz="2400" b="0">
                <a:solidFill>
                  <a:srgbClr val="14263D"/>
                </a:solidFill>
                <a:latin typeface="Arial"/>
                <a:ea typeface="Arial"/>
                <a:cs typeface="Arial"/>
              </a:rPr>
              <a:t>la contraseña anterior.</a:t>
            </a:r>
          </a:p>
        </p:txBody>
      </p:sp>
      <p:sp>
        <p:nvSpPr>
          <p:cNvPr id="7" name="Corrección integrada">
            <a:extLst xmlns:a="http://schemas.openxmlformats.org/drawingml/2006/main">
              <a:ext uri="{FF2B5EF4-FFF2-40B4-BE49-F238E27FC236}">
                <a16:creationId xmlns:a16="http://schemas.microsoft.com/office/drawing/2014/main" id="{A0B89ECF-B62C-4652-A28B-0D204139E246}"/>
              </a:ext>
            </a:extLst>
          </p:cNvPr>
          <p:cNvSpPr>
            <a:spLocks xmlns:a="http://schemas.openxmlformats.org/drawingml/2006/main" noGrp="1"/>
          </p:cNvSpPr>
          <p:nvPr/>
        </p:nvSpPr>
        <p:spPr>
          <a:xfrm xmlns:a="http://schemas.openxmlformats.org/drawingml/2006/main">
            <a:off x="6724650" y="1609725"/>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Corrección integrada</a:t>
            </a:r>
          </a:p>
        </p:txBody>
      </p:sp>
      <p:sp>
        <p:nvSpPr>
          <p:cNvPr id="8" name="RN-17">
            <a:extLst xmlns:a="http://schemas.openxmlformats.org/drawingml/2006/main">
              <a:ext uri="{FF2B5EF4-FFF2-40B4-BE49-F238E27FC236}">
                <a16:creationId xmlns:a16="http://schemas.microsoft.com/office/drawing/2014/main" id="{C5ED5462-F6DF-4235-A514-E0357F46CF11}"/>
              </a:ext>
            </a:extLst>
          </p:cNvPr>
          <p:cNvSpPr>
            <a:spLocks xmlns:a="http://schemas.openxmlformats.org/drawingml/2006/main" noGrp="1"/>
          </p:cNvSpPr>
          <p:nvPr/>
        </p:nvSpPr>
        <p:spPr>
          <a:xfrm xmlns:a="http://schemas.openxmlformats.org/drawingml/2006/main">
            <a:off x="6724650" y="2143125"/>
            <a:ext cx="4857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700" b="1">
                <a:solidFill>
                  <a:srgbClr val="C0007F"/>
                </a:solidFill>
                <a:latin typeface="Arial"/>
                <a:ea typeface="Arial"/>
                <a:cs typeface="Arial"/>
              </a:defRPr>
            </a:pPr>
            <a:r>
              <a:rPr sz="5700" b="1">
                <a:solidFill>
                  <a:srgbClr val="C0007F"/>
                </a:solidFill>
                <a:latin typeface="Arial"/>
                <a:ea typeface="Arial"/>
                <a:cs typeface="Arial"/>
              </a:rPr>
              <a:t>RN-17</a:t>
            </a:r>
          </a:p>
        </p:txBody>
      </p:sp>
      <p:sp>
        <p:nvSpPr>
          <p:cNvPr id="9" name="El administrador asigna una&#10;contraseña a otra cuenta&#10;e inval">
            <a:extLst xmlns:a="http://schemas.openxmlformats.org/drawingml/2006/main">
              <a:ext uri="{FF2B5EF4-FFF2-40B4-BE49-F238E27FC236}">
                <a16:creationId xmlns:a16="http://schemas.microsoft.com/office/drawing/2014/main" id="{1812E316-4953-4230-9DC4-E27887B44AD0}"/>
              </a:ext>
            </a:extLst>
          </p:cNvPr>
          <p:cNvSpPr>
            <a:spLocks xmlns:a="http://schemas.openxmlformats.org/drawingml/2006/main" noGrp="1"/>
          </p:cNvSpPr>
          <p:nvPr/>
        </p:nvSpPr>
        <p:spPr>
          <a:xfrm xmlns:a="http://schemas.openxmlformats.org/drawingml/2006/main">
            <a:off x="6724650" y="3505200"/>
            <a:ext cx="48672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14263D"/>
                </a:solidFill>
                <a:latin typeface="Arial"/>
                <a:ea typeface="Arial"/>
                <a:cs typeface="Arial"/>
              </a:defRPr>
            </a:pPr>
            <a:r>
              <a:rPr sz="2325" b="0">
                <a:solidFill>
                  <a:srgbClr val="14263D"/>
                </a:solidFill>
                <a:latin typeface="Arial"/>
                <a:ea typeface="Arial"/>
                <a:cs typeface="Arial"/>
              </a:rPr>
              <a:t>El administrador asigna una</a:t>
            </a:r>
          </a:p>
          <a:p xmlns:a="http://schemas.openxmlformats.org/drawingml/2006/main">
            <a:pPr algn="l">
              <a:defRPr sz="2325" b="0">
                <a:solidFill>
                  <a:srgbClr val="14263D"/>
                </a:solidFill>
                <a:latin typeface="Arial"/>
                <a:ea typeface="Arial"/>
                <a:cs typeface="Arial"/>
              </a:defRPr>
            </a:pPr>
            <a:r>
              <a:rPr sz="2325" b="0">
                <a:solidFill>
                  <a:srgbClr val="14263D"/>
                </a:solidFill>
                <a:latin typeface="Arial"/>
                <a:ea typeface="Arial"/>
                <a:cs typeface="Arial"/>
              </a:rPr>
              <a:t>contraseña a otra cuenta</a:t>
            </a:r>
          </a:p>
          <a:p xmlns:a="http://schemas.openxmlformats.org/drawingml/2006/main">
            <a:pPr algn="l">
              <a:defRPr sz="2325" b="0">
                <a:solidFill>
                  <a:srgbClr val="14263D"/>
                </a:solidFill>
                <a:latin typeface="Arial"/>
                <a:ea typeface="Arial"/>
                <a:cs typeface="Arial"/>
              </a:defRPr>
            </a:pPr>
            <a:r>
              <a:rPr sz="2325" b="0">
                <a:solidFill>
                  <a:srgbClr val="14263D"/>
                </a:solidFill>
                <a:latin typeface="Arial"/>
                <a:ea typeface="Arial"/>
                <a:cs typeface="Arial"/>
              </a:rPr>
              <a:t>e invalida sus sesiones.</a:t>
            </a:r>
          </a:p>
        </p:txBody>
      </p:sp>
      <p:sp>
        <p:nvSpPr>
          <p:cNvPr id="10" name="Requisitos, API, interfaz y pruebas actualizados">
            <a:extLst xmlns:a="http://schemas.openxmlformats.org/drawingml/2006/main">
              <a:ext uri="{FF2B5EF4-FFF2-40B4-BE49-F238E27FC236}">
                <a16:creationId xmlns:a16="http://schemas.microsoft.com/office/drawing/2014/main" id="{7208C244-92ED-456F-8C50-D36A4255EA9D}"/>
              </a:ext>
            </a:extLst>
          </p:cNvPr>
          <p:cNvSpPr>
            <a:spLocks xmlns:a="http://schemas.openxmlformats.org/drawingml/2006/main" noGrp="1"/>
          </p:cNvSpPr>
          <p:nvPr/>
        </p:nvSpPr>
        <p:spPr>
          <a:xfrm xmlns:a="http://schemas.openxmlformats.org/drawingml/2006/main">
            <a:off x="6724650" y="5448300"/>
            <a:ext cx="48196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2156A5"/>
                </a:solidFill>
                <a:latin typeface="Arial"/>
                <a:ea typeface="Arial"/>
                <a:cs typeface="Arial"/>
              </a:defRPr>
            </a:pPr>
            <a:r>
              <a:rPr sz="1875" b="0">
                <a:solidFill>
                  <a:srgbClr val="2156A5"/>
                </a:solidFill>
                <a:latin typeface="Arial"/>
                <a:ea typeface="Arial"/>
                <a:cs typeface="Arial"/>
              </a:rPr>
              <a:t>Requisitos, API, interfaz y pruebas actualizados</a:t>
            </a:r>
          </a:p>
        </p:txBody>
      </p:sp>
      <p:sp>
        <p:nvSpPr>
          <p:cNvPr id="11" name="La documentación actúa también como verificación del product">
            <a:extLst xmlns:a="http://schemas.openxmlformats.org/drawingml/2006/main">
              <a:ext uri="{FF2B5EF4-FFF2-40B4-BE49-F238E27FC236}">
                <a16:creationId xmlns:a16="http://schemas.microsoft.com/office/drawing/2014/main" id="{5DDDC048-943F-405F-A9BF-5621B77705E8}"/>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La documentación actúa también como verificación del producto. Memoria, p. 33 y matriz de trazabilidad.</a:t>
            </a:r>
          </a:p>
        </p:txBody>
      </p:sp>
    </p:spTree>
    <p:extLst>
      <p:ext uri="{BB962C8B-B14F-4D97-AF65-F5344CB8AC3E}">
        <p14:creationId xmlns:p14="http://schemas.microsoft.com/office/powerpoint/2010/main" val="85860395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Límites y próximos pasos">
            <a:extLst xmlns:a="http://schemas.openxmlformats.org/drawingml/2006/main">
              <a:ext uri="{FF2B5EF4-FFF2-40B4-BE49-F238E27FC236}">
                <a16:creationId xmlns:a16="http://schemas.microsoft.com/office/drawing/2014/main" id="{C68965F3-7207-4ED5-9C87-C96664082A2B}"/>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Límites y próximos pasos</a:t>
            </a:r>
          </a:p>
        </p:txBody>
      </p:sp>
      <p:sp>
        <p:nvSpPr>
          <p:cNvPr id="2" name="17">
            <a:extLst xmlns:a="http://schemas.openxmlformats.org/drawingml/2006/main">
              <a:ext uri="{FF2B5EF4-FFF2-40B4-BE49-F238E27FC236}">
                <a16:creationId xmlns:a16="http://schemas.microsoft.com/office/drawing/2014/main" id="{0C8F0F0C-7D5A-46C3-962E-D39667DA6FE9}"/>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17</a:t>
            </a:r>
          </a:p>
        </p:txBody>
      </p:sp>
      <p:sp>
        <p:nvSpPr>
          <p:cNvPr id="3" name="Límites del resultado">
            <a:extLst xmlns:a="http://schemas.openxmlformats.org/drawingml/2006/main">
              <a:ext uri="{FF2B5EF4-FFF2-40B4-BE49-F238E27FC236}">
                <a16:creationId xmlns:a16="http://schemas.microsoft.com/office/drawing/2014/main" id="{B5C77933-8D97-4E2B-9D62-97D8652AD10A}"/>
              </a:ext>
            </a:extLst>
          </p:cNvPr>
          <p:cNvSpPr>
            <a:spLocks xmlns:a="http://schemas.openxmlformats.org/drawingml/2006/main" noGrp="1"/>
          </p:cNvSpPr>
          <p:nvPr/>
        </p:nvSpPr>
        <p:spPr>
          <a:xfrm xmlns:a="http://schemas.openxmlformats.org/drawingml/2006/main">
            <a:off x="609600" y="1666875"/>
            <a:ext cx="5381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Límites del resultado</a:t>
            </a:r>
          </a:p>
        </p:txBody>
      </p:sp>
      <p:sp>
        <p:nvSpPr>
          <p:cNvPr id="4" name="Caso de negocio simulado&#10;Sin evaluación con usuarios reales&#10;">
            <a:extLst xmlns:a="http://schemas.openxmlformats.org/drawingml/2006/main">
              <a:ext uri="{FF2B5EF4-FFF2-40B4-BE49-F238E27FC236}">
                <a16:creationId xmlns:a16="http://schemas.microsoft.com/office/drawing/2014/main" id="{EF5DD3FB-A540-48ED-9895-A82A8B160875}"/>
              </a:ext>
            </a:extLst>
          </p:cNvPr>
          <p:cNvSpPr>
            <a:spLocks xmlns:a="http://schemas.openxmlformats.org/drawingml/2006/main" noGrp="1"/>
          </p:cNvSpPr>
          <p:nvPr/>
        </p:nvSpPr>
        <p:spPr>
          <a:xfrm xmlns:a="http://schemas.openxmlformats.org/drawingml/2006/main">
            <a:off x="609600" y="2286000"/>
            <a:ext cx="5562600" cy="225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Caso de negocio simulado</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Sin evaluación con usuarios reales</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Sin pruebas de carga</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Túnel temporal, sin copias ni métricas</a:t>
            </a:r>
          </a:p>
        </p:txBody>
      </p:sp>
      <p:sp>
        <p:nvSpPr>
          <p:cNvPr id="5" name="Continuación propuesta">
            <a:extLst xmlns:a="http://schemas.openxmlformats.org/drawingml/2006/main">
              <a:ext uri="{FF2B5EF4-FFF2-40B4-BE49-F238E27FC236}">
                <a16:creationId xmlns:a16="http://schemas.microsoft.com/office/drawing/2014/main" id="{A09FE8DF-F0DF-4C14-A946-F88F92390F49}"/>
              </a:ext>
            </a:extLst>
          </p:cNvPr>
          <p:cNvSpPr>
            <a:spLocks xmlns:a="http://schemas.openxmlformats.org/drawingml/2006/main" noGrp="1"/>
          </p:cNvSpPr>
          <p:nvPr/>
        </p:nvSpPr>
        <p:spPr>
          <a:xfrm xmlns:a="http://schemas.openxmlformats.org/drawingml/2006/main">
            <a:off x="6962775" y="1666875"/>
            <a:ext cx="4638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C0007F"/>
                </a:solidFill>
                <a:latin typeface="Arial"/>
                <a:ea typeface="Arial"/>
                <a:cs typeface="Arial"/>
              </a:defRPr>
            </a:pPr>
            <a:r>
              <a:rPr sz="1725" b="1">
                <a:solidFill>
                  <a:srgbClr val="C0007F"/>
                </a:solidFill>
                <a:latin typeface="Arial"/>
                <a:ea typeface="Arial"/>
                <a:cs typeface="Arial"/>
              </a:rPr>
              <a:t>Continuación propuesta</a:t>
            </a:r>
          </a:p>
        </p:txBody>
      </p:sp>
      <p:sp>
        <p:nvSpPr>
          <p:cNvPr id="6" name="Validar el núcleo con usuarios&#10;Estabilizar alojamiento y rec">
            <a:extLst xmlns:a="http://schemas.openxmlformats.org/drawingml/2006/main">
              <a:ext uri="{FF2B5EF4-FFF2-40B4-BE49-F238E27FC236}">
                <a16:creationId xmlns:a16="http://schemas.microsoft.com/office/drawing/2014/main" id="{80EC383C-1630-4C28-BED6-401C9961C968}"/>
              </a:ext>
            </a:extLst>
          </p:cNvPr>
          <p:cNvSpPr>
            <a:spLocks xmlns:a="http://schemas.openxmlformats.org/drawingml/2006/main" noGrp="1"/>
          </p:cNvSpPr>
          <p:nvPr/>
        </p:nvSpPr>
        <p:spPr>
          <a:xfrm xmlns:a="http://schemas.openxmlformats.org/drawingml/2006/main">
            <a:off x="6962775" y="2286000"/>
            <a:ext cx="4600575" cy="2228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Validar el núcleo con usuarios</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Estabilizar alojamiento y recuperación</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Publicar el mismo artefacto probado</a:t>
            </a:r>
          </a:p>
        </p:txBody>
      </p:sp>
      <p:sp>
        <p:nvSpPr>
          <p:cNvPr id="7" name="Rutas, GPS y facturación se valorarían después de validar el">
            <a:extLst xmlns:a="http://schemas.openxmlformats.org/drawingml/2006/main">
              <a:ext uri="{FF2B5EF4-FFF2-40B4-BE49-F238E27FC236}">
                <a16:creationId xmlns:a16="http://schemas.microsoft.com/office/drawing/2014/main" id="{C2A0AD9E-8560-4E61-BEA1-0842D0E7C551}"/>
              </a:ext>
            </a:extLst>
          </p:cNvPr>
          <p:cNvSpPr>
            <a:spLocks xmlns:a="http://schemas.openxmlformats.org/drawingml/2006/main" noGrp="1"/>
          </p:cNvSpPr>
          <p:nvPr/>
        </p:nvSpPr>
        <p:spPr>
          <a:xfrm xmlns:a="http://schemas.openxmlformats.org/drawingml/2006/main">
            <a:off x="609600" y="5353050"/>
            <a:ext cx="108394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2156A5"/>
                </a:solidFill>
                <a:latin typeface="Arial"/>
                <a:ea typeface="Arial"/>
                <a:cs typeface="Arial"/>
              </a:defRPr>
            </a:pPr>
            <a:r>
              <a:rPr sz="2325" b="0">
                <a:solidFill>
                  <a:srgbClr val="2156A5"/>
                </a:solidFill>
                <a:latin typeface="Arial"/>
                <a:ea typeface="Arial"/>
                <a:cs typeface="Arial"/>
              </a:rPr>
              <a:t>Rutas, GPS y facturación se valorarían después de validar el uso real</a:t>
            </a:r>
          </a:p>
        </p:txBody>
      </p:sp>
      <p:sp>
        <p:nvSpPr>
          <p:cNvPr id="8" name="Entorno de demostración reproducible. Memoria, pp. 57, 60 y ">
            <a:extLst xmlns:a="http://schemas.openxmlformats.org/drawingml/2006/main">
              <a:ext uri="{FF2B5EF4-FFF2-40B4-BE49-F238E27FC236}">
                <a16:creationId xmlns:a16="http://schemas.microsoft.com/office/drawing/2014/main" id="{C94D0C84-C8F9-4CF4-893F-7482296753E2}"/>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Entorno de demostración reproducible. Memoria, pp. 57, 60 y 66–69.</a:t>
            </a:r>
          </a:p>
        </p:txBody>
      </p:sp>
    </p:spTree>
    <p:extLst>
      <p:ext uri="{BB962C8B-B14F-4D97-AF65-F5344CB8AC3E}">
        <p14:creationId xmlns:p14="http://schemas.microsoft.com/office/powerpoint/2010/main" val="866625905"/>
      </p:ext>
    </p:extLst>
  </p:cSld>
</p:sld>
</file>

<file path=ppt/slides/slide18.xml><?xml version="1.0" encoding="utf-8"?>
<p:sld xmlns:p="http://schemas.openxmlformats.org/presentationml/2006/main">
  <p:cSld>
    <p:bg>
      <p:bgPr>
        <a:solidFill xmlns:a="http://schemas.openxmlformats.org/drawingml/2006/main">
          <a:srgbClr val="14263D"/>
        </a:solidFill>
      </p:bgPr>
    </p:bg>
    <p:spTree>
      <p:nvGrpSpPr>
        <p:cNvPr id="1" name=""/>
        <p:cNvGrpSpPr/>
        <p:nvPr/>
      </p:nvGrpSpPr>
      <p:grpSpPr>
        <a:xfrm xmlns:a="http://schemas.openxmlformats.org/drawingml/2006/main"/>
      </p:grpSpPr>
      <p:sp>
        <p:nvSpPr>
          <p:cNvPr id="8" name="Conclusiones">
            <a:extLst xmlns:a="http://schemas.openxmlformats.org/drawingml/2006/main">
              <a:ext uri="{FF2B5EF4-FFF2-40B4-BE49-F238E27FC236}">
                <a16:creationId xmlns:a16="http://schemas.microsoft.com/office/drawing/2014/main" id="{29569896-A85F-4665-8EE8-03AA86CCCFA0}"/>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Conclusiones</a:t>
            </a:r>
          </a:p>
        </p:txBody>
      </p:sp>
      <p:sp>
        <p:nvSpPr>
          <p:cNvPr id="2" name="18">
            <a:extLst xmlns:a="http://schemas.openxmlformats.org/drawingml/2006/main">
              <a:ext uri="{FF2B5EF4-FFF2-40B4-BE49-F238E27FC236}">
                <a16:creationId xmlns:a16="http://schemas.microsoft.com/office/drawing/2014/main" id="{048E7829-A573-4271-BAAA-BA6F1F8CBF1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D3DCE7"/>
                </a:solidFill>
                <a:latin typeface="Arial"/>
                <a:ea typeface="Arial"/>
                <a:cs typeface="Arial"/>
              </a:defRPr>
            </a:pPr>
            <a:r>
              <a:rPr sz="1200" b="0">
                <a:solidFill>
                  <a:srgbClr val="D3DCE7"/>
                </a:solidFill>
                <a:latin typeface="Arial"/>
                <a:ea typeface="Arial"/>
                <a:cs typeface="Arial"/>
              </a:rPr>
              <a:t>18</a:t>
            </a:r>
          </a:p>
        </p:txBody>
      </p:sp>
      <p:sp>
        <p:nvSpPr>
          <p:cNvPr id="3" name="Un núcleo operativo completo&#10;con un proceso de ingeniería ve">
            <a:extLst xmlns:a="http://schemas.openxmlformats.org/drawingml/2006/main">
              <a:ext uri="{FF2B5EF4-FFF2-40B4-BE49-F238E27FC236}">
                <a16:creationId xmlns:a16="http://schemas.microsoft.com/office/drawing/2014/main" id="{3C62F77F-5BCD-45BF-B2FC-63248C84536C}"/>
              </a:ext>
            </a:extLst>
          </p:cNvPr>
          <p:cNvSpPr>
            <a:spLocks xmlns:a="http://schemas.openxmlformats.org/drawingml/2006/main" noGrp="1"/>
          </p:cNvSpPr>
          <p:nvPr/>
        </p:nvSpPr>
        <p:spPr>
          <a:xfrm xmlns:a="http://schemas.openxmlformats.org/drawingml/2006/main">
            <a:off x="609600" y="1809750"/>
            <a:ext cx="10620375"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450" b="1">
                <a:solidFill>
                  <a:srgbClr val="FFFFFF"/>
                </a:solidFill>
                <a:latin typeface="Arial"/>
                <a:ea typeface="Arial"/>
                <a:cs typeface="Arial"/>
              </a:defRPr>
            </a:pPr>
            <a:r>
              <a:rPr sz="3450" b="1">
                <a:solidFill>
                  <a:srgbClr val="FFFFFF"/>
                </a:solidFill>
                <a:latin typeface="Arial"/>
                <a:ea typeface="Arial"/>
                <a:cs typeface="Arial"/>
              </a:rPr>
              <a:t>Un núcleo operativo completo</a:t>
            </a:r>
          </a:p>
          <a:p xmlns:a="http://schemas.openxmlformats.org/drawingml/2006/main">
            <a:pPr algn="l">
              <a:defRPr sz="3450" b="1">
                <a:solidFill>
                  <a:srgbClr val="FFFFFF"/>
                </a:solidFill>
                <a:latin typeface="Arial"/>
                <a:ea typeface="Arial"/>
                <a:cs typeface="Arial"/>
              </a:defRPr>
            </a:pPr>
            <a:r>
              <a:rPr sz="3450" b="1">
                <a:solidFill>
                  <a:srgbClr val="FFFFFF"/>
                </a:solidFill>
                <a:latin typeface="Arial"/>
                <a:ea typeface="Arial"/>
                <a:cs typeface="Arial"/>
              </a:rPr>
              <a:t>con un proceso de ingeniería verificable</a:t>
            </a:r>
          </a:p>
        </p:txBody>
      </p:sp>
      <p:sp>
        <p:nvSpPr>
          <p:cNvPr id="4" name="Requisitos vinculados a decisiones y pruebas.&#10;Integración pr">
            <a:extLst xmlns:a="http://schemas.openxmlformats.org/drawingml/2006/main">
              <a:ext uri="{FF2B5EF4-FFF2-40B4-BE49-F238E27FC236}">
                <a16:creationId xmlns:a16="http://schemas.microsoft.com/office/drawing/2014/main" id="{3CCCDF6A-6C2D-4D94-9A7C-CDEABC1B5FA3}"/>
              </a:ext>
            </a:extLst>
          </p:cNvPr>
          <p:cNvSpPr>
            <a:spLocks xmlns:a="http://schemas.openxmlformats.org/drawingml/2006/main" noGrp="1"/>
          </p:cNvSpPr>
          <p:nvPr/>
        </p:nvSpPr>
        <p:spPr>
          <a:xfrm xmlns:a="http://schemas.openxmlformats.org/drawingml/2006/main">
            <a:off x="609600" y="3781425"/>
            <a:ext cx="10668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DFE7EF"/>
                </a:solidFill>
                <a:latin typeface="Arial"/>
                <a:ea typeface="Arial"/>
                <a:cs typeface="Arial"/>
              </a:defRPr>
            </a:pPr>
            <a:r>
              <a:rPr sz="2175" b="0">
                <a:solidFill>
                  <a:srgbClr val="DFE7EF"/>
                </a:solidFill>
                <a:latin typeface="Arial"/>
                <a:ea typeface="Arial"/>
                <a:cs typeface="Arial"/>
              </a:rPr>
              <a:t>Requisitos vinculados a decisiones y pruebas.</a:t>
            </a:r>
          </a:p>
          <a:p xmlns:a="http://schemas.openxmlformats.org/drawingml/2006/main">
            <a:pPr algn="l">
              <a:defRPr sz="2175" b="0">
                <a:solidFill>
                  <a:srgbClr val="DFE7EF"/>
                </a:solidFill>
                <a:latin typeface="Arial"/>
                <a:ea typeface="Arial"/>
                <a:cs typeface="Arial"/>
              </a:defRPr>
            </a:pPr>
            <a:r>
              <a:rPr sz="2175" b="0">
                <a:solidFill>
                  <a:srgbClr val="DFE7EF"/>
                </a:solidFill>
                <a:latin typeface="Arial"/>
                <a:ea typeface="Arial"/>
                <a:cs typeface="Arial"/>
              </a:rPr>
              <a:t>Integración progresiva y deudas cerradas con evidencia.</a:t>
            </a:r>
          </a:p>
          <a:p xmlns:a="http://schemas.openxmlformats.org/drawingml/2006/main">
            <a:pPr algn="l">
              <a:defRPr sz="2175" b="0">
                <a:solidFill>
                  <a:srgbClr val="DFE7EF"/>
                </a:solidFill>
                <a:latin typeface="Arial"/>
                <a:ea typeface="Arial"/>
                <a:cs typeface="Arial"/>
              </a:defRPr>
            </a:pPr>
            <a:r>
              <a:rPr sz="2175" b="0">
                <a:solidFill>
                  <a:srgbClr val="DFE7EF"/>
                </a:solidFill>
                <a:latin typeface="Arial"/>
                <a:ea typeface="Arial"/>
                <a:cs typeface="Arial"/>
              </a:rPr>
              <a:t>Despliegue reproducible con límites explícitos.</a:t>
            </a:r>
          </a:p>
        </p:txBody>
      </p:sp>
      <p:sp>
        <p:nvSpPr>
          <p:cNvPr id="5" name="Gracias">
            <a:extLst xmlns:a="http://schemas.openxmlformats.org/drawingml/2006/main">
              <a:ext uri="{FF2B5EF4-FFF2-40B4-BE49-F238E27FC236}">
                <a16:creationId xmlns:a16="http://schemas.microsoft.com/office/drawing/2014/main" id="{C49E86B4-7F5A-416C-A8E2-F17A8617B76B}"/>
              </a:ext>
            </a:extLst>
          </p:cNvPr>
          <p:cNvSpPr>
            <a:spLocks xmlns:a="http://schemas.openxmlformats.org/drawingml/2006/main" noGrp="1"/>
          </p:cNvSpPr>
          <p:nvPr/>
        </p:nvSpPr>
        <p:spPr>
          <a:xfrm xmlns:a="http://schemas.openxmlformats.org/drawingml/2006/main">
            <a:off x="609600" y="5800725"/>
            <a:ext cx="6286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FFFFFF"/>
                </a:solidFill>
                <a:latin typeface="Arial"/>
                <a:ea typeface="Arial"/>
                <a:cs typeface="Arial"/>
              </a:defRPr>
            </a:pPr>
            <a:r>
              <a:rPr sz="2550" b="1">
                <a:solidFill>
                  <a:srgbClr val="FFFFFF"/>
                </a:solidFill>
                <a:latin typeface="Arial"/>
                <a:ea typeface="Arial"/>
                <a:cs typeface="Arial"/>
              </a:rPr>
              <a:t>Gracias</a:t>
            </a:r>
          </a:p>
        </p:txBody>
      </p:sp>
      <p:sp>
        <p:nvSpPr>
          <p:cNvPr id="6" name="Preguntas">
            <a:extLst xmlns:a="http://schemas.openxmlformats.org/drawingml/2006/main">
              <a:ext uri="{FF2B5EF4-FFF2-40B4-BE49-F238E27FC236}">
                <a16:creationId xmlns:a16="http://schemas.microsoft.com/office/drawing/2014/main" id="{570616AC-B241-42D9-96DA-1493D11F40D2}"/>
              </a:ext>
            </a:extLst>
          </p:cNvPr>
          <p:cNvSpPr>
            <a:spLocks xmlns:a="http://schemas.openxmlformats.org/drawingml/2006/main" noGrp="1"/>
          </p:cNvSpPr>
          <p:nvPr/>
        </p:nvSpPr>
        <p:spPr>
          <a:xfrm xmlns:a="http://schemas.openxmlformats.org/drawingml/2006/main">
            <a:off x="8858250" y="5800725"/>
            <a:ext cx="27241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2100" b="0">
                <a:solidFill>
                  <a:srgbClr val="DFE7EF"/>
                </a:solidFill>
                <a:latin typeface="Arial"/>
                <a:ea typeface="Arial"/>
                <a:cs typeface="Arial"/>
              </a:defRPr>
            </a:pPr>
            <a:r>
              <a:rPr sz="2100" b="0">
                <a:solidFill>
                  <a:srgbClr val="DFE7EF"/>
                </a:solidFill>
                <a:latin typeface="Arial"/>
                <a:ea typeface="Arial"/>
                <a:cs typeface="Arial"/>
              </a:rPr>
              <a:t>Preguntas</a:t>
            </a:r>
          </a:p>
        </p:txBody>
      </p:sp>
      <p:sp>
        <p:nvSpPr>
          <p:cNvPr id="7" name="Pablo Manzanares López · TransitOps">
            <a:extLst xmlns:a="http://schemas.openxmlformats.org/drawingml/2006/main">
              <a:ext uri="{FF2B5EF4-FFF2-40B4-BE49-F238E27FC236}">
                <a16:creationId xmlns:a16="http://schemas.microsoft.com/office/drawing/2014/main" id="{A05E05E1-E03A-43F6-AE35-4DEB6FE98DFA}"/>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D3DCE7"/>
                </a:solidFill>
                <a:latin typeface="Arial"/>
                <a:ea typeface="Arial"/>
                <a:cs typeface="Arial"/>
              </a:defRPr>
            </a:pPr>
            <a:r>
              <a:rPr sz="1125" b="0">
                <a:solidFill>
                  <a:srgbClr val="D3DCE7"/>
                </a:solidFill>
                <a:latin typeface="Arial"/>
                <a:ea typeface="Arial"/>
                <a:cs typeface="Arial"/>
              </a:rPr>
              <a:t>Pablo Manzanares López · TransitOps</a:t>
            </a:r>
          </a:p>
        </p:txBody>
      </p:sp>
    </p:spTree>
    <p:extLst>
      <p:ext uri="{BB962C8B-B14F-4D97-AF65-F5344CB8AC3E}">
        <p14:creationId xmlns:p14="http://schemas.microsoft.com/office/powerpoint/2010/main" val="359401259"/>
      </p:ext>
    </p:extLst>
  </p:cSld>
</p:sld>
</file>

<file path=ppt/slides/slide19.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Apoyo · trazabilidad de requisitos">
            <a:extLst xmlns:a="http://schemas.openxmlformats.org/drawingml/2006/main">
              <a:ext uri="{FF2B5EF4-FFF2-40B4-BE49-F238E27FC236}">
                <a16:creationId xmlns:a16="http://schemas.microsoft.com/office/drawing/2014/main" id="{CD8023E5-9638-45F3-B5BA-6255063A1D89}"/>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Apoyo · trazabilidad de requisitos</a:t>
            </a:r>
          </a:p>
        </p:txBody>
      </p:sp>
      <p:sp>
        <p:nvSpPr>
          <p:cNvPr id="2" name="A">
            <a:extLst xmlns:a="http://schemas.openxmlformats.org/drawingml/2006/main">
              <a:ext uri="{FF2B5EF4-FFF2-40B4-BE49-F238E27FC236}">
                <a16:creationId xmlns:a16="http://schemas.microsoft.com/office/drawing/2014/main" id="{861590BE-67A7-4F22-AD56-10E2DA27A2DD}"/>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A</a:t>
            </a:r>
          </a:p>
        </p:txBody>
      </p:sp>
      <p:graphicFrame>
        <p:nvGraphicFramePr>
          <p:cNvPr id="7" name=""/>
          <p:cNvGraphicFramePr/>
          <p:nvPr/>
        </p:nvGraphicFramePr>
        <p:xfrm>
          <a:off xmlns:a="http://schemas.openxmlformats.org/drawingml/2006/main" x="609600" y="1619250"/>
          <a:ext xmlns:a="http://schemas.openxmlformats.org/drawingml/2006/main" cx="10972800" cy="4324350"/>
        </p:xfrm>
        <a:graphic xmlns:a="http://schemas.openxmlformats.org/drawingml/2006/main">
          <a:graphicData uri="http://schemas.openxmlformats.org/drawingml/2006/table">
            <a:tbl>
              <a:tblPr firstRow="0" bandRow="0"/>
              <a:tblGrid>
                <a:gridCol w="3209925"/>
                <a:gridCol w="1943100"/>
                <a:gridCol w="5819775"/>
              </a:tblGrid>
              <a:tr h="617764">
                <a:tc>
                  <a:txBody>
                    <a:bodyPr>
                      <a:noAutofit/>
                    </a:bodyPr>
                    <a:lstStyle/>
                    <a:p>
                      <a:r>
                        <a:rPr sz="1800" b="1">
                          <a:solidFill>
                            <a:srgbClr val="FFFFFF"/>
                          </a:solidFill>
                          <a:latin typeface="Arial"/>
                          <a:ea typeface="Arial"/>
                          <a:cs typeface="Arial"/>
                        </a:rPr>
                        <a:t>Requisitos</a:t>
                      </a:r>
                    </a:p>
                  </a:txBody>
                  <a:tcPr marL="152400" marR="152400" marT="114300" marB="95250" anchor="ctr">
                    <a:solidFill>
                      <a:srgbClr val="14263D"/>
                    </a:solidFill>
                  </a:tcPr>
                </a:tc>
                <a:tc>
                  <a:txBody>
                    <a:bodyPr>
                      <a:noAutofit/>
                    </a:bodyPr>
                    <a:lstStyle/>
                    <a:p>
                      <a:r>
                        <a:rPr sz="1800" b="1">
                          <a:solidFill>
                            <a:srgbClr val="FFFFFF"/>
                          </a:solidFill>
                          <a:latin typeface="Arial"/>
                          <a:ea typeface="Arial"/>
                          <a:cs typeface="Arial"/>
                        </a:rPr>
                        <a:t>Incremento</a:t>
                      </a:r>
                    </a:p>
                  </a:txBody>
                  <a:tcPr marL="152400" marR="152400" marT="114300" marB="95250" anchor="ctr">
                    <a:solidFill>
                      <a:srgbClr val="14263D"/>
                    </a:solidFill>
                  </a:tcPr>
                </a:tc>
                <a:tc>
                  <a:txBody>
                    <a:bodyPr>
                      <a:noAutofit/>
                    </a:bodyPr>
                    <a:lstStyle/>
                    <a:p>
                      <a:r>
                        <a:rPr sz="1800" b="1">
                          <a:solidFill>
                            <a:srgbClr val="FFFFFF"/>
                          </a:solidFill>
                          <a:latin typeface="Arial"/>
                          <a:ea typeface="Arial"/>
                          <a:cs typeface="Arial"/>
                        </a:rPr>
                        <a:t>Evidencia principal</a:t>
                      </a:r>
                    </a:p>
                  </a:txBody>
                  <a:tcPr marL="152400" marR="152400" marT="114300" marB="95250" anchor="ctr">
                    <a:solidFill>
                      <a:srgbClr val="14263D"/>
                    </a:solidFill>
                  </a:tcPr>
                </a:tc>
              </a:tr>
              <a:tr h="617764">
                <a:tc>
                  <a:txBody>
                    <a:bodyPr>
                      <a:noAutofit/>
                    </a:bodyPr>
                    <a:lstStyle/>
                    <a:p>
                      <a:r>
                        <a:rPr sz="1800" b="0">
                          <a:solidFill>
                            <a:srgbClr val="14263D"/>
                          </a:solidFill>
                          <a:latin typeface="Arial"/>
                          <a:ea typeface="Arial"/>
                          <a:cs typeface="Arial"/>
                        </a:rPr>
                        <a:t>RF-01, RF-02, RF-13</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S1</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Acceso, bootstrap y contrato de error</a:t>
                      </a:r>
                    </a:p>
                  </a:txBody>
                  <a:tcPr marL="152400" marR="152400" marT="114300" marB="95250" anchor="ctr">
                    <a:solidFill>
                      <a:srgbClr val="FFFFFF"/>
                    </a:solidFill>
                  </a:tcPr>
                </a:tc>
              </a:tr>
              <a:tr h="617764">
                <a:tc>
                  <a:txBody>
                    <a:bodyPr>
                      <a:noAutofit/>
                    </a:bodyPr>
                    <a:lstStyle/>
                    <a:p>
                      <a:r>
                        <a:rPr sz="1800" b="0">
                          <a:solidFill>
                            <a:srgbClr val="14263D"/>
                          </a:solidFill>
                          <a:latin typeface="Arial"/>
                          <a:ea typeface="Arial"/>
                          <a:cs typeface="Arial"/>
                        </a:rPr>
                        <a:t>RF-05–RF-07</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S2</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Catálogos y conservación histórica</a:t>
                      </a:r>
                    </a:p>
                  </a:txBody>
                  <a:tcPr marL="152400" marR="152400" marT="114300" marB="95250" anchor="ctr">
                    <a:solidFill>
                      <a:srgbClr val="FFFFFF"/>
                    </a:solidFill>
                  </a:tcPr>
                </a:tc>
              </a:tr>
              <a:tr h="617764">
                <a:tc>
                  <a:txBody>
                    <a:bodyPr>
                      <a:noAutofit/>
                    </a:bodyPr>
                    <a:lstStyle/>
                    <a:p>
                      <a:r>
                        <a:rPr sz="1800" b="0">
                          <a:solidFill>
                            <a:srgbClr val="14263D"/>
                          </a:solidFill>
                          <a:latin typeface="Arial"/>
                          <a:ea typeface="Arial"/>
                          <a:cs typeface="Arial"/>
                        </a:rPr>
                        <a:t>RF-08, RF-12</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S3</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Envíos, filtros y fechas</a:t>
                      </a:r>
                    </a:p>
                  </a:txBody>
                  <a:tcPr marL="152400" marR="152400" marT="114300" marB="95250" anchor="ctr">
                    <a:solidFill>
                      <a:srgbClr val="FFFFFF"/>
                    </a:solidFill>
                  </a:tcPr>
                </a:tc>
              </a:tr>
              <a:tr h="617764">
                <a:tc>
                  <a:txBody>
                    <a:bodyPr>
                      <a:noAutofit/>
                    </a:bodyPr>
                    <a:lstStyle/>
                    <a:p>
                      <a:r>
                        <a:rPr sz="1800" b="0">
                          <a:solidFill>
                            <a:srgbClr val="14263D"/>
                          </a:solidFill>
                          <a:latin typeface="Arial"/>
                          <a:ea typeface="Arial"/>
                          <a:cs typeface="Arial"/>
                        </a:rPr>
                        <a:t>RF-09, RF-10</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S4 + S7</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Operación y concurrencia real</a:t>
                      </a:r>
                    </a:p>
                  </a:txBody>
                  <a:tcPr marL="152400" marR="152400" marT="114300" marB="95250" anchor="ctr">
                    <a:solidFill>
                      <a:srgbClr val="FFFFFF"/>
                    </a:solidFill>
                  </a:tcPr>
                </a:tc>
              </a:tr>
              <a:tr h="617764">
                <a:tc>
                  <a:txBody>
                    <a:bodyPr>
                      <a:noAutofit/>
                    </a:bodyPr>
                    <a:lstStyle/>
                    <a:p>
                      <a:r>
                        <a:rPr sz="1800" b="0">
                          <a:solidFill>
                            <a:srgbClr val="14263D"/>
                          </a:solidFill>
                          <a:latin typeface="Arial"/>
                          <a:ea typeface="Arial"/>
                          <a:cs typeface="Arial"/>
                        </a:rPr>
                        <a:t>RF-11</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S5</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Historial, autoría y atomicidad</a:t>
                      </a:r>
                    </a:p>
                  </a:txBody>
                  <a:tcPr marL="152400" marR="152400" marT="114300" marB="95250" anchor="ctr">
                    <a:solidFill>
                      <a:srgbClr val="FFFFFF"/>
                    </a:solidFill>
                  </a:tcPr>
                </a:tc>
              </a:tr>
              <a:tr h="617764">
                <a:tc>
                  <a:txBody>
                    <a:bodyPr>
                      <a:noAutofit/>
                    </a:bodyPr>
                    <a:lstStyle/>
                    <a:p>
                      <a:r>
                        <a:rPr sz="1800" b="0">
                          <a:solidFill>
                            <a:srgbClr val="14263D"/>
                          </a:solidFill>
                          <a:latin typeface="Arial"/>
                          <a:ea typeface="Arial"/>
                          <a:cs typeface="Arial"/>
                        </a:rPr>
                        <a:t>RF-03, RF-04, RF-14</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S6 + cierre S7</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Usuarios, contraseña e indicadores</a:t>
                      </a:r>
                    </a:p>
                  </a:txBody>
                  <a:tcPr marL="152400" marR="152400" marT="114300" marB="95250" anchor="ctr">
                    <a:solidFill>
                      <a:srgbClr val="FFFFFF"/>
                    </a:solidFill>
                  </a:tcPr>
                </a:tc>
              </a:tr>
            </a:tbl>
          </a:graphicData>
        </a:graphic>
      </p:graphicFrame>
      <p:sp>
        <p:nvSpPr>
          <p:cNvPr id="4" name="RF-04 incorpora RN-17 en S7. Los RNF se validan de forma tra">
            <a:extLst xmlns:a="http://schemas.openxmlformats.org/drawingml/2006/main">
              <a:ext uri="{FF2B5EF4-FFF2-40B4-BE49-F238E27FC236}">
                <a16:creationId xmlns:a16="http://schemas.microsoft.com/office/drawing/2014/main" id="{93B6893B-254F-456C-BD17-C53B9D80B540}"/>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RF-04 incorpora RN-17 en S7. Los RNF se validan de forma transversal. Memoria, pp. 61–62.</a:t>
            </a:r>
          </a:p>
        </p:txBody>
      </p:sp>
    </p:spTree>
    <p:extLst>
      <p:ext uri="{BB962C8B-B14F-4D97-AF65-F5344CB8AC3E}">
        <p14:creationId xmlns:p14="http://schemas.microsoft.com/office/powerpoint/2010/main" val="1352900588"/>
      </p:ext>
    </p:extLst>
  </p:cSld>
</p:sld>
</file>

<file path=ppt/slides/slide20.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Apoyo · evolución de las pruebas">
            <a:extLst xmlns:a="http://schemas.openxmlformats.org/drawingml/2006/main">
              <a:ext uri="{FF2B5EF4-FFF2-40B4-BE49-F238E27FC236}">
                <a16:creationId xmlns:a16="http://schemas.microsoft.com/office/drawing/2014/main" id="{D4F10EC7-670B-4320-9925-4DD7502758BF}"/>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Apoyo · evolución de las pruebas</a:t>
            </a:r>
          </a:p>
        </p:txBody>
      </p:sp>
      <p:sp>
        <p:nvSpPr>
          <p:cNvPr id="2" name="B">
            <a:extLst xmlns:a="http://schemas.openxmlformats.org/drawingml/2006/main">
              <a:ext uri="{FF2B5EF4-FFF2-40B4-BE49-F238E27FC236}">
                <a16:creationId xmlns:a16="http://schemas.microsoft.com/office/drawing/2014/main" id="{D44A014A-B725-4A10-9B06-681C4112DAE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B</a:t>
            </a:r>
          </a:p>
        </p:txBody>
      </p:sp>
      <p:graphicFrame>
        <p:nvGraphicFramePr>
          <p:cNvPr id="7" name="Chart"/>
          <p:cNvGraphicFramePr/>
          <p:nvPr/>
        </p:nvGraphicFramePr>
        <p:xfrm>
          <a:off xmlns:a="http://schemas.openxmlformats.org/drawingml/2006/main" x="609600" y="1457325"/>
          <a:ext xmlns:a="http://schemas.openxmlformats.org/drawingml/2006/main" cx="10972800" cy="4391025"/>
        </p:xfrm>
        <a:graphic xmlns:a="http://schemas.openxmlformats.org/drawingml/2006/main">
          <a:graphicData uri="http://schemas.openxmlformats.org/drawingml/2006/chart">
            <c:chart xmlns:r="http://schemas.openxmlformats.org/officeDocument/2006/relationships" xmlns:c="http://schemas.openxmlformats.org/drawingml/2006/chart" r:id="R45836c1a86714ea0"/>
          </a:graphicData>
        </a:graphic>
      </p:graphicFrame>
      <p:sp>
        <p:nvSpPr>
          <p:cNvPr id="4" name="Número de pruebas documentado al cierre de cada sprint. S7 a">
            <a:extLst xmlns:a="http://schemas.openxmlformats.org/drawingml/2006/main">
              <a:ext uri="{FF2B5EF4-FFF2-40B4-BE49-F238E27FC236}">
                <a16:creationId xmlns:a16="http://schemas.microsoft.com/office/drawing/2014/main" id="{CC0D5528-337D-4549-9FF4-5E6DC1F69118}"/>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Número de pruebas documentado al cierre de cada sprint. S7 añade 4 flujos E2E. No es cobertura porcentual. Cap. 8.</a:t>
            </a:r>
          </a:p>
        </p:txBody>
      </p:sp>
    </p:spTree>
    <p:extLst>
      <p:ext uri="{BB962C8B-B14F-4D97-AF65-F5344CB8AC3E}">
        <p14:creationId xmlns:p14="http://schemas.microsoft.com/office/powerpoint/2010/main" val="73468291"/>
      </p:ext>
    </p:extLst>
  </p:cSld>
</p:sld>
</file>

<file path=ppt/slides/slide21.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Apoyo · estimación económica">
            <a:extLst xmlns:a="http://schemas.openxmlformats.org/drawingml/2006/main">
              <a:ext uri="{FF2B5EF4-FFF2-40B4-BE49-F238E27FC236}">
                <a16:creationId xmlns:a16="http://schemas.microsoft.com/office/drawing/2014/main" id="{2CB00112-30A9-41EC-998F-33A6316742E8}"/>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Apoyo · estimación económica</a:t>
            </a:r>
          </a:p>
        </p:txBody>
      </p:sp>
      <p:sp>
        <p:nvSpPr>
          <p:cNvPr id="2" name="C">
            <a:extLst xmlns:a="http://schemas.openxmlformats.org/drawingml/2006/main">
              <a:ext uri="{FF2B5EF4-FFF2-40B4-BE49-F238E27FC236}">
                <a16:creationId xmlns:a16="http://schemas.microsoft.com/office/drawing/2014/main" id="{AD3417CA-36A2-4DC4-A955-455B6867A57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C</a:t>
            </a:r>
          </a:p>
        </p:txBody>
      </p:sp>
      <p:graphicFrame>
        <p:nvGraphicFramePr>
          <p:cNvPr id="7" name=""/>
          <p:cNvGraphicFramePr/>
          <p:nvPr/>
        </p:nvGraphicFramePr>
        <p:xfrm>
          <a:off xmlns:a="http://schemas.openxmlformats.org/drawingml/2006/main" x="609600" y="1685925"/>
          <a:ext xmlns:a="http://schemas.openxmlformats.org/drawingml/2006/main" cx="10972800" cy="4257675"/>
        </p:xfrm>
        <a:graphic xmlns:a="http://schemas.openxmlformats.org/drawingml/2006/main">
          <a:graphicData uri="http://schemas.openxmlformats.org/drawingml/2006/table">
            <a:tbl>
              <a:tblPr firstRow="0" bandRow="0"/>
              <a:tblGrid>
                <a:gridCol w="3248025"/>
                <a:gridCol w="5057775"/>
                <a:gridCol w="2667000"/>
              </a:tblGrid>
              <a:tr h="608239">
                <a:tc>
                  <a:txBody>
                    <a:bodyPr>
                      <a:noAutofit/>
                    </a:bodyPr>
                    <a:lstStyle/>
                    <a:p>
                      <a:r>
                        <a:rPr sz="1800" b="1">
                          <a:solidFill>
                            <a:srgbClr val="FFFFFF"/>
                          </a:solidFill>
                          <a:latin typeface="Arial"/>
                          <a:ea typeface="Arial"/>
                          <a:cs typeface="Arial"/>
                        </a:rPr>
                        <a:t>Concepto</a:t>
                      </a:r>
                    </a:p>
                  </a:txBody>
                  <a:tcPr marL="152400" marR="152400" marT="114300" marB="95250" anchor="ctr">
                    <a:solidFill>
                      <a:srgbClr val="14263D"/>
                    </a:solidFill>
                  </a:tcPr>
                </a:tc>
                <a:tc>
                  <a:txBody>
                    <a:bodyPr>
                      <a:noAutofit/>
                    </a:bodyPr>
                    <a:lstStyle/>
                    <a:p>
                      <a:r>
                        <a:rPr sz="1800" b="1">
                          <a:solidFill>
                            <a:srgbClr val="FFFFFF"/>
                          </a:solidFill>
                          <a:latin typeface="Arial"/>
                          <a:ea typeface="Arial"/>
                          <a:cs typeface="Arial"/>
                        </a:rPr>
                        <a:t>Hipótesis de cálculo</a:t>
                      </a:r>
                    </a:p>
                  </a:txBody>
                  <a:tcPr marL="152400" marR="152400" marT="114300" marB="95250" anchor="ctr">
                    <a:solidFill>
                      <a:srgbClr val="14263D"/>
                    </a:solidFill>
                  </a:tcPr>
                </a:tc>
                <a:tc>
                  <a:txBody>
                    <a:bodyPr>
                      <a:noAutofit/>
                    </a:bodyPr>
                    <a:lstStyle/>
                    <a:p>
                      <a:r>
                        <a:rPr sz="1800" b="1">
                          <a:solidFill>
                            <a:srgbClr val="FFFFFF"/>
                          </a:solidFill>
                          <a:latin typeface="Arial"/>
                          <a:ea typeface="Arial"/>
                          <a:cs typeface="Arial"/>
                        </a:rPr>
                        <a:t>Importe</a:t>
                      </a:r>
                    </a:p>
                  </a:txBody>
                  <a:tcPr marL="152400" marR="152400" marT="114300" marB="95250" anchor="ctr">
                    <a:solidFill>
                      <a:srgbClr val="14263D"/>
                    </a:solidFill>
                  </a:tcPr>
                </a:tc>
              </a:tr>
              <a:tr h="608239">
                <a:tc>
                  <a:txBody>
                    <a:bodyPr>
                      <a:noAutofit/>
                    </a:bodyPr>
                    <a:lstStyle/>
                    <a:p>
                      <a:r>
                        <a:rPr sz="1800" b="0">
                          <a:solidFill>
                            <a:srgbClr val="14263D"/>
                          </a:solidFill>
                          <a:latin typeface="Arial"/>
                          <a:ea typeface="Arial"/>
                          <a:cs typeface="Arial"/>
                        </a:rPr>
                        <a:t>Personal</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300 h × 20 €/h</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6.000,00 €</a:t>
                      </a:r>
                    </a:p>
                  </a:txBody>
                  <a:tcPr marL="152400" marR="152400" marT="114300" marB="95250" anchor="ctr">
                    <a:solidFill>
                      <a:srgbClr val="FFFFFF"/>
                    </a:solidFill>
                  </a:tcPr>
                </a:tc>
              </a:tr>
              <a:tr h="608239">
                <a:tc>
                  <a:txBody>
                    <a:bodyPr>
                      <a:noAutofit/>
                    </a:bodyPr>
                    <a:lstStyle/>
                    <a:p>
                      <a:r>
                        <a:rPr sz="1800" b="0">
                          <a:solidFill>
                            <a:srgbClr val="14263D"/>
                          </a:solidFill>
                          <a:latin typeface="Arial"/>
                          <a:ea typeface="Arial"/>
                          <a:cs typeface="Arial"/>
                        </a:rPr>
                        <a:t>Amortización del equipo</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1.200 € × 2,5 / 48 meses</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62,50 €</a:t>
                      </a:r>
                    </a:p>
                  </a:txBody>
                  <a:tcPr marL="152400" marR="152400" marT="114300" marB="95250" anchor="ctr">
                    <a:solidFill>
                      <a:srgbClr val="FFFFFF"/>
                    </a:solidFill>
                  </a:tcPr>
                </a:tc>
              </a:tr>
              <a:tr h="608239">
                <a:tc>
                  <a:txBody>
                    <a:bodyPr>
                      <a:noAutofit/>
                    </a:bodyPr>
                    <a:lstStyle/>
                    <a:p>
                      <a:r>
                        <a:rPr sz="1800" b="0">
                          <a:solidFill>
                            <a:srgbClr val="14263D"/>
                          </a:solidFill>
                          <a:latin typeface="Arial"/>
                          <a:ea typeface="Arial"/>
                          <a:cs typeface="Arial"/>
                        </a:rPr>
                        <a:t>Licencias</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Uso libre o gratuito en el proyecto</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0,00 €</a:t>
                      </a:r>
                    </a:p>
                  </a:txBody>
                  <a:tcPr marL="152400" marR="152400" marT="114300" marB="95250" anchor="ctr">
                    <a:solidFill>
                      <a:srgbClr val="FFFFFF"/>
                    </a:solidFill>
                  </a:tcPr>
                </a:tc>
              </a:tr>
              <a:tr h="608239">
                <a:tc>
                  <a:txBody>
                    <a:bodyPr>
                      <a:noAutofit/>
                    </a:bodyPr>
                    <a:lstStyle/>
                    <a:p>
                      <a:r>
                        <a:rPr sz="1800" b="0">
                          <a:solidFill>
                            <a:srgbClr val="14263D"/>
                          </a:solidFill>
                          <a:latin typeface="Arial"/>
                          <a:ea typeface="Arial"/>
                          <a:cs typeface="Arial"/>
                        </a:rPr>
                        <a:t>Infraestructura y servicios</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Máquina local y cuotas gratuitas</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0,00 €</a:t>
                      </a:r>
                    </a:p>
                  </a:txBody>
                  <a:tcPr marL="152400" marR="152400" marT="114300" marB="95250" anchor="ctr">
                    <a:solidFill>
                      <a:srgbClr val="FFFFFF"/>
                    </a:solidFill>
                  </a:tcPr>
                </a:tc>
              </a:tr>
              <a:tr h="608239">
                <a:tc>
                  <a:txBody>
                    <a:bodyPr>
                      <a:noAutofit/>
                    </a:bodyPr>
                    <a:lstStyle/>
                    <a:p>
                      <a:r>
                        <a:rPr sz="1800" b="0">
                          <a:solidFill>
                            <a:srgbClr val="14263D"/>
                          </a:solidFill>
                          <a:latin typeface="Arial"/>
                          <a:ea typeface="Arial"/>
                          <a:cs typeface="Arial"/>
                        </a:rPr>
                        <a:t>Costes indirectos</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Energía y conectividad, estimados</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75,00 €</a:t>
                      </a:r>
                    </a:p>
                  </a:txBody>
                  <a:tcPr marL="152400" marR="152400" marT="114300" marB="95250" anchor="ctr">
                    <a:solidFill>
                      <a:srgbClr val="FFFFFF"/>
                    </a:solidFill>
                  </a:tcPr>
                </a:tc>
              </a:tr>
              <a:tr h="608239">
                <a:tc>
                  <a:txBody>
                    <a:bodyPr>
                      <a:noAutofit/>
                    </a:bodyPr>
                    <a:lstStyle/>
                    <a:p>
                      <a:r>
                        <a:rPr sz="1800" b="0">
                          <a:solidFill>
                            <a:srgbClr val="14263D"/>
                          </a:solidFill>
                          <a:latin typeface="Arial"/>
                          <a:ea typeface="Arial"/>
                          <a:cs typeface="Arial"/>
                        </a:rPr>
                        <a:t>Total</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Valoración profesional hipotética</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6.137,50 €</a:t>
                      </a:r>
                    </a:p>
                  </a:txBody>
                  <a:tcPr marL="152400" marR="152400" marT="114300" marB="95250" anchor="ctr">
                    <a:solidFill>
                      <a:srgbClr val="FFFFFF"/>
                    </a:solidFill>
                  </a:tcPr>
                </a:tc>
              </a:tr>
            </a:tbl>
          </a:graphicData>
        </a:graphic>
      </p:graphicFrame>
      <p:sp>
        <p:nvSpPr>
          <p:cNvPr id="4" name="Estimación de la memoria, tabla 3.3, p. 13. No constituye de">
            <a:extLst xmlns:a="http://schemas.openxmlformats.org/drawingml/2006/main">
              <a:ext uri="{FF2B5EF4-FFF2-40B4-BE49-F238E27FC236}">
                <a16:creationId xmlns:a16="http://schemas.microsoft.com/office/drawing/2014/main" id="{4DDF8904-A9AB-4466-A968-91268B7B7EA9}"/>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Estimación de la memoria, tabla 3.3, p. 13. No constituye desembolso real ni presupuesto de operación sostenida.</a:t>
            </a:r>
          </a:p>
        </p:txBody>
      </p:sp>
    </p:spTree>
    <p:extLst>
      <p:ext uri="{BB962C8B-B14F-4D97-AF65-F5344CB8AC3E}">
        <p14:creationId xmlns:p14="http://schemas.microsoft.com/office/powerpoint/2010/main" val="57798575"/>
      </p:ext>
    </p:extLst>
  </p:cSld>
</p:sld>
</file>

<file path=ppt/slides/slide22.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Apoyo · decisiones y alternativas">
            <a:extLst xmlns:a="http://schemas.openxmlformats.org/drawingml/2006/main">
              <a:ext uri="{FF2B5EF4-FFF2-40B4-BE49-F238E27FC236}">
                <a16:creationId xmlns:a16="http://schemas.microsoft.com/office/drawing/2014/main" id="{8CD87D81-EDFB-42F4-9EA7-2899E372DEE5}"/>
              </a:ext>
            </a:extLst>
          </p:cNvPr>
          <p:cNvSpPr>
            <a:spLocks xmlns:a="http://schemas.openxmlformats.org/drawingml/2006/main" noGrp="1"/>
          </p:cNvSpPr>
          <p:nvPr/>
        </p:nvSpPr>
        <p:spPr>
          <a:xfrm xmlns:a="http://schemas.openxmlformats.org/drawingml/2006/main">
            <a:off x="609600" y="4381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63D"/>
                </a:solidFill>
                <a:latin typeface="Arial"/>
                <a:ea typeface="Arial"/>
                <a:cs typeface="Arial"/>
              </a:defRPr>
            </a:pPr>
            <a:r>
              <a:rPr sz="3300" b="1">
                <a:solidFill>
                  <a:srgbClr val="14263D"/>
                </a:solidFill>
                <a:latin typeface="Arial"/>
                <a:ea typeface="Arial"/>
                <a:cs typeface="Arial"/>
              </a:rPr>
              <a:t>Apoyo · decisiones y alternativas</a:t>
            </a:r>
          </a:p>
        </p:txBody>
      </p:sp>
      <p:sp>
        <p:nvSpPr>
          <p:cNvPr id="2" name="D">
            <a:extLst xmlns:a="http://schemas.openxmlformats.org/drawingml/2006/main">
              <a:ext uri="{FF2B5EF4-FFF2-40B4-BE49-F238E27FC236}">
                <a16:creationId xmlns:a16="http://schemas.microsoft.com/office/drawing/2014/main" id="{F5C91EAC-17F2-4B16-B0B8-04C7F7159BB5}"/>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D</a:t>
            </a:r>
          </a:p>
        </p:txBody>
      </p:sp>
      <p:graphicFrame>
        <p:nvGraphicFramePr>
          <p:cNvPr id="7" name=""/>
          <p:cNvGraphicFramePr/>
          <p:nvPr/>
        </p:nvGraphicFramePr>
        <p:xfrm>
          <a:off xmlns:a="http://schemas.openxmlformats.org/drawingml/2006/main" x="609600" y="1828800"/>
          <a:ext xmlns:a="http://schemas.openxmlformats.org/drawingml/2006/main" cx="10972800" cy="3733800"/>
        </p:xfrm>
        <a:graphic xmlns:a="http://schemas.openxmlformats.org/drawingml/2006/main">
          <a:graphicData uri="http://schemas.openxmlformats.org/drawingml/2006/table">
            <a:tbl>
              <a:tblPr firstRow="0" bandRow="0"/>
              <a:tblGrid>
                <a:gridCol w="2924175"/>
                <a:gridCol w="3514725"/>
                <a:gridCol w="4533900"/>
              </a:tblGrid>
              <a:tr h="746760">
                <a:tc>
                  <a:txBody>
                    <a:bodyPr>
                      <a:noAutofit/>
                    </a:bodyPr>
                    <a:lstStyle/>
                    <a:p>
                      <a:r>
                        <a:rPr sz="1800" b="1">
                          <a:solidFill>
                            <a:srgbClr val="FFFFFF"/>
                          </a:solidFill>
                          <a:latin typeface="Arial"/>
                          <a:ea typeface="Arial"/>
                          <a:cs typeface="Arial"/>
                        </a:rPr>
                        <a:t>Decisión</a:t>
                      </a:r>
                    </a:p>
                  </a:txBody>
                  <a:tcPr marL="152400" marR="152400" marT="114300" marB="95250" anchor="ctr">
                    <a:solidFill>
                      <a:srgbClr val="14263D"/>
                    </a:solidFill>
                  </a:tcPr>
                </a:tc>
                <a:tc>
                  <a:txBody>
                    <a:bodyPr>
                      <a:noAutofit/>
                    </a:bodyPr>
                    <a:lstStyle/>
                    <a:p>
                      <a:r>
                        <a:rPr sz="1800" b="1">
                          <a:solidFill>
                            <a:srgbClr val="FFFFFF"/>
                          </a:solidFill>
                          <a:latin typeface="Arial"/>
                          <a:ea typeface="Arial"/>
                          <a:cs typeface="Arial"/>
                        </a:rPr>
                        <a:t>Alternativa considerada</a:t>
                      </a:r>
                    </a:p>
                  </a:txBody>
                  <a:tcPr marL="152400" marR="152400" marT="114300" marB="95250" anchor="ctr">
                    <a:solidFill>
                      <a:srgbClr val="14263D"/>
                    </a:solidFill>
                  </a:tcPr>
                </a:tc>
                <a:tc>
                  <a:txBody>
                    <a:bodyPr>
                      <a:noAutofit/>
                    </a:bodyPr>
                    <a:lstStyle/>
                    <a:p>
                      <a:r>
                        <a:rPr sz="1800" b="1">
                          <a:solidFill>
                            <a:srgbClr val="FFFFFF"/>
                          </a:solidFill>
                          <a:latin typeface="Arial"/>
                          <a:ea typeface="Arial"/>
                          <a:cs typeface="Arial"/>
                        </a:rPr>
                        <a:t>Razón en este proyecto</a:t>
                      </a:r>
                    </a:p>
                  </a:txBody>
                  <a:tcPr marL="152400" marR="152400" marT="114300" marB="95250" anchor="ctr">
                    <a:solidFill>
                      <a:srgbClr val="14263D"/>
                    </a:solidFill>
                  </a:tcPr>
                </a:tc>
              </a:tr>
              <a:tr h="746760">
                <a:tc>
                  <a:txBody>
                    <a:bodyPr>
                      <a:noAutofit/>
                    </a:bodyPr>
                    <a:lstStyle/>
                    <a:p>
                      <a:r>
                        <a:rPr sz="1800" b="0">
                          <a:solidFill>
                            <a:srgbClr val="14263D"/>
                          </a:solidFill>
                          <a:latin typeface="Arial"/>
                          <a:ea typeface="Arial"/>
                          <a:cs typeface="Arial"/>
                        </a:rPr>
                        <a:t>API modular única</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Servicios distribuidos</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Alcance acotado y menor coordinación</a:t>
                      </a:r>
                    </a:p>
                  </a:txBody>
                  <a:tcPr marL="152400" marR="152400" marT="114300" marB="95250" anchor="ctr">
                    <a:solidFill>
                      <a:srgbClr val="FFFFFF"/>
                    </a:solidFill>
                  </a:tcPr>
                </a:tc>
              </a:tr>
              <a:tr h="746760">
                <a:tc>
                  <a:txBody>
                    <a:bodyPr>
                      <a:noAutofit/>
                    </a:bodyPr>
                    <a:lstStyle/>
                    <a:p>
                      <a:r>
                        <a:rPr sz="1800" b="0">
                          <a:solidFill>
                            <a:srgbClr val="14263D"/>
                          </a:solidFill>
                          <a:latin typeface="Arial"/>
                          <a:ea typeface="Arial"/>
                          <a:cs typeface="Arial"/>
                        </a:rPr>
                        <a:t>EF Core y PostgreSQL</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SQL manual en cada acceso</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Esquema evolutivo con integridad relacional</a:t>
                      </a:r>
                    </a:p>
                  </a:txBody>
                  <a:tcPr marL="152400" marR="152400" marT="114300" marB="95250" anchor="ctr">
                    <a:solidFill>
                      <a:srgbClr val="FFFFFF"/>
                    </a:solidFill>
                  </a:tcPr>
                </a:tc>
              </a:tr>
              <a:tr h="746760">
                <a:tc>
                  <a:txBody>
                    <a:bodyPr>
                      <a:noAutofit/>
                    </a:bodyPr>
                    <a:lstStyle/>
                    <a:p>
                      <a:r>
                        <a:rPr sz="1800" b="0">
                          <a:solidFill>
                            <a:srgbClr val="14263D"/>
                          </a:solidFill>
                          <a:latin typeface="Arial"/>
                          <a:ea typeface="Arial"/>
                          <a:cs typeface="Arial"/>
                        </a:rPr>
                        <a:t>Evento en la transacción</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Bus de eventos</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Consistencia local sin infraestructura extra</a:t>
                      </a:r>
                    </a:p>
                  </a:txBody>
                  <a:tcPr marL="152400" marR="152400" marT="114300" marB="95250" anchor="ctr">
                    <a:solidFill>
                      <a:srgbClr val="FFFFFF"/>
                    </a:solidFill>
                  </a:tcPr>
                </a:tc>
              </a:tr>
              <a:tr h="746760">
                <a:tc>
                  <a:txBody>
                    <a:bodyPr>
                      <a:noAutofit/>
                    </a:bodyPr>
                    <a:lstStyle/>
                    <a:p>
                      <a:r>
                        <a:rPr sz="1800" b="0">
                          <a:solidFill>
                            <a:srgbClr val="14263D"/>
                          </a:solidFill>
                          <a:latin typeface="Arial"/>
                          <a:ea typeface="Arial"/>
                          <a:cs typeface="Arial"/>
                        </a:rPr>
                        <a:t>TokenVersion</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Revocación por lista o refresh tokens</a:t>
                      </a:r>
                    </a:p>
                  </a:txBody>
                  <a:tcPr marL="152400" marR="152400" marT="114300" marB="95250" anchor="ctr">
                    <a:solidFill>
                      <a:srgbClr val="FFFFFF"/>
                    </a:solidFill>
                  </a:tcPr>
                </a:tc>
                <a:tc>
                  <a:txBody>
                    <a:bodyPr>
                      <a:noAutofit/>
                    </a:bodyPr>
                    <a:lstStyle/>
                    <a:p>
                      <a:r>
                        <a:rPr sz="1800" b="0">
                          <a:solidFill>
                            <a:srgbClr val="14263D"/>
                          </a:solidFill>
                          <a:latin typeface="Arial"/>
                          <a:ea typeface="Arial"/>
                          <a:cs typeface="Arial"/>
                        </a:rPr>
                        <a:t>Invalidación simple con lectura por petición</a:t>
                      </a:r>
                    </a:p>
                  </a:txBody>
                  <a:tcPr marL="152400" marR="152400" marT="114300" marB="95250" anchor="ctr">
                    <a:solidFill>
                      <a:srgbClr val="FFFFFF"/>
                    </a:solidFill>
                  </a:tcPr>
                </a:tc>
              </a:tr>
            </a:tbl>
          </a:graphicData>
        </a:graphic>
      </p:graphicFrame>
      <p:sp>
        <p:nvSpPr>
          <p:cNvPr id="4" name="Decisiones proporcionales al dominio y al volumen esperado. ">
            <a:extLst xmlns:a="http://schemas.openxmlformats.org/drawingml/2006/main">
              <a:ext uri="{FF2B5EF4-FFF2-40B4-BE49-F238E27FC236}">
                <a16:creationId xmlns:a16="http://schemas.microsoft.com/office/drawing/2014/main" id="{2D69A9F4-BB33-48A3-95A0-9375DD746F50}"/>
              </a:ext>
            </a:extLst>
          </p:cNvPr>
          <p:cNvSpPr>
            <a:spLocks xmlns:a="http://schemas.openxmlformats.org/drawingml/2006/main" noGrp="1"/>
          </p:cNvSpPr>
          <p:nvPr/>
        </p:nvSpPr>
        <p:spPr>
          <a:xfrm xmlns:a="http://schemas.openxmlformats.org/drawingml/2006/main">
            <a:off x="609600" y="6419850"/>
            <a:ext cx="1019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36174"/>
                </a:solidFill>
                <a:latin typeface="Arial"/>
                <a:ea typeface="Arial"/>
                <a:cs typeface="Arial"/>
              </a:defRPr>
            </a:pPr>
            <a:r>
              <a:rPr sz="1125" b="0">
                <a:solidFill>
                  <a:srgbClr val="536174"/>
                </a:solidFill>
                <a:latin typeface="Arial"/>
                <a:ea typeface="Arial"/>
                <a:cs typeface="Arial"/>
              </a:rPr>
              <a:t>Decisiones proporcionales al dominio y al volumen esperado. Memoria, capítulos 2, 5 y 6.</a:t>
            </a:r>
          </a:p>
        </p:txBody>
      </p:sp>
    </p:spTree>
    <p:extLst>
      <p:ext uri="{BB962C8B-B14F-4D97-AF65-F5344CB8AC3E}">
        <p14:creationId xmlns:p14="http://schemas.microsoft.com/office/powerpoint/2010/main" val="9152392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2026-09-05T11:11:43.4560000Z</dcterms:created>
  <dcterms:modified xsi:type="dcterms:W3CDTF">2026-09-05T11:11:43.4560000Z</dcterms:modified>
</coreProperties>
</file>